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SpecialPlsOnTitleSld="0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4"/>
    <p:sldId id="283" r:id="rId5"/>
    <p:sldId id="263" r:id="rId6"/>
    <p:sldId id="260" r:id="rId7"/>
    <p:sldId id="290" r:id="rId8"/>
    <p:sldId id="269" r:id="rId9"/>
    <p:sldId id="258" r:id="rId10"/>
    <p:sldId id="281" r:id="rId11"/>
    <p:sldId id="261" r:id="rId12"/>
    <p:sldId id="282" r:id="rId13"/>
    <p:sldId id="284" r:id="rId14"/>
    <p:sldId id="270" r:id="rId15"/>
    <p:sldId id="274" r:id="rId16"/>
    <p:sldId id="276" r:id="rId17"/>
    <p:sldId id="277" r:id="rId18"/>
    <p:sldId id="285" r:id="rId19"/>
    <p:sldId id="286" r:id="rId20"/>
    <p:sldId id="287" r:id="rId21"/>
    <p:sldId id="288" r:id="rId22"/>
    <p:sldId id="289" r:id="rId23"/>
    <p:sldId id="267" r:id="rId24"/>
    <p:sldId id="259" r:id="rId25"/>
    <p:sldId id="266" r:id="rId26"/>
    <p:sldId id="278" r:id="rId27"/>
    <p:sldId id="280" r:id="rId28"/>
    <p:sldId id="279" r:id="rId29"/>
    <p:sldId id="271" r:id="rId30"/>
    <p:sldId id="272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C69FF03A-DF0C-4845-94BB-EF2385AD676B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accent1"/>
              </a:solidFill>
            </a:ln>
          </a:top>
          <a:bottom>
            <a:ln w="2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accent1"/>
              </a:solidFill>
            </a:ln>
          </a:top>
          <a:bottom>
            <a:ln w="10000" cmpd="sng">
              <a:solidFill>
                <a:schemeClr val="accent1"/>
              </a:solidFill>
            </a:ln>
          </a:bottom>
        </a:tcBdr>
        <a:fill>
          <a:solidFill>
            <a:schemeClr val="accent1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A19EC50-B813-4FCE-9F78-2F8D5DE6B856}" styleName="Normal Style 2 - Accent 1">
    <a:tblBg>
      <a:effectRef idx="1">
        <a:schemeClr val="dk1"/>
      </a:effectRef>
    </a:tblBg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10000"/>
              <a:satMod val="53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30000"/>
              <a:satMod val="33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20000"/>
              <a:satMod val="73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>
              <a:alpha val="90000"/>
              <a:satMod val="150000"/>
            </a:schemeClr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>
              <a:alpha val="90000"/>
              <a:satMod val="150000"/>
            </a:schemeClr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>
              <a:alpha val="50000"/>
              <a:satMod val="630000"/>
            </a:schemeClr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>
              <a:shade val="50000"/>
              <a:satMod val="230000"/>
            </a:schemeClr>
          </a:solidFill>
        </a:fill>
      </a:tcStyle>
    </a:firstRow>
  </a:tblStyle>
  <a:tblStyle styleId="{CDE67981-C926-4AC7-AA08-ACFD1CD1FBA1}" styleName="Normal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40000" cmpd="sng">
              <a:solidFill>
                <a:schemeClr val="accent1"/>
              </a:solidFill>
            </a:ln>
          </a:left>
          <a:right>
            <a:ln w="40000" cmpd="sng">
              <a:solidFill>
                <a:schemeClr val="accent1"/>
              </a:solidFill>
            </a:ln>
          </a:right>
          <a:top>
            <a:ln w="40000" cmpd="sng">
              <a:solidFill>
                <a:schemeClr val="accent1"/>
              </a:solidFill>
            </a:ln>
          </a:top>
          <a:bottom>
            <a:ln w="400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5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5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>
          <a:shade val="80000"/>
        </a:schemeClr>
      </a:tcTxStyle>
      <a:tcStyle>
        <a:tcBdr>
          <a:bottom>
            <a:ln w="35400" cmpd="sng">
              <a:solidFill>
                <a:schemeClr val="accent1">
                  <a:shade val="80000"/>
                </a:schemeClr>
              </a:solidFill>
            </a:ln>
          </a:bottom>
        </a:tcBdr>
        <a:fill>
          <a:solidFill>
            <a:schemeClr val="accent1">
              <a:tint val="20000"/>
            </a:schemeClr>
          </a:solidFill>
        </a:fill>
      </a:tcStyle>
    </a:firstRow>
  </a:tblStyle>
  <a:tblStyle styleId="{F30E45CE-1E6F-404D-914F-DC5B132B5B5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32700" cmpd="sng">
              <a:solidFill>
                <a:schemeClr val="accent1"/>
              </a:solidFill>
              <a:prstDash val="dash"/>
            </a:ln>
          </a:left>
          <a:right>
            <a:ln w="32700" cmpd="sng">
              <a:solidFill>
                <a:schemeClr val="accent1"/>
              </a:solidFill>
              <a:prstDash val="dash"/>
            </a:ln>
          </a:right>
          <a:top>
            <a:ln w="32700" cmpd="sng">
              <a:solidFill>
                <a:schemeClr val="accent1"/>
              </a:solidFill>
              <a:prstDash val="dash"/>
            </a:ln>
          </a:top>
          <a:bottom>
            <a:ln w="32700" cmpd="sng">
              <a:solidFill>
                <a:schemeClr val="accent1"/>
              </a:solidFill>
              <a:prstDash val="dash"/>
            </a:ln>
          </a:bottom>
          <a:insideH>
            <a:ln w="22700" cmpd="sng">
              <a:solidFill>
                <a:schemeClr val="accent1"/>
              </a:solidFill>
              <a:prstDash val="sysDot"/>
            </a:ln>
          </a:insideH>
          <a:insideV>
            <a:ln w="22700" cmpd="sng">
              <a:solidFill>
                <a:schemeClr val="accent1"/>
              </a:solidFill>
              <a:prstDash val="sysDot"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6EB75EC-ACF4-43F1-940C-6C9C5489C1DE}" styleName="Normal Style 4 - Body/Background 4">
    <a:wholeTbl>
      <a:tcTxStyle>
        <a:fontRef idx="minor">
          <a:scrgbClr r="0" g="0" b="0"/>
        </a:fontRef>
        <a:schemeClr val="dk1"/>
      </a:tcTxStyle>
      <a:tcStyle>
        <a:tcBdr>
          <a:left>
            <a:ln w="40000" cmpd="sng">
              <a:solidFill>
                <a:schemeClr val="dk1"/>
              </a:solidFill>
            </a:ln>
          </a:left>
          <a:right>
            <a:ln w="40000" cmpd="sng">
              <a:solidFill>
                <a:schemeClr val="dk1"/>
              </a:solidFill>
            </a:ln>
          </a:right>
          <a:top>
            <a:ln w="40000" cmpd="sng">
              <a:solidFill>
                <a:schemeClr val="dk1"/>
              </a:solidFill>
            </a:ln>
          </a:top>
          <a:bottom>
            <a:ln w="400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5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5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dk1">
          <a:shade val="80000"/>
        </a:schemeClr>
      </a:tcTxStyle>
      <a:tcStyle>
        <a:tcBdr>
          <a:bottom>
            <a:ln w="35400" cmpd="sng">
              <a:solidFill>
                <a:schemeClr val="dk1">
                  <a:shade val="80000"/>
                </a:schemeClr>
              </a:solidFill>
            </a:ln>
          </a:bottom>
        </a:tcBdr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slide" Target="slides/slide11.xml"  /><Relationship Id="rId15" Type="http://schemas.openxmlformats.org/officeDocument/2006/relationships/slide" Target="slides/slide12.xml"  /><Relationship Id="rId16" Type="http://schemas.openxmlformats.org/officeDocument/2006/relationships/slide" Target="slides/slide13.xml"  /><Relationship Id="rId17" Type="http://schemas.openxmlformats.org/officeDocument/2006/relationships/slide" Target="slides/slide14.xml"  /><Relationship Id="rId18" Type="http://schemas.openxmlformats.org/officeDocument/2006/relationships/slide" Target="slides/slide15.xml"  /><Relationship Id="rId19" Type="http://schemas.openxmlformats.org/officeDocument/2006/relationships/slide" Target="slides/slide16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7.xml"  /><Relationship Id="rId21" Type="http://schemas.openxmlformats.org/officeDocument/2006/relationships/slide" Target="slides/slide18.xml"  /><Relationship Id="rId22" Type="http://schemas.openxmlformats.org/officeDocument/2006/relationships/slide" Target="slides/slide19.xml"  /><Relationship Id="rId23" Type="http://schemas.openxmlformats.org/officeDocument/2006/relationships/slide" Target="slides/slide20.xml"  /><Relationship Id="rId24" Type="http://schemas.openxmlformats.org/officeDocument/2006/relationships/slide" Target="slides/slide21.xml"  /><Relationship Id="rId25" Type="http://schemas.openxmlformats.org/officeDocument/2006/relationships/slide" Target="slides/slide22.xml"  /><Relationship Id="rId26" Type="http://schemas.openxmlformats.org/officeDocument/2006/relationships/slide" Target="slides/slide23.xml"  /><Relationship Id="rId27" Type="http://schemas.openxmlformats.org/officeDocument/2006/relationships/slide" Target="slides/slide24.xml"  /><Relationship Id="rId28" Type="http://schemas.openxmlformats.org/officeDocument/2006/relationships/slide" Target="slides/slide25.xml"  /><Relationship Id="rId29" Type="http://schemas.openxmlformats.org/officeDocument/2006/relationships/slide" Target="slides/slide26.xml"  /><Relationship Id="rId3" Type="http://schemas.openxmlformats.org/officeDocument/2006/relationships/handoutMaster" Target="handoutMasters/handoutMaster1.xml"  /><Relationship Id="rId30" Type="http://schemas.openxmlformats.org/officeDocument/2006/relationships/slide" Target="slides/slide27.xml"  /><Relationship Id="rId31" Type="http://schemas.openxmlformats.org/officeDocument/2006/relationships/slide" Target="slides/slide28.xml"  /><Relationship Id="rId32" Type="http://schemas.openxmlformats.org/officeDocument/2006/relationships/presProps" Target="presProps.xml"  /><Relationship Id="rId33" Type="http://schemas.openxmlformats.org/officeDocument/2006/relationships/viewProps" Target="viewProps.xml"  /><Relationship Id="rId34" Type="http://schemas.openxmlformats.org/officeDocument/2006/relationships/theme" Target="theme/theme1.xml"  /><Relationship Id="rId35" Type="http://schemas.openxmlformats.org/officeDocument/2006/relationships/tableStyles" Target="tableStyles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2026-09-10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960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0377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2026-09-10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953836A-82A3-4C8B-9D31-CD724F3673ED}" type="datetime1">
              <a:rPr lang="ko-KR" altLang="en-US"/>
              <a:pPr lvl="0">
                <a:defRPr/>
              </a:pPr>
              <a:t>2026-09-10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2026-09-10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2026-09-10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2026-09-10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2026-09-10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2026-09-10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2026-09-10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2026-09-10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2026-09-10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2026-09-10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2026-09-10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2026-09-10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xmlns:mc="http://schemas.openxmlformats.org/markup-compatibility/2006" xmlns:hp="http://schemas.haansoft.com/office/presentation/8.0" mc:Ignorable="hp" hp:hslDur="500"/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배트와 달트 기획서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>
              <a:defRPr/>
            </a:pPr>
            <a:r>
              <a:rPr lang="ko-KR" altLang="en-US" sz="2000"/>
              <a:t>게임 한줄 소개 작성할 것</a:t>
            </a:r>
            <a:endParaRPr lang="ko-KR" altLang="en-US" sz="2000"/>
          </a:p>
        </p:txBody>
      </p:sp>
      <p:sp>
        <p:nvSpPr>
          <p:cNvPr id="4" name="부제목 2"/>
          <p:cNvSpPr/>
          <p:nvPr/>
        </p:nvSpPr>
        <p:spPr>
          <a:xfrm>
            <a:off x="0" y="5924550"/>
            <a:ext cx="3745803" cy="933449"/>
          </a:xfrm>
          <a:prstGeom prst="rect">
            <a:avLst/>
          </a:prstGeom>
        </p:spPr>
        <p:txBody>
          <a:bodyPr vert="horz" lIns="91440" tIns="45720" rIns="91440" bIns="45720" anchor="ctr" anchorCtr="0">
            <a:normAutofit lnSpcReduction="10000"/>
          </a:bodyPr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곽예린 권현아 김진아</a:t>
            </a:r>
            <a:endPara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이름어디다 적지</a:t>
            </a:r>
            <a:endPara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제목 1"/>
          <p:cNvSpPr/>
          <p:nvPr/>
        </p:nvSpPr>
        <p:spPr>
          <a:xfrm>
            <a:off x="9044316" y="0"/>
            <a:ext cx="3147684" cy="1417833"/>
          </a:xfrm>
          <a:prstGeom prst="rect">
            <a:avLst/>
          </a:prstGeom>
        </p:spPr>
        <p:txBody>
          <a:bodyPr vert="horz" lIns="91440" tIns="45720" rIns="91440" bIns="45720" anchor="ctr">
            <a:normAutofit lnSpcReduction="10000"/>
          </a:bodyPr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chemeClr val="tx1"/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4400" b="0" i="0" u="none" strike="noStrike" kern="1200" cap="none" spc="0" normalizeH="0" baseline="0" mc:Ignorable="hp" hp:hslEmbossed="0">
                <a:solidFill>
                  <a:schemeClr val="tx1"/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차  </a:t>
            </a:r>
            <a:br>
              <a:rPr xmlns:mc="http://schemas.openxmlformats.org/markup-compatibility/2006" xmlns:hp="http://schemas.haansoft.com/office/presentation/8.0" kumimoji="0" lang="ko-KR" altLang="en-US" sz="4400" b="0" i="0" u="none" strike="noStrike" kern="1200" cap="none" spc="0" normalizeH="0" baseline="0" mc:Ignorable="hp" hp:hslEmbossed="0">
                <a:solidFill>
                  <a:schemeClr val="tx1"/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</a:br>
            <a:r>
              <a:rPr xmlns:mc="http://schemas.openxmlformats.org/markup-compatibility/2006" xmlns:hp="http://schemas.haansoft.com/office/presentation/8.0" kumimoji="0" lang="ko-KR" altLang="en-US" sz="4400" b="0" i="0" u="none" strike="noStrike" kern="1200" cap="none" spc="0" normalizeH="0" baseline="0" mc:Ignorable="hp" hp:hslEmbossed="0">
                <a:solidFill>
                  <a:schemeClr val="tx1"/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기획 제안서</a:t>
            </a:r>
            <a:endParaRPr xmlns:mc="http://schemas.openxmlformats.org/markup-compatibility/2006" xmlns:hp="http://schemas.haansoft.com/office/presentation/8.0" kumimoji="0" lang="ko-KR" altLang="en-US" sz="4400" b="0" i="0" u="none" strike="noStrike" kern="1200" cap="none" spc="0" normalizeH="0" baseline="0" mc:Ignorable="hp" hp:hslEmbossed="0">
              <a:solidFill>
                <a:schemeClr val="tx1"/>
              </a:solidFill>
              <a:highlight>
                <a:srgbClr val="ffff00"/>
              </a:highligh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27121239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목차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ctr" anchorCtr="0">
            <a:normAutofit fontScale="47500" lnSpcReduction="20000"/>
          </a:bodyPr>
          <a:p>
            <a:pPr marL="592000" lvl="0" indent="-592000">
              <a:lnSpc>
                <a:spcPct val="100000"/>
              </a:lnSpc>
              <a:spcBef>
                <a:spcPts val="360"/>
              </a:spcBef>
              <a:buAutoNum type="arabicPeriod"/>
              <a:defRPr/>
            </a:pPr>
            <a:r>
              <a:rPr lang="ko-KR" altLang="en-US" spc="100">
                <a:solidFill>
                  <a:srgbClr val="000000"/>
                </a:solidFill>
              </a:rPr>
              <a:t>게임의 컨셉 및 소개</a:t>
            </a:r>
            <a:br>
              <a:rPr lang="ko-KR" altLang="en-US" spc="100">
                <a:solidFill>
                  <a:srgbClr val="000000"/>
                </a:solidFill>
              </a:rPr>
            </a:br>
            <a:r>
              <a:rPr lang="en-US" altLang="ko-KR" spc="100">
                <a:solidFill>
                  <a:srgbClr val="000000"/>
                </a:solidFill>
              </a:rPr>
              <a:t>&gt;</a:t>
            </a:r>
            <a:r>
              <a:rPr lang="ko-KR" altLang="en-US" spc="100">
                <a:solidFill>
                  <a:srgbClr val="000000"/>
                </a:solidFill>
              </a:rPr>
              <a:t> 게임의 정보</a:t>
            </a:r>
            <a:br>
              <a:rPr lang="ko-KR" altLang="en-US" spc="100">
                <a:solidFill>
                  <a:srgbClr val="000000"/>
                </a:solidFill>
              </a:rPr>
            </a:br>
            <a:r>
              <a:rPr lang="en-US" altLang="ko-KR" spc="100">
                <a:solidFill>
                  <a:srgbClr val="000000"/>
                </a:solidFill>
              </a:rPr>
              <a:t>&gt;</a:t>
            </a:r>
            <a:r>
              <a:rPr lang="ko-KR" altLang="en-US" spc="100">
                <a:solidFill>
                  <a:srgbClr val="000000"/>
                </a:solidFill>
              </a:rPr>
              <a:t> 스테이지 플로우</a:t>
            </a:r>
            <a:br>
              <a:rPr lang="ko-KR" altLang="en-US" spc="100">
                <a:solidFill>
                  <a:srgbClr val="000000"/>
                </a:solidFill>
              </a:rPr>
            </a:br>
            <a:r>
              <a:rPr lang="en-US" altLang="ko-KR" spc="100">
                <a:solidFill>
                  <a:srgbClr val="000000"/>
                </a:solidFill>
              </a:rPr>
              <a:t>&gt;</a:t>
            </a:r>
            <a:r>
              <a:rPr lang="ko-KR" altLang="en-US" spc="100">
                <a:solidFill>
                  <a:srgbClr val="000000"/>
                </a:solidFill>
              </a:rPr>
              <a:t> </a:t>
            </a:r>
            <a:r>
              <a:rPr lang="ko-KR" altLang="en-US" spc="100"/>
              <a:t>기획 목표 및 제작 방향 </a:t>
            </a:r>
            <a:endParaRPr lang="ko-KR" altLang="en-US" spc="100">
              <a:solidFill>
                <a:srgbClr val="000000"/>
              </a:solidFill>
            </a:endParaRPr>
          </a:p>
          <a:p>
            <a:pPr marL="592000" lvl="0" indent="-592000">
              <a:lnSpc>
                <a:spcPct val="100000"/>
              </a:lnSpc>
              <a:spcBef>
                <a:spcPts val="360"/>
              </a:spcBef>
              <a:buAutoNum type="arabicPeriod"/>
              <a:defRPr/>
            </a:pPr>
            <a:r>
              <a:rPr lang="ko-KR" altLang="en-US" spc="100">
                <a:solidFill>
                  <a:srgbClr val="000000"/>
                </a:solidFill>
              </a:rPr>
              <a:t>컨텐츠</a:t>
            </a:r>
            <a:br>
              <a:rPr lang="ko-KR" altLang="en-US" spc="100">
                <a:solidFill>
                  <a:srgbClr val="000000"/>
                </a:solidFill>
              </a:rPr>
            </a:br>
            <a:r>
              <a:rPr lang="en-US" altLang="ko-KR" spc="100">
                <a:solidFill>
                  <a:srgbClr val="000000"/>
                </a:solidFill>
              </a:rPr>
              <a:t>&gt;</a:t>
            </a:r>
            <a:r>
              <a:rPr lang="ko-KR" altLang="en-US" spc="100">
                <a:solidFill>
                  <a:srgbClr val="000000"/>
                </a:solidFill>
              </a:rPr>
              <a:t> 스토리</a:t>
            </a:r>
            <a:br>
              <a:rPr lang="ko-KR" altLang="en-US" spc="100">
                <a:solidFill>
                  <a:srgbClr val="000000"/>
                </a:solidFill>
              </a:rPr>
            </a:br>
            <a:r>
              <a:rPr lang="en-US" altLang="ko-KR" spc="100">
                <a:solidFill>
                  <a:srgbClr val="000000"/>
                </a:solidFill>
              </a:rPr>
              <a:t>&gt;</a:t>
            </a:r>
            <a:r>
              <a:rPr lang="ko-KR" altLang="en-US" spc="100">
                <a:solidFill>
                  <a:srgbClr val="000000"/>
                </a:solidFill>
              </a:rPr>
              <a:t> 스테이지</a:t>
            </a:r>
            <a:br>
              <a:rPr lang="ko-KR" altLang="en-US" spc="100">
                <a:solidFill>
                  <a:srgbClr val="000000"/>
                </a:solidFill>
              </a:rPr>
            </a:br>
            <a:r>
              <a:rPr lang="en-US" altLang="ko-KR" spc="100">
                <a:solidFill>
                  <a:srgbClr val="000000"/>
                </a:solidFill>
              </a:rPr>
              <a:t>&gt;</a:t>
            </a:r>
            <a:r>
              <a:rPr lang="ko-KR" altLang="en-US" spc="100">
                <a:solidFill>
                  <a:srgbClr val="000000"/>
                </a:solidFill>
              </a:rPr>
              <a:t> 도구</a:t>
            </a:r>
            <a:br>
              <a:rPr lang="ko-KR" altLang="en-US" spc="100">
                <a:solidFill>
                  <a:srgbClr val="000000"/>
                </a:solidFill>
              </a:rPr>
            </a:br>
            <a:r>
              <a:rPr lang="en-US" altLang="ko-KR" spc="100">
                <a:solidFill>
                  <a:srgbClr val="000000"/>
                </a:solidFill>
              </a:rPr>
              <a:t>&gt;</a:t>
            </a:r>
            <a:r>
              <a:rPr lang="ko-KR" altLang="en-US" spc="100">
                <a:solidFill>
                  <a:srgbClr val="000000"/>
                </a:solidFill>
              </a:rPr>
              <a:t> 음악과 리듬</a:t>
            </a:r>
            <a:endParaRPr lang="ko-KR" altLang="en-US" spc="100">
              <a:solidFill>
                <a:srgbClr val="000000"/>
              </a:solidFill>
            </a:endParaRPr>
          </a:p>
          <a:p>
            <a:pPr marL="592000" lvl="0" indent="-592000">
              <a:lnSpc>
                <a:spcPct val="100000"/>
              </a:lnSpc>
              <a:spcBef>
                <a:spcPts val="360"/>
              </a:spcBef>
              <a:buAutoNum type="arabicPeriod"/>
              <a:defRPr/>
            </a:pPr>
            <a:r>
              <a:rPr lang="ko-KR" altLang="en-US" spc="100">
                <a:solidFill>
                  <a:srgbClr val="000000"/>
                </a:solidFill>
              </a:rPr>
              <a:t>캐릭터</a:t>
            </a:r>
            <a:br>
              <a:rPr lang="ko-KR" altLang="en-US" spc="100">
                <a:solidFill>
                  <a:srgbClr val="000000"/>
                </a:solidFill>
              </a:rPr>
            </a:br>
            <a:r>
              <a:rPr lang="en-US" altLang="ko-KR" spc="100">
                <a:solidFill>
                  <a:srgbClr val="000000"/>
                </a:solidFill>
              </a:rPr>
              <a:t>&gt;</a:t>
            </a:r>
            <a:r>
              <a:rPr lang="ko-KR" altLang="en-US" spc="100">
                <a:solidFill>
                  <a:srgbClr val="000000"/>
                </a:solidFill>
              </a:rPr>
              <a:t> 플레이어블 캐릭터</a:t>
            </a:r>
            <a:br>
              <a:rPr lang="ko-KR" altLang="en-US" spc="100">
                <a:solidFill>
                  <a:srgbClr val="000000"/>
                </a:solidFill>
              </a:rPr>
            </a:br>
            <a:r>
              <a:rPr lang="en-US" altLang="ko-KR" spc="100">
                <a:solidFill>
                  <a:srgbClr val="000000"/>
                </a:solidFill>
              </a:rPr>
              <a:t>&gt;</a:t>
            </a:r>
            <a:r>
              <a:rPr lang="ko-KR" altLang="en-US" spc="100">
                <a:solidFill>
                  <a:srgbClr val="000000"/>
                </a:solidFill>
              </a:rPr>
              <a:t> 일반 몬스터</a:t>
            </a:r>
            <a:br>
              <a:rPr lang="ko-KR" altLang="en-US" spc="100">
                <a:solidFill>
                  <a:srgbClr val="000000"/>
                </a:solidFill>
              </a:rPr>
            </a:br>
            <a:r>
              <a:rPr lang="en-US" altLang="ko-KR" spc="100">
                <a:solidFill>
                  <a:srgbClr val="000000"/>
                </a:solidFill>
              </a:rPr>
              <a:t>&gt;</a:t>
            </a:r>
            <a:r>
              <a:rPr lang="ko-KR" altLang="en-US" spc="100">
                <a:solidFill>
                  <a:srgbClr val="000000"/>
                </a:solidFill>
              </a:rPr>
              <a:t> 보스 몬스터</a:t>
            </a:r>
            <a:endParaRPr lang="ko-KR" altLang="en-US" spc="100">
              <a:solidFill>
                <a:srgbClr val="000000"/>
              </a:solidFill>
            </a:endParaRPr>
          </a:p>
          <a:p>
            <a:pPr marL="592000" lvl="0" indent="-592000">
              <a:spcBef>
                <a:spcPts val="360"/>
              </a:spcBef>
              <a:buAutoNum type="arabicPeriod"/>
              <a:defRPr/>
            </a:pPr>
            <a:r>
              <a:rPr lang="ko-KR" altLang="en-US" spc="100">
                <a:solidFill>
                  <a:srgbClr val="000000"/>
                </a:solidFill>
              </a:rPr>
              <a:t>차별성		</a:t>
            </a:r>
            <a:r>
              <a:rPr lang="en-US" altLang="ko-KR" spc="100">
                <a:solidFill>
                  <a:srgbClr val="000000"/>
                </a:solidFill>
              </a:rPr>
              <a:t>&lt;-</a:t>
            </a:r>
            <a:r>
              <a:rPr lang="ko-KR" altLang="en-US" spc="100">
                <a:solidFill>
                  <a:srgbClr val="000000"/>
                </a:solidFill>
              </a:rPr>
              <a:t> </a:t>
            </a:r>
            <a:r>
              <a:rPr lang="en-US" altLang="ko-KR" spc="100">
                <a:solidFill>
                  <a:srgbClr val="000000"/>
                </a:solidFill>
              </a:rPr>
              <a:t>*1</a:t>
            </a:r>
            <a:r>
              <a:rPr lang="ko-KR" altLang="en-US" spc="100">
                <a:solidFill>
                  <a:srgbClr val="000000"/>
                </a:solidFill>
              </a:rPr>
              <a:t>번 목차에 이어작성고려</a:t>
            </a:r>
            <a:br>
              <a:rPr lang="ko-KR" altLang="en-US" spc="100">
                <a:solidFill>
                  <a:srgbClr val="000000"/>
                </a:solidFill>
              </a:rPr>
            </a:br>
            <a:r>
              <a:rPr lang="en-US" altLang="ko-KR" spc="100">
                <a:solidFill>
                  <a:srgbClr val="000000"/>
                </a:solidFill>
              </a:rPr>
              <a:t>&gt;</a:t>
            </a:r>
            <a:r>
              <a:rPr lang="ko-KR" altLang="en-US" spc="100">
                <a:solidFill>
                  <a:srgbClr val="000000"/>
                </a:solidFill>
              </a:rPr>
              <a:t> 컨텐츠적 차별성</a:t>
            </a:r>
            <a:br>
              <a:rPr lang="ko-KR" altLang="en-US" spc="100">
                <a:solidFill>
                  <a:srgbClr val="000000"/>
                </a:solidFill>
              </a:rPr>
            </a:br>
            <a:r>
              <a:rPr lang="en-US" altLang="ko-KR" spc="100">
                <a:solidFill>
                  <a:srgbClr val="000000"/>
                </a:solidFill>
              </a:rPr>
              <a:t>&gt;</a:t>
            </a:r>
            <a:r>
              <a:rPr lang="ko-KR" altLang="en-US" spc="100">
                <a:solidFill>
                  <a:srgbClr val="000000"/>
                </a:solidFill>
              </a:rPr>
              <a:t> 기술적 차별성</a:t>
            </a:r>
            <a:r>
              <a:rPr lang="en-US" altLang="ko-KR" spc="100">
                <a:solidFill>
                  <a:srgbClr val="000000"/>
                </a:solidFill>
              </a:rPr>
              <a:t>(</a:t>
            </a:r>
            <a:r>
              <a:rPr lang="ko-KR" altLang="en-US" spc="100">
                <a:solidFill>
                  <a:srgbClr val="000000"/>
                </a:solidFill>
              </a:rPr>
              <a:t>연구주제부분</a:t>
            </a:r>
            <a:r>
              <a:rPr lang="en-US" altLang="ko-KR" spc="100">
                <a:solidFill>
                  <a:srgbClr val="000000"/>
                </a:solidFill>
              </a:rPr>
              <a:t>)</a:t>
            </a:r>
            <a:endParaRPr lang="ko-KR" altLang="en-US" spc="100">
              <a:solidFill>
                <a:srgbClr val="000000"/>
              </a:solidFill>
            </a:endParaRPr>
          </a:p>
          <a:p>
            <a:pPr marL="592000" lvl="0" indent="-592000">
              <a:lnSpc>
                <a:spcPct val="100000"/>
              </a:lnSpc>
              <a:spcBef>
                <a:spcPts val="360"/>
              </a:spcBef>
              <a:buAutoNum type="arabicPeriod"/>
              <a:defRPr/>
            </a:pPr>
            <a:r>
              <a:rPr lang="ko-KR" altLang="en-US" spc="100">
                <a:solidFill>
                  <a:srgbClr val="000000"/>
                </a:solidFill>
              </a:rPr>
              <a:t>시스템</a:t>
            </a:r>
            <a:br>
              <a:rPr lang="ko-KR" altLang="en-US" spc="100">
                <a:solidFill>
                  <a:srgbClr val="000000"/>
                </a:solidFill>
              </a:rPr>
            </a:br>
            <a:r>
              <a:rPr lang="en-US" altLang="ko-KR" spc="100">
                <a:solidFill>
                  <a:srgbClr val="000000"/>
                </a:solidFill>
              </a:rPr>
              <a:t>&gt; UI</a:t>
            </a:r>
            <a:br>
              <a:rPr lang="en-US" altLang="ko-KR" spc="100">
                <a:solidFill>
                  <a:srgbClr val="000000"/>
                </a:solidFill>
              </a:rPr>
            </a:br>
            <a:r>
              <a:rPr lang="en-US" altLang="ko-KR" spc="100">
                <a:solidFill>
                  <a:srgbClr val="000000"/>
                </a:solidFill>
              </a:rPr>
              <a:t>&gt;</a:t>
            </a:r>
            <a:r>
              <a:rPr lang="ko-KR" altLang="en-US" spc="100">
                <a:solidFill>
                  <a:srgbClr val="000000"/>
                </a:solidFill>
              </a:rPr>
              <a:t> 컨트롤</a:t>
            </a:r>
            <a:endParaRPr lang="ko-KR" altLang="en-US" spc="100">
              <a:solidFill>
                <a:srgbClr val="000000"/>
              </a:solidFill>
            </a:endParaRPr>
          </a:p>
          <a:p>
            <a:pPr marL="592000" lvl="0" indent="-592000">
              <a:lnSpc>
                <a:spcPct val="100000"/>
              </a:lnSpc>
              <a:spcBef>
                <a:spcPts val="360"/>
              </a:spcBef>
              <a:buAutoNum type="arabicPeriod"/>
              <a:defRPr/>
            </a:pPr>
            <a:r>
              <a:rPr lang="ko-KR" altLang="en-US" spc="100">
                <a:solidFill>
                  <a:srgbClr val="000000"/>
                </a:solidFill>
              </a:rPr>
              <a:t>참고문헌 및 출처</a:t>
            </a:r>
            <a:endParaRPr lang="ko-KR" altLang="en-US" spc="100">
              <a:solidFill>
                <a:srgbClr val="000000"/>
              </a:solidFill>
            </a:endParaRPr>
          </a:p>
          <a:p>
            <a:pPr marL="592000" lvl="0" indent="-592000">
              <a:lnSpc>
                <a:spcPct val="100000"/>
              </a:lnSpc>
              <a:spcBef>
                <a:spcPts val="360"/>
              </a:spcBef>
              <a:buAutoNum type="arabicPeriod"/>
              <a:defRPr/>
            </a:pPr>
            <a:r>
              <a:rPr lang="ko-KR" altLang="en-US" spc="100">
                <a:solidFill>
                  <a:srgbClr val="000000"/>
                </a:solidFill>
              </a:rPr>
              <a:t>부록</a:t>
            </a:r>
            <a:endParaRPr lang="ko-KR" altLang="en-US" spc="100">
              <a:solidFill>
                <a:srgbClr val="000000"/>
              </a:solidFill>
            </a:endParaRPr>
          </a:p>
          <a:p>
            <a:pPr marL="592000" lvl="0" indent="-592000">
              <a:lnSpc>
                <a:spcPct val="100000"/>
              </a:lnSpc>
              <a:spcBef>
                <a:spcPts val="360"/>
              </a:spcBef>
              <a:buAutoNum type="arabicPeriod"/>
              <a:defRPr/>
            </a:pPr>
            <a:endParaRPr lang="ko-KR" altLang="en-US" spc="100">
              <a:solidFill>
                <a:srgbClr val="000000"/>
              </a:solidFill>
            </a:endParaRP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>
                <a:solidFill>
                  <a:srgbClr val="ffffff"/>
                </a:solidFill>
              </a:rPr>
              <a:t>게임의 컨셉 및 소개</a:t>
            </a: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>
              <a:defRPr/>
            </a:pPr>
            <a:r>
              <a:rPr lang="ko-KR" altLang="en-US">
                <a:solidFill>
                  <a:srgbClr val="ffffff"/>
                </a:solidFill>
              </a:rPr>
              <a:t> </a:t>
            </a:r>
            <a:endParaRPr lang="ko-KR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ko-KR" altLang="en-US"/>
              <a:t>게임 정보</a:t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graphicFrame>
        <p:nvGraphicFramePr>
          <p:cNvPr id="5" name=""/>
          <p:cNvGraphicFramePr>
            <a:graphicFrameLocks noGrp="1"/>
          </p:cNvGraphicFramePr>
          <p:nvPr>
            <p:ph idx="1"/>
          </p:nvPr>
        </p:nvGraphicFramePr>
        <p:xfrm>
          <a:off x="609599" y="1600200"/>
          <a:ext cx="10973513" cy="4075694"/>
        </p:xfrm>
        <a:graphic>
          <a:graphicData uri="http://schemas.openxmlformats.org/drawingml/2006/table">
            <a:tbl>
              <a:tblPr firstRow="1" bandRow="1"/>
              <a:tblGrid>
                <a:gridCol w="2742008"/>
                <a:gridCol w="8231505"/>
              </a:tblGrid>
              <a:tr h="1362453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900">
                          <a:solidFill>
                            <a:srgbClr val="000000"/>
                          </a:solidFill>
                        </a:rPr>
                        <a:t>장르</a:t>
                      </a:r>
                      <a:endParaRPr lang="ko-KR" altLang="en-US" sz="19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900">
                          <a:solidFill>
                            <a:srgbClr val="000000"/>
                          </a:solidFill>
                        </a:rPr>
                        <a:t>2인 협동 FPS 기반 동적 경로 전략 게임</a:t>
                      </a:r>
                      <a:endParaRPr lang="ko-KR" altLang="en-US" sz="19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 anchor="ctr"/>
                </a:tc>
              </a:tr>
              <a:tr h="135078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900">
                          <a:solidFill>
                            <a:srgbClr val="000000"/>
                          </a:solidFill>
                        </a:rPr>
                        <a:t>컨셉</a:t>
                      </a:r>
                      <a:endParaRPr lang="ko-KR" altLang="en-US" sz="19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Arial"/>
                        <a:buNone/>
                        <a:defRPr/>
                      </a:pPr>
                      <a:r>
                        <a:rPr lang="ko-KR" altLang="en-US" sz="1900" strike="noStrike"/>
                        <a:t>도우미 </a:t>
                      </a:r>
                      <a:r>
                        <a:rPr lang="en-US" altLang="ko-KR" sz="1900" strike="noStrike"/>
                        <a:t>ai</a:t>
                      </a:r>
                      <a:r>
                        <a:rPr lang="ko-KR" altLang="en-US" sz="1900" strike="noStrike"/>
                        <a:t>의 안내를 능동적으로 판단하고 주위의 적들과 변하는 생태계를 견제하며 제한 시간 안에 배달을 완료하는 게임</a:t>
                      </a:r>
                      <a:endParaRPr lang="ko-KR" altLang="en-US" sz="1900" strike="noStrike"/>
                    </a:p>
                  </a:txBody>
                  <a:tcPr marL="91440" marR="91440" anchor="ctr"/>
                </a:tc>
              </a:tr>
              <a:tr h="1362453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900">
                          <a:solidFill>
                            <a:srgbClr val="000000"/>
                          </a:solidFill>
                        </a:rPr>
                        <a:t>클리어 목표</a:t>
                      </a:r>
                      <a:endParaRPr lang="ko-KR" altLang="en-US" sz="19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900">
                          <a:solidFill>
                            <a:srgbClr val="000000"/>
                          </a:solidFill>
                        </a:rPr>
                        <a:t>시간 안에 배달을 완료하는 것</a:t>
                      </a:r>
                      <a:endParaRPr lang="ko-KR" altLang="en-US" sz="1900">
                        <a:solidFill>
                          <a:srgbClr val="000000"/>
                        </a:solidFill>
                      </a:endParaRPr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936684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ko-KR" altLang="en-US"/>
              <a:t>레퍼런스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배달게임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fps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동물의숲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도우미</a:t>
            </a:r>
            <a:r>
              <a:rPr lang="en-US" altLang="ko-KR"/>
              <a:t>ai</a:t>
            </a: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932835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ko-KR" altLang="en-US"/>
              <a:t>플로우</a:t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5" name="직사각형 4"/>
          <p:cNvSpPr/>
          <p:nvPr/>
        </p:nvSpPr>
        <p:spPr>
          <a:xfrm>
            <a:off x="1353140" y="2520189"/>
            <a:ext cx="1404937" cy="73818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랜덤 배달 물품 결정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499836" y="1417638"/>
            <a:ext cx="1404937" cy="73818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누가 배달품을 운반할지 선택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226838" y="2338007"/>
            <a:ext cx="1404937" cy="920369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도우미 </a:t>
            </a:r>
            <a:r>
              <a:rPr lang="en-US" altLang="ko-KR">
                <a:solidFill>
                  <a:srgbClr val="000000"/>
                </a:solidFill>
              </a:rPr>
              <a:t>ai</a:t>
            </a:r>
            <a:r>
              <a:rPr lang="ko-KR" altLang="en-US">
                <a:solidFill>
                  <a:srgbClr val="000000"/>
                </a:solidFill>
              </a:rPr>
              <a:t>의 경로 계산 안내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953839" y="2383186"/>
            <a:ext cx="1404937" cy="87519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협동하며 경로를 따라 진행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951708" y="1782002"/>
            <a:ext cx="1404937" cy="73818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시간 안에 배달 성공 시 보수를 받음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116420" y="3494121"/>
            <a:ext cx="1404937" cy="73818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배달 시간 초과 시 보수 </a:t>
            </a:r>
            <a:r>
              <a:rPr lang="en-US" altLang="ko-KR">
                <a:solidFill>
                  <a:srgbClr val="000000"/>
                </a:solidFill>
              </a:rPr>
              <a:t>X</a:t>
            </a: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565395" y="4643320"/>
            <a:ext cx="1404937" cy="73818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모든 배달품 배달 성공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660869" y="5381507"/>
            <a:ext cx="2037762" cy="1017739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충분한 보수가 있을 시 떠날때 생태계 복구 엔딩</a:t>
            </a:r>
            <a:endParaRPr lang="ko-KR" altLang="en-US">
              <a:solidFill>
                <a:srgbClr val="000000"/>
              </a:solidFill>
            </a:endParaRPr>
          </a:p>
        </p:txBody>
      </p:sp>
      <p:cxnSp>
        <p:nvCxnSpPr>
          <p:cNvPr id="13" name="화살표 12"/>
          <p:cNvCxnSpPr>
            <a:stCxn id="5" idx="3"/>
            <a:endCxn id="6" idx="1"/>
          </p:cNvCxnSpPr>
          <p:nvPr/>
        </p:nvCxnSpPr>
        <p:spPr>
          <a:xfrm rot="5400000" flipH="1" flipV="1">
            <a:off x="2577680" y="1967127"/>
            <a:ext cx="1102551" cy="741759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화살표 13"/>
          <p:cNvCxnSpPr>
            <a:stCxn id="7" idx="3"/>
            <a:endCxn id="8" idx="1"/>
          </p:cNvCxnSpPr>
          <p:nvPr/>
        </p:nvCxnSpPr>
        <p:spPr>
          <a:xfrm>
            <a:off x="6631775" y="2798191"/>
            <a:ext cx="322064" cy="22589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화살표 14"/>
          <p:cNvCxnSpPr>
            <a:stCxn id="6" idx="3"/>
            <a:endCxn id="7" idx="1"/>
          </p:cNvCxnSpPr>
          <p:nvPr/>
        </p:nvCxnSpPr>
        <p:spPr>
          <a:xfrm rot="16200000" flipH="1">
            <a:off x="4560076" y="2131429"/>
            <a:ext cx="1011460" cy="322065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화살표 15"/>
          <p:cNvCxnSpPr>
            <a:stCxn id="8" idx="3"/>
            <a:endCxn id="9" idx="1"/>
          </p:cNvCxnSpPr>
          <p:nvPr/>
        </p:nvCxnSpPr>
        <p:spPr>
          <a:xfrm rot="5400000" flipH="1" flipV="1">
            <a:off x="8320399" y="2189472"/>
            <a:ext cx="669685" cy="592932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화살표 17"/>
          <p:cNvCxnSpPr>
            <a:stCxn id="11" idx="3"/>
            <a:endCxn id="12" idx="1"/>
          </p:cNvCxnSpPr>
          <p:nvPr/>
        </p:nvCxnSpPr>
        <p:spPr>
          <a:xfrm rot="16200000" flipH="1">
            <a:off x="2876619" y="5106126"/>
            <a:ext cx="877963" cy="690536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양쪽 화살표 연결선 18"/>
          <p:cNvCxnSpPr>
            <a:stCxn id="9" idx="3"/>
            <a:endCxn id="11" idx="1"/>
          </p:cNvCxnSpPr>
          <p:nvPr/>
        </p:nvCxnSpPr>
        <p:spPr>
          <a:xfrm flipH="1">
            <a:off x="1565395" y="2151096"/>
            <a:ext cx="8791250" cy="2861317"/>
          </a:xfrm>
          <a:prstGeom prst="bentConnector5">
            <a:avLst>
              <a:gd name="adj1" fmla="val -6961"/>
              <a:gd name="adj2" fmla="val 44879"/>
              <a:gd name="adj3" fmla="val 101582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화살표 19"/>
          <p:cNvCxnSpPr>
            <a:stCxn id="8" idx="3"/>
            <a:endCxn id="10" idx="1"/>
          </p:cNvCxnSpPr>
          <p:nvPr/>
        </p:nvCxnSpPr>
        <p:spPr>
          <a:xfrm rot="16200000" flipH="1">
            <a:off x="8216381" y="2963177"/>
            <a:ext cx="1042434" cy="757642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양쪽 화살표 연결선 20"/>
          <p:cNvCxnSpPr>
            <a:stCxn id="10" idx="3"/>
            <a:endCxn id="11" idx="1"/>
          </p:cNvCxnSpPr>
          <p:nvPr/>
        </p:nvCxnSpPr>
        <p:spPr>
          <a:xfrm flipH="1">
            <a:off x="1565395" y="3863215"/>
            <a:ext cx="8955962" cy="1149198"/>
          </a:xfrm>
          <a:prstGeom prst="bentConnector5">
            <a:avLst>
              <a:gd name="adj1" fmla="val -4721"/>
              <a:gd name="adj2" fmla="val 50000"/>
              <a:gd name="adj3" fmla="val 101582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3660869" y="4181586"/>
            <a:ext cx="2037762" cy="1017739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충분치 않은 보수 보유 시 떠날 때 생태계 파괴 엔딩</a:t>
            </a:r>
            <a:endParaRPr lang="ko-KR" altLang="en-US">
              <a:solidFill>
                <a:srgbClr val="000000"/>
              </a:solidFill>
            </a:endParaRPr>
          </a:p>
        </p:txBody>
      </p:sp>
      <p:cxnSp>
        <p:nvCxnSpPr>
          <p:cNvPr id="23" name="화살표 22"/>
          <p:cNvCxnSpPr>
            <a:stCxn id="11" idx="3"/>
            <a:endCxn id="22" idx="1"/>
          </p:cNvCxnSpPr>
          <p:nvPr/>
        </p:nvCxnSpPr>
        <p:spPr>
          <a:xfrm flipV="1">
            <a:off x="2970332" y="4690455"/>
            <a:ext cx="690537" cy="321958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886653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ko-KR" altLang="en-US"/>
              <a:t>기획 목표 및 제작 방향 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귀여운 캐릭터들로 진행하는 간단하면서도 개그스러운 전개로 편하게 플레이할 수 있도록 함</a:t>
            </a:r>
            <a:r>
              <a:rPr lang="en-US" altLang="ko-KR"/>
              <a:t>.</a:t>
            </a:r>
            <a:r>
              <a:rPr lang="ko-KR" altLang="en-US"/>
              <a:t> 거기에 </a:t>
            </a:r>
            <a:r>
              <a:rPr lang="en-US" altLang="ko-KR"/>
              <a:t>fps</a:t>
            </a:r>
            <a:r>
              <a:rPr lang="ko-KR" altLang="en-US"/>
              <a:t>와 실시간으로 변화하는 요소들을 보고 직접 행동을 할수 있도록 긴장감과 자율성을 부여해줌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en-US" altLang="ko-KR"/>
              <a:t>*</a:t>
            </a:r>
            <a:r>
              <a:rPr lang="ko-KR" altLang="en-US"/>
              <a:t>연구 주제 </a:t>
            </a:r>
            <a:r>
              <a:rPr lang="en-US" altLang="ko-KR"/>
              <a:t>:</a:t>
            </a:r>
            <a:r>
              <a:rPr lang="ko-KR" altLang="en-US"/>
              <a:t> 경로 시간 계산 </a:t>
            </a:r>
            <a:r>
              <a:rPr lang="en-US" altLang="ko-KR"/>
              <a:t>ai(</a:t>
            </a:r>
            <a:r>
              <a:rPr lang="ko-KR" altLang="en-US"/>
              <a:t>세부 작성하기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6855699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>
                <a:solidFill>
                  <a:srgbClr val="ffffff"/>
                </a:solidFill>
              </a:rPr>
              <a:t>컨텐츠</a:t>
            </a: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>
              <a:defRPr/>
            </a:pPr>
            <a:r>
              <a:rPr lang="ko-KR" altLang="en-US">
                <a:solidFill>
                  <a:srgbClr val="ffffff"/>
                </a:solidFill>
              </a:rPr>
              <a:t> </a:t>
            </a:r>
            <a:endParaRPr lang="ko-KR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703511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ko-KR" altLang="en-US"/>
              <a:t>스토리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당신들은 자부심 넘치는 우주배달부 소속입니다</a:t>
            </a:r>
            <a:r>
              <a:rPr lang="en-US" altLang="ko-KR"/>
              <a:t>!</a:t>
            </a:r>
            <a:r>
              <a:rPr lang="ko-KR" altLang="en-US"/>
              <a:t> 오늘은 이 행성에 배달을 왔군요</a:t>
            </a:r>
            <a:r>
              <a:rPr lang="en-US" altLang="ko-KR"/>
              <a:t>. </a:t>
            </a:r>
            <a:r>
              <a:rPr lang="ko-KR" altLang="en-US"/>
              <a:t>그런데 이런</a:t>
            </a:r>
            <a:r>
              <a:rPr lang="en-US" altLang="ko-KR"/>
              <a:t>!</a:t>
            </a:r>
            <a:r>
              <a:rPr lang="ko-KR" altLang="en-US"/>
              <a:t> 여러분의 배달 품목에는 조금 </a:t>
            </a:r>
            <a:r>
              <a:rPr lang="en-US" altLang="ko-KR"/>
              <a:t>“</a:t>
            </a:r>
            <a:r>
              <a:rPr lang="ko-KR" altLang="en-US"/>
              <a:t>위험한</a:t>
            </a:r>
            <a:r>
              <a:rPr lang="en-US" altLang="ko-KR"/>
              <a:t>”</a:t>
            </a:r>
            <a:r>
              <a:rPr lang="ko-KR" altLang="en-US"/>
              <a:t>것들이 섞여있네요</a:t>
            </a:r>
            <a:r>
              <a:rPr lang="en-US" altLang="ko-KR"/>
              <a:t>...</a:t>
            </a:r>
            <a:r>
              <a:rPr lang="ko-KR" altLang="en-US"/>
              <a:t> 하지만 걱정할 것이 없죠</a:t>
            </a:r>
            <a:r>
              <a:rPr lang="en-US" altLang="ko-KR"/>
              <a:t>!</a:t>
            </a:r>
            <a:r>
              <a:rPr lang="ko-KR" altLang="en-US"/>
              <a:t> 여러분은 전문적인 배달부니까요</a:t>
            </a:r>
            <a:r>
              <a:rPr lang="en-US" altLang="ko-KR"/>
              <a:t>!</a:t>
            </a:r>
            <a:r>
              <a:rPr lang="ko-KR" altLang="en-US"/>
              <a:t> 과연 오늘도 제한 시간 안에 모든 배달을 마치고 귀환할 수 있을까요</a:t>
            </a:r>
            <a:r>
              <a:rPr lang="en-US" altLang="ko-KR"/>
              <a:t>?</a:t>
            </a:r>
            <a:endParaRPr lang="en-US" altLang="ko-KR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4021780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ko-KR" altLang="en-US"/>
              <a:t>배달 품목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2781167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ko-KR" altLang="en-US"/>
              <a:t>무기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총</a:t>
            </a:r>
            <a:r>
              <a:rPr lang="en-US" altLang="ko-KR"/>
              <a:t>,</a:t>
            </a:r>
            <a:r>
              <a:rPr lang="ko-KR" altLang="en-US"/>
              <a:t> 배달품을 운반 중일때는 총 사용 불가</a:t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3711924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>
                <a:solidFill>
                  <a:srgbClr val="ffffff"/>
                </a:solidFill>
              </a:rPr>
              <a:t>캐릭터</a:t>
            </a: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>
              <a:defRPr/>
            </a:pPr>
            <a:r>
              <a:rPr lang="ko-KR" altLang="en-US">
                <a:solidFill>
                  <a:srgbClr val="ffffff"/>
                </a:solidFill>
              </a:rPr>
              <a:t> </a:t>
            </a:r>
            <a:endParaRPr lang="ko-KR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469722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ko-KR" altLang="en-US"/>
              <a:t>플레이어블 캐릭터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이족보행 강아지</a:t>
            </a:r>
            <a:r>
              <a:rPr lang="en-US" altLang="ko-KR"/>
              <a:t>,</a:t>
            </a:r>
            <a:r>
              <a:rPr lang="ko-KR" altLang="en-US"/>
              <a:t> 고양이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걷기</a:t>
            </a:r>
            <a:r>
              <a:rPr lang="en-US" altLang="ko-KR"/>
              <a:t>,</a:t>
            </a:r>
            <a:r>
              <a:rPr lang="ko-KR" altLang="en-US"/>
              <a:t> 달리기</a:t>
            </a:r>
            <a:r>
              <a:rPr lang="en-US" altLang="ko-KR"/>
              <a:t>,</a:t>
            </a:r>
            <a:r>
              <a:rPr lang="ko-KR" altLang="en-US"/>
              <a:t> 공격</a:t>
            </a:r>
            <a:r>
              <a:rPr lang="en-US" altLang="ko-KR"/>
              <a:t>,</a:t>
            </a:r>
            <a:r>
              <a:rPr lang="ko-KR" altLang="en-US"/>
              <a:t> 총 사용</a:t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7045498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ko-KR" altLang="en-US"/>
              <a:t>도마뱀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9261188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ko-KR" altLang="en-US"/>
              <a:t>늑대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스테이지 진행 중</a:t>
            </a:r>
            <a:r>
              <a:rPr lang="en-US" altLang="ko-KR"/>
              <a:t>,</a:t>
            </a:r>
            <a:r>
              <a:rPr lang="ko-KR" altLang="en-US"/>
              <a:t> 일정 시간이후</a:t>
            </a:r>
            <a:r>
              <a:rPr lang="en-US" altLang="ko-KR"/>
              <a:t>/</a:t>
            </a:r>
            <a:r>
              <a:rPr lang="ko-KR" altLang="en-US"/>
              <a:t>혹은 일정 숫자의 일반 몬스터 처치 이후 등장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일반 몬스터의 </a:t>
            </a:r>
            <a:r>
              <a:rPr lang="en-US" altLang="ko-KR"/>
              <a:t>4</a:t>
            </a:r>
            <a:r>
              <a:rPr lang="ko-KR" altLang="en-US"/>
              <a:t>배 크기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스테이지마다 다르며 스테이지를 거듭할수록 강해짐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4010426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ko-KR" altLang="en-US"/>
              <a:t>토끼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0429254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ko-KR" altLang="en-US"/>
              <a:t>거대꽃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4644003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ko-KR" altLang="en-US"/>
              <a:t>덩굴나무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2876062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ko-KR" altLang="en-US"/>
              <a:t>왜가리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0290428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ko-KR" altLang="en-US"/>
              <a:t>뭐하지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8770000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>
                <a:solidFill>
                  <a:srgbClr val="ffffff"/>
                </a:solidFill>
              </a:rPr>
              <a:t>차별성</a:t>
            </a: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>
              <a:defRPr/>
            </a:pPr>
            <a:r>
              <a:rPr lang="ko-KR" altLang="en-US">
                <a:solidFill>
                  <a:srgbClr val="ffffff"/>
                </a:solidFill>
              </a:rPr>
              <a:t> </a:t>
            </a:r>
            <a:endParaRPr lang="ko-KR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884238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ko-KR" altLang="en-US"/>
              <a:t>기존 게임들과의 컨텐츠 차이점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귀여움과 개그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예측불가 전개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배달과 </a:t>
            </a:r>
            <a:r>
              <a:rPr lang="en-US" altLang="ko-KR"/>
              <a:t>fps</a:t>
            </a:r>
            <a:r>
              <a:rPr lang="ko-KR" altLang="en-US"/>
              <a:t>의 조합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아 중점 연구분야를 차별점과 함께 버무려서 보충 작성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829283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ko-KR" altLang="en-US"/>
              <a:t>연구주제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ai</a:t>
            </a:r>
            <a:r>
              <a:rPr lang="ko-KR" altLang="en-US"/>
              <a:t> 경로 탐색과 시간</a:t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4346737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>
                <a:solidFill>
                  <a:srgbClr val="ffffff"/>
                </a:solidFill>
              </a:rPr>
              <a:t>시스템</a:t>
            </a: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>
              <a:defRPr/>
            </a:pPr>
            <a:r>
              <a:rPr lang="ko-KR" altLang="en-US">
                <a:solidFill>
                  <a:srgbClr val="ffffff"/>
                </a:solidFill>
              </a:rPr>
              <a:t> </a:t>
            </a:r>
            <a:endParaRPr lang="ko-KR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642692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en-US" altLang="ko-KR"/>
              <a:t>UI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6364595"/>
      </p:ext>
    </p:extLst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ko-KR" altLang="en-US"/>
              <a:t>컨트롤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8317700"/>
      </p:ext>
    </p:extLst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>
                <a:solidFill>
                  <a:srgbClr val="ffffff"/>
                </a:solidFill>
              </a:rPr>
              <a:t>참고문헌 및 출처</a:t>
            </a: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>
              <a:defRPr/>
            </a:pPr>
            <a:r>
              <a:rPr lang="ko-KR" altLang="en-US">
                <a:solidFill>
                  <a:srgbClr val="ffffff"/>
                </a:solidFill>
              </a:rPr>
              <a:t> </a:t>
            </a:r>
            <a:endParaRPr lang="ko-KR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572134"/>
      </p:ext>
    </p:extLst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>
                <a:solidFill>
                  <a:srgbClr val="ffffff"/>
                </a:solidFill>
              </a:rPr>
              <a:t>부록</a:t>
            </a: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>
              <a:defRPr/>
            </a:pPr>
            <a:r>
              <a:rPr lang="ko-KR" altLang="en-US">
                <a:solidFill>
                  <a:srgbClr val="ffffff"/>
                </a:solidFill>
              </a:rPr>
              <a:t> </a:t>
            </a:r>
            <a:endParaRPr lang="ko-KR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278766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299</ep:Words>
  <ep:PresentationFormat>화면 슬라이드 쇼(4:3)</ep:PresentationFormat>
  <ep:Paragraphs>126</ep:Paragraphs>
  <ep:Slides>28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ep:HeadingPairs>
  <ep:TitlesOfParts>
    <vt:vector size="29" baseType="lpstr">
      <vt:lpstr>한컴오피스</vt:lpstr>
      <vt:lpstr>배트와 달트 기획서</vt:lpstr>
      <vt:lpstr>목차</vt:lpstr>
      <vt:lpstr>게임의 컨셉 및 소개</vt:lpstr>
      <vt:lpstr>게임 정보</vt:lpstr>
      <vt:lpstr>레퍼런스</vt:lpstr>
      <vt:lpstr>플로우</vt:lpstr>
      <vt:lpstr>기획 목표 및 제작 방향</vt:lpstr>
      <vt:lpstr>컨텐츠</vt:lpstr>
      <vt:lpstr>스토리</vt:lpstr>
      <vt:lpstr>배달 품목</vt:lpstr>
      <vt:lpstr>무기</vt:lpstr>
      <vt:lpstr>캐릭터</vt:lpstr>
      <vt:lpstr>플레이어블 캐릭터</vt:lpstr>
      <vt:lpstr>도마뱀</vt:lpstr>
      <vt:lpstr>늑대</vt:lpstr>
      <vt:lpstr>토끼</vt:lpstr>
      <vt:lpstr>거대꽃</vt:lpstr>
      <vt:lpstr>덩굴나무</vt:lpstr>
      <vt:lpstr>왜가리</vt:lpstr>
      <vt:lpstr>뭐하지</vt:lpstr>
      <vt:lpstr>차별성</vt:lpstr>
      <vt:lpstr>기존 게임들과의 컨텐츠 차이점</vt:lpstr>
      <vt:lpstr>연구주제</vt:lpstr>
      <vt:lpstr>시스템</vt:lpstr>
      <vt:lpstr>UI</vt:lpstr>
      <vt:lpstr>컨트롤</vt:lpstr>
      <vt:lpstr>참고문헌 및 출처</vt:lpstr>
      <vt:lpstr>부록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2026-09-08T04:31:00.868</dcterms:created>
  <dc:creator>user</dc:creator>
  <cp:lastModifiedBy>user</cp:lastModifiedBy>
  <dcterms:modified xsi:type="dcterms:W3CDTF">2026-09-12T13:27:41.274</dcterms:modified>
  <cp:revision>55</cp:revision>
  <dc:title>임시제목 기획서</dc:title>
  <cp:version>13.0.0.4049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