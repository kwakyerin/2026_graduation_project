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8" r:id="rId3"/>
  </p:sldMasterIdLst>
  <p:notesMasterIdLst>
    <p:notesMasterId r:id="rId13"/>
  </p:notesMasterIdLst>
  <p:sldIdLst>
    <p:sldId id="256" r:id="rId4"/>
    <p:sldId id="258" r:id="rId5"/>
    <p:sldId id="259" r:id="rId6"/>
    <p:sldId id="260" r:id="rId7"/>
    <p:sldId id="264" r:id="rId8"/>
    <p:sldId id="257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51" d="100"/>
          <a:sy n="51" d="100"/>
        </p:scale>
        <p:origin x="72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8AC77-3E7B-4A9D-9F21-DA53C2DB7B06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36184-8627-4316-A3CE-9A6B5F31D5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091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반응형과 예측형은 다름</a:t>
            </a:r>
            <a:r>
              <a:rPr lang="en-US" altLang="ko-KR" dirty="0"/>
              <a:t>, </a:t>
            </a:r>
            <a:r>
              <a:rPr lang="ko-KR" altLang="en-US" dirty="0"/>
              <a:t>연구주제는 </a:t>
            </a:r>
            <a:r>
              <a:rPr lang="ko-KR" altLang="en-US" dirty="0" err="1"/>
              <a:t>예측형이며</a:t>
            </a:r>
            <a:r>
              <a:rPr lang="en-US" altLang="ko-KR" dirty="0"/>
              <a:t>, </a:t>
            </a:r>
            <a:r>
              <a:rPr lang="ko-KR" altLang="en-US" dirty="0"/>
              <a:t>예측형에는 반응형도 포함이 되어있음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36184-8627-4316-A3CE-9A6B5F31D53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31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CEF7F-8AAE-CEF9-D97D-E6CC13758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035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8218F4-7AEA-5580-1A1F-23814C9F0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003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DB1ECB-2716-BF2D-67C2-21D9977E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90BC-FA1C-4E65-B259-37E348592541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303963-9FE5-00E8-F1AE-A45358BE6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C0E45C-3BE9-21DE-E5AB-343719E5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A018-81A3-4F6D-A058-C837C580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271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07662-48F1-5BCD-9770-686F2DF2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B17C3A-2850-A4D7-0168-AC11C0AF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D00408-4ECA-84E0-87A0-7872F48B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90BC-FA1C-4E65-B259-37E348592541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27ADFF-0684-2DBF-53C3-EBCFB4BBC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A7E5E-14C0-9778-B53C-0B21EC60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A018-81A3-4F6D-A058-C837C580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35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D43CC-0380-9F40-CFE1-3B08F999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5741D0-09E3-3751-15E5-96B14CA22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D5EBD-6A56-CA6F-449C-D810DE5A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78C2-15BF-452C-991D-F394A20ADA1B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518B5-103E-3D63-38B5-A5C1A9743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8388BE-05B1-4ECF-2032-072CE9C8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373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60F9E-35D2-8C32-F498-AC1BD50D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A1F68F-929F-CC8B-7240-DD2F58FF9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3ABDC4-26BC-1811-70C5-02E913443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0368D3-00C9-2913-4E2B-8C8D68396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95A8-B3EF-4B27-BD48-B66816942396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23D089-37A8-0B8F-1D36-643E1CC1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6905BF-3B32-4311-F01E-1BAD7D39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16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F665B-4FD1-05ED-5932-DA8167B3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3B2458-AF87-CC17-F979-1C15045F3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3435-1707-4B21-BAC9-39E92668C45A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AF4479-5696-4F65-180E-7E3E32EC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8B162F-F71E-98C8-4023-2FB1AF02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116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ACA9C-B77B-DBEF-B5EF-5AE4585B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CD89AA-0BDE-D3AD-A53D-955C4CA9B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133D2D-6796-795C-419B-E4FE58F9C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862-DA62-4023-AB6E-A2BFABDB2BFE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90D2D5-CF33-D74E-FEED-E9F5AB60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976DC4-F422-B2F8-2C13-341D0C62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55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D43CC-0380-9F40-CFE1-3B08F999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5741D0-09E3-3751-15E5-96B14CA22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D5EBD-6A56-CA6F-449C-D810DE5A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78C2-15BF-452C-991D-F394A20ADA1B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518B5-103E-3D63-38B5-A5C1A9743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8388BE-05B1-4ECF-2032-072CE9C8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5CE8AE0C-D7FB-73AB-F98E-7EB5E99310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321670">
            <a:off x="9673837" y="502686"/>
            <a:ext cx="2511083" cy="381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ko-KR" altLang="en-US" dirty="0"/>
              <a:t>현재 목차</a:t>
            </a:r>
          </a:p>
        </p:txBody>
      </p:sp>
    </p:spTree>
    <p:extLst>
      <p:ext uri="{BB962C8B-B14F-4D97-AF65-F5344CB8AC3E}">
        <p14:creationId xmlns:p14="http://schemas.microsoft.com/office/powerpoint/2010/main" val="2419654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60F9E-35D2-8C32-F498-AC1BD50D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A1F68F-929F-CC8B-7240-DD2F58FF9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3ABDC4-26BC-1811-70C5-02E913443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0368D3-00C9-2913-4E2B-8C8D68396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95A8-B3EF-4B27-BD48-B66816942396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23D089-37A8-0B8F-1D36-643E1CC1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6905BF-3B32-4311-F01E-1BAD7D39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9">
            <a:extLst>
              <a:ext uri="{FF2B5EF4-FFF2-40B4-BE49-F238E27FC236}">
                <a16:creationId xmlns:a16="http://schemas.microsoft.com/office/drawing/2014/main" id="{1C791382-C412-4E56-E3A1-D0E0EAD0EB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321670">
            <a:off x="9673837" y="502686"/>
            <a:ext cx="2511083" cy="381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ko-KR" altLang="en-US" dirty="0"/>
              <a:t>현재 목차</a:t>
            </a:r>
          </a:p>
        </p:txBody>
      </p:sp>
    </p:spTree>
    <p:extLst>
      <p:ext uri="{BB962C8B-B14F-4D97-AF65-F5344CB8AC3E}">
        <p14:creationId xmlns:p14="http://schemas.microsoft.com/office/powerpoint/2010/main" val="446593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F665B-4FD1-05ED-5932-DA8167B3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3B2458-AF87-CC17-F979-1C15045F3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3435-1707-4B21-BAC9-39E92668C45A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AF4479-5696-4F65-180E-7E3E32EC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8B162F-F71E-98C8-4023-2FB1AF02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4786C2B1-DE40-4069-F504-AEB17CD11F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321670">
            <a:off x="9673837" y="502686"/>
            <a:ext cx="2511083" cy="381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ko-KR" altLang="en-US" dirty="0"/>
              <a:t>현재 목차</a:t>
            </a:r>
          </a:p>
        </p:txBody>
      </p:sp>
    </p:spTree>
    <p:extLst>
      <p:ext uri="{BB962C8B-B14F-4D97-AF65-F5344CB8AC3E}">
        <p14:creationId xmlns:p14="http://schemas.microsoft.com/office/powerpoint/2010/main" val="74776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ACA9C-B77B-DBEF-B5EF-5AE4585B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CD89AA-0BDE-D3AD-A53D-955C4CA9B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133D2D-6796-795C-419B-E4FE58F9C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862-DA62-4023-AB6E-A2BFABDB2BFE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90D2D5-CF33-D74E-FEED-E9F5AB60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976DC4-F422-B2F8-2C13-341D0C62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텍스트 개체 틀 9">
            <a:extLst>
              <a:ext uri="{FF2B5EF4-FFF2-40B4-BE49-F238E27FC236}">
                <a16:creationId xmlns:a16="http://schemas.microsoft.com/office/drawing/2014/main" id="{CCCC4789-0FF9-D597-D43A-A04470A4B9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321670">
            <a:off x="9673837" y="502686"/>
            <a:ext cx="2511083" cy="381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ko-KR" altLang="en-US" dirty="0"/>
              <a:t>현재 목차</a:t>
            </a:r>
          </a:p>
        </p:txBody>
      </p:sp>
    </p:spTree>
    <p:extLst>
      <p:ext uri="{BB962C8B-B14F-4D97-AF65-F5344CB8AC3E}">
        <p14:creationId xmlns:p14="http://schemas.microsoft.com/office/powerpoint/2010/main" val="131884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DA5FE19-0585-EDF9-7493-D6C8F9B953C9}"/>
              </a:ext>
            </a:extLst>
          </p:cNvPr>
          <p:cNvSpPr/>
          <p:nvPr/>
        </p:nvSpPr>
        <p:spPr>
          <a:xfrm>
            <a:off x="516000" y="415365"/>
            <a:ext cx="11160000" cy="60775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FF743491-F283-35BD-463A-B01152C740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137"/>
            </a:avLst>
          </a:prstGeom>
          <a:solidFill>
            <a:srgbClr val="D89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2CE7E5-17C9-235A-F4AD-93CA67326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522"/>
            <a:ext cx="10515600" cy="854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034F1A-CAE3-1665-45B2-8D169809C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8612"/>
            <a:ext cx="10515600" cy="5074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F28CD3-CA72-EA96-CBF4-7CD8EAA57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357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fld id="{497590BC-FA1C-4E65-B259-37E348592541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0DAB33-FC1D-888A-C65B-E359CF7DE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3573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B5CA31-007B-2DB5-AD1E-4596E914B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357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1055A018-81A3-4F6D-A058-C837C580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779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475018B-1DEF-3E50-D238-FCD5491EA2EB}"/>
              </a:ext>
            </a:extLst>
          </p:cNvPr>
          <p:cNvSpPr/>
          <p:nvPr/>
        </p:nvSpPr>
        <p:spPr>
          <a:xfrm>
            <a:off x="516000" y="1312301"/>
            <a:ext cx="11160000" cy="51805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46CB5D-1374-4FB5-1F75-0B38C16A5959}"/>
              </a:ext>
            </a:extLst>
          </p:cNvPr>
          <p:cNvSpPr/>
          <p:nvPr/>
        </p:nvSpPr>
        <p:spPr>
          <a:xfrm>
            <a:off x="516000" y="308816"/>
            <a:ext cx="11160000" cy="100348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D51C2C8E-0CE4-74A8-5B6E-26182066AB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137"/>
            </a:avLst>
          </a:prstGeom>
          <a:solidFill>
            <a:srgbClr val="D89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01A26F-B17A-0A4F-E1B3-FDC96BA88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6510"/>
            <a:ext cx="10515600" cy="84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ABB9C8-2A13-741B-2A40-23C557E0F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8612"/>
            <a:ext cx="10515600" cy="5050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731445-0263-76C6-AD6C-7944B5DC0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357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fld id="{41AAC793-3557-43BD-86B5-39596EAACFBE}" type="datetime1">
              <a:rPr lang="en-US" altLang="ko-KR" smtClean="0"/>
              <a:pPr/>
              <a:t>9/15/2026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A64A3A-0A70-81D5-5C9C-A8C6DE452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10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1ECDCB-BAF0-5FD4-CF7D-144423061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357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610DE2F5-9954-4351-A905-F3671201F5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68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475018B-1DEF-3E50-D238-FCD5491EA2EB}"/>
              </a:ext>
            </a:extLst>
          </p:cNvPr>
          <p:cNvSpPr/>
          <p:nvPr/>
        </p:nvSpPr>
        <p:spPr>
          <a:xfrm>
            <a:off x="516000" y="1312301"/>
            <a:ext cx="11160000" cy="51805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46CB5D-1374-4FB5-1F75-0B38C16A5959}"/>
              </a:ext>
            </a:extLst>
          </p:cNvPr>
          <p:cNvSpPr/>
          <p:nvPr/>
        </p:nvSpPr>
        <p:spPr>
          <a:xfrm>
            <a:off x="516000" y="308816"/>
            <a:ext cx="11160000" cy="100348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D51C2C8E-0CE4-74A8-5B6E-26182066AB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137"/>
            </a:avLst>
          </a:prstGeom>
          <a:solidFill>
            <a:srgbClr val="D89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01A26F-B17A-0A4F-E1B3-FDC96BA88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6510"/>
            <a:ext cx="10515600" cy="84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ABB9C8-2A13-741B-2A40-23C557E0F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8612"/>
            <a:ext cx="10515600" cy="5050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731445-0263-76C6-AD6C-7944B5DC0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357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fld id="{41AAC793-3557-43BD-86B5-39596EAACFBE}" type="datetime1">
              <a:rPr lang="en-US" altLang="ko-KR" smtClean="0"/>
              <a:pPr/>
              <a:t>9/15/2026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A64A3A-0A70-81D5-5C9C-A8C6DE452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10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1ECDCB-BAF0-5FD4-CF7D-144423061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357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610DE2F5-9954-4351-A905-F3671201F53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대각선 줄무늬 9">
            <a:extLst>
              <a:ext uri="{FF2B5EF4-FFF2-40B4-BE49-F238E27FC236}">
                <a16:creationId xmlns:a16="http://schemas.microsoft.com/office/drawing/2014/main" id="{662F2F46-5157-9D54-22F7-AEA7B83CFDA1}"/>
              </a:ext>
            </a:extLst>
          </p:cNvPr>
          <p:cNvSpPr/>
          <p:nvPr/>
        </p:nvSpPr>
        <p:spPr>
          <a:xfrm rot="20976624" flipH="1">
            <a:off x="9320414" y="-11561"/>
            <a:ext cx="2737476" cy="1736175"/>
          </a:xfrm>
          <a:prstGeom prst="diagStripe">
            <a:avLst>
              <a:gd name="adj" fmla="val 55792"/>
            </a:avLst>
          </a:prstGeom>
          <a:solidFill>
            <a:srgbClr val="D89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203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6668A-FED3-E995-AFC7-0E2688937E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졸업작품 연구분야 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93AC93-533B-E9D3-53B1-006848774B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chemeClr val="tx1">
                    <a:tint val="75000"/>
                  </a:schemeClr>
                </a:solidFill>
              </a:rPr>
              <a:t>곽예린</a:t>
            </a:r>
            <a:r>
              <a:rPr lang="ko-KR" altLang="en-US" dirty="0">
                <a:solidFill>
                  <a:schemeClr val="tx1">
                    <a:tint val="75000"/>
                  </a:schemeClr>
                </a:solidFill>
              </a:rPr>
              <a:t> 권현아 김진아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646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52D3DA-3240-128E-55BC-487C3E83F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중점 연구 분야 발굴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87E2BE-2AA6-2830-7753-DC83A5B8E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588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78D5846-0AA3-8FAF-31BE-5048482B0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문제와 제안 방법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6092185-B48B-6F85-7F80-CC6FE0961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100000"/>
              </a:lnSpc>
            </a:pPr>
            <a:r>
              <a:rPr lang="ko-KR" altLang="en-US" dirty="0"/>
              <a:t>연구 문제</a:t>
            </a:r>
            <a:r>
              <a:rPr lang="en-US" altLang="ko-KR" dirty="0"/>
              <a:t> :</a:t>
            </a:r>
            <a:br>
              <a:rPr lang="en-US" altLang="ko-KR" dirty="0"/>
            </a:br>
            <a:r>
              <a:rPr lang="ko-KR" altLang="en-US" dirty="0"/>
              <a:t>기존의 여러 </a:t>
            </a:r>
            <a:r>
              <a:rPr lang="en-US" altLang="ko-KR" dirty="0"/>
              <a:t>AI</a:t>
            </a:r>
            <a:r>
              <a:rPr lang="ko-KR" altLang="en-US" dirty="0"/>
              <a:t>는 현재 상태나 반응형 경로만을 제공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그러나</a:t>
            </a:r>
            <a:r>
              <a:rPr lang="en-US" altLang="ko-KR" dirty="0"/>
              <a:t> </a:t>
            </a:r>
            <a:r>
              <a:rPr lang="ko-KR" altLang="en-US" dirty="0"/>
              <a:t>특정 아이템</a:t>
            </a:r>
            <a:r>
              <a:rPr lang="en-US" altLang="ko-KR" dirty="0"/>
              <a:t>,</a:t>
            </a:r>
            <a:r>
              <a:rPr lang="ko-KR" altLang="en-US" dirty="0"/>
              <a:t> 실시간으로 반응하는 </a:t>
            </a:r>
            <a:r>
              <a:rPr lang="en-US" altLang="ko-KR" dirty="0" err="1"/>
              <a:t>npc</a:t>
            </a:r>
            <a:r>
              <a:rPr lang="ko-KR" altLang="en-US" dirty="0"/>
              <a:t>나 몬스터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플레이어의 상호작용 등에 따른 생태계 변화를 예측하고 </a:t>
            </a:r>
            <a:br>
              <a:rPr lang="en-US" altLang="ko-KR" dirty="0"/>
            </a:br>
            <a:r>
              <a:rPr lang="ko-KR" altLang="en-US" dirty="0"/>
              <a:t>시간을 파악하는 기능이 존재하지 않음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제안 방법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플레이어가 소지 중인 아이템의 특성</a:t>
            </a:r>
            <a:r>
              <a:rPr lang="en-US" altLang="ko-KR" dirty="0"/>
              <a:t>, </a:t>
            </a:r>
            <a:r>
              <a:rPr lang="ko-KR" altLang="en-US" dirty="0"/>
              <a:t>몬스터 별 민감도와 반응</a:t>
            </a:r>
            <a:r>
              <a:rPr lang="en-US" altLang="ko-KR" dirty="0"/>
              <a:t>, </a:t>
            </a:r>
            <a:r>
              <a:rPr lang="ko-KR" altLang="en-US" dirty="0"/>
              <a:t>생태계 생물 종간 관계를 이용해 계획 경로로의 위험도를 예측</a:t>
            </a:r>
            <a:r>
              <a:rPr lang="en-US" altLang="ko-KR" dirty="0"/>
              <a:t>, </a:t>
            </a:r>
            <a:r>
              <a:rPr lang="ko-KR" altLang="en-US" dirty="0"/>
              <a:t>플레이어에게 경로별 예측 시간으로 고지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89E5657-2D23-4F1E-C3A9-D143E27B4F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연구 분야 발굴</a:t>
            </a:r>
          </a:p>
        </p:txBody>
      </p:sp>
    </p:spTree>
    <p:extLst>
      <p:ext uri="{BB962C8B-B14F-4D97-AF65-F5344CB8AC3E}">
        <p14:creationId xmlns:p14="http://schemas.microsoft.com/office/powerpoint/2010/main" val="3793486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8DD767-1ADA-96E2-87EF-5B211FE5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 방법과의 비교와 정량 지표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A70109-822C-A6B0-ADAF-874669E56A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ko-KR" altLang="en-US" sz="2400" dirty="0"/>
              <a:t>기존 방법</a:t>
            </a:r>
            <a:br>
              <a:rPr lang="en-US" altLang="ko-KR" sz="2400" dirty="0"/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정적 경로 탐색 </a:t>
            </a:r>
            <a:r>
              <a:rPr lang="en-US" altLang="ko-KR" sz="2400" dirty="0">
                <a:sym typeface="Wingdings" panose="05000000000000000000" pitchFamily="2" charset="2"/>
              </a:rPr>
              <a:t>: A* </a:t>
            </a:r>
            <a:r>
              <a:rPr lang="ko-KR" altLang="en-US" sz="2400" dirty="0">
                <a:sym typeface="Wingdings" panose="05000000000000000000" pitchFamily="2" charset="2"/>
              </a:rPr>
              <a:t>등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반응형 경로 탐색 </a:t>
            </a:r>
            <a:r>
              <a:rPr lang="en-US" altLang="ko-KR" sz="2400" dirty="0">
                <a:sym typeface="Wingdings" panose="05000000000000000000" pitchFamily="2" charset="2"/>
              </a:rPr>
              <a:t>: D* Lite, </a:t>
            </a:r>
            <a:r>
              <a:rPr lang="ko-KR" altLang="ko-KR" sz="2400" dirty="0" err="1"/>
              <a:t>Influence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Map</a:t>
            </a:r>
            <a:r>
              <a:rPr lang="en-US" altLang="ko-KR" sz="2400" dirty="0"/>
              <a:t>(</a:t>
            </a:r>
            <a:r>
              <a:rPr lang="ko-KR" altLang="en-US" sz="2400" dirty="0"/>
              <a:t>현재 스냅샷 반영</a:t>
            </a:r>
            <a:r>
              <a:rPr lang="en-US" altLang="ko-KR" sz="2400" dirty="0"/>
              <a:t>) </a:t>
            </a:r>
            <a:r>
              <a:rPr lang="ko-KR" altLang="en-US" sz="2400" dirty="0"/>
              <a:t>등</a:t>
            </a:r>
            <a:br>
              <a:rPr lang="en-US" altLang="ko-KR" sz="2400" dirty="0"/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개체 반응 </a:t>
            </a:r>
            <a:r>
              <a:rPr lang="en-US" altLang="ko-KR" sz="2400" dirty="0">
                <a:sym typeface="Wingdings" panose="05000000000000000000" pitchFamily="2" charset="2"/>
              </a:rPr>
              <a:t>: </a:t>
            </a:r>
            <a:r>
              <a:rPr lang="ko-KR" altLang="en-US" sz="2400" dirty="0">
                <a:sym typeface="Wingdings" panose="05000000000000000000" pitchFamily="2" charset="2"/>
              </a:rPr>
              <a:t>포식자</a:t>
            </a:r>
            <a:r>
              <a:rPr lang="en-US" altLang="ko-KR" sz="2400" dirty="0">
                <a:sym typeface="Wingdings" panose="05000000000000000000" pitchFamily="2" charset="2"/>
              </a:rPr>
              <a:t>-</a:t>
            </a:r>
            <a:r>
              <a:rPr lang="ko-KR" altLang="en-US" sz="2400" dirty="0">
                <a:sym typeface="Wingdings" panose="05000000000000000000" pitchFamily="2" charset="2"/>
              </a:rPr>
              <a:t>피식자 모델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en-US" altLang="ko-KR" sz="2400" dirty="0">
                <a:sym typeface="Wingdings" panose="05000000000000000000" pitchFamily="2" charset="2"/>
              </a:rPr>
              <a:t>(</a:t>
            </a:r>
            <a:r>
              <a:rPr lang="ko-KR" altLang="en-US" sz="2400" dirty="0">
                <a:sym typeface="Wingdings" panose="05000000000000000000" pitchFamily="2" charset="2"/>
              </a:rPr>
              <a:t>공간적 정보 반영 </a:t>
            </a:r>
            <a:r>
              <a:rPr lang="en-US" altLang="ko-KR" sz="2400" dirty="0">
                <a:sym typeface="Wingdings" panose="05000000000000000000" pitchFamily="2" charset="2"/>
              </a:rPr>
              <a:t>X), </a:t>
            </a:r>
            <a:r>
              <a:rPr lang="en-US" altLang="ko-KR" sz="2400" dirty="0" err="1">
                <a:sym typeface="Wingdings" panose="05000000000000000000" pitchFamily="2" charset="2"/>
              </a:rPr>
              <a:t>Boids</a:t>
            </a:r>
            <a:r>
              <a:rPr lang="en-US" altLang="ko-KR" sz="2400" dirty="0">
                <a:sym typeface="Wingdings" panose="05000000000000000000" pitchFamily="2" charset="2"/>
              </a:rPr>
              <a:t>, GOAP, Utility AI(</a:t>
            </a:r>
            <a:r>
              <a:rPr lang="ko-KR" altLang="en-US" sz="2400" dirty="0">
                <a:sym typeface="Wingdings" panose="05000000000000000000" pitchFamily="2" charset="2"/>
              </a:rPr>
              <a:t>개체 단위 행동 모델</a:t>
            </a:r>
            <a:r>
              <a:rPr lang="en-US" altLang="ko-KR" sz="2400" dirty="0">
                <a:sym typeface="Wingdings" panose="05000000000000000000" pitchFamily="2" charset="2"/>
              </a:rPr>
              <a:t>. </a:t>
            </a:r>
            <a:r>
              <a:rPr lang="ko-KR" altLang="en-US" sz="2400" dirty="0">
                <a:sym typeface="Wingdings" panose="05000000000000000000" pitchFamily="2" charset="2"/>
              </a:rPr>
              <a:t>경로 </a:t>
            </a:r>
            <a:r>
              <a:rPr lang="en-US" altLang="ko-KR" sz="2400" dirty="0">
                <a:sym typeface="Wingdings" panose="05000000000000000000" pitchFamily="2" charset="2"/>
              </a:rPr>
              <a:t>X)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교통상황 예측 </a:t>
            </a:r>
            <a:r>
              <a:rPr lang="en-US" altLang="ko-KR" sz="2400" dirty="0">
                <a:sym typeface="Wingdings" panose="05000000000000000000" pitchFamily="2" charset="2"/>
              </a:rPr>
              <a:t>: ETA, GNN </a:t>
            </a:r>
            <a:r>
              <a:rPr lang="ko-KR" altLang="en-US" sz="2400" dirty="0">
                <a:sym typeface="Wingdings" panose="05000000000000000000" pitchFamily="2" charset="2"/>
              </a:rPr>
              <a:t>기반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en-US" altLang="ko-KR" sz="2400" dirty="0">
                <a:sym typeface="Wingdings" panose="05000000000000000000" pitchFamily="2" charset="2"/>
              </a:rPr>
              <a:t>(</a:t>
            </a:r>
            <a:r>
              <a:rPr lang="ko-KR" altLang="en-US" sz="2400" dirty="0">
                <a:sym typeface="Wingdings" panose="05000000000000000000" pitchFamily="2" charset="2"/>
              </a:rPr>
              <a:t>대규모 히스토리에 의존</a:t>
            </a:r>
            <a:r>
              <a:rPr lang="en-US" altLang="ko-KR" sz="2400" dirty="0">
                <a:sym typeface="Wingdings" panose="05000000000000000000" pitchFamily="2" charset="2"/>
              </a:rPr>
              <a:t>. </a:t>
            </a:r>
            <a:r>
              <a:rPr lang="ko-KR" altLang="en-US" sz="2400" dirty="0">
                <a:sym typeface="Wingdings" panose="05000000000000000000" pitchFamily="2" charset="2"/>
              </a:rPr>
              <a:t>실시간 상호작용 </a:t>
            </a:r>
            <a:r>
              <a:rPr lang="en-US" altLang="ko-KR" sz="2400" dirty="0">
                <a:sym typeface="Wingdings" panose="05000000000000000000" pitchFamily="2" charset="2"/>
              </a:rPr>
              <a:t>X)</a:t>
            </a:r>
            <a:endParaRPr lang="ko-KR" altLang="en-US" sz="24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1B6C7C-F9C9-5415-1A75-8231C27483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sz="2400" dirty="0"/>
              <a:t>비교대상</a:t>
            </a:r>
            <a:br>
              <a:rPr lang="en-US" altLang="ko-KR" sz="2400" dirty="0"/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고정 </a:t>
            </a:r>
            <a:r>
              <a:rPr lang="en-US" altLang="ko-KR" sz="2400" dirty="0">
                <a:sym typeface="Wingdings" panose="05000000000000000000" pitchFamily="2" charset="2"/>
              </a:rPr>
              <a:t>spawn AI</a:t>
            </a:r>
            <a:r>
              <a:rPr lang="ko-KR" altLang="en-US" sz="2400" dirty="0">
                <a:sym typeface="Wingdings" panose="05000000000000000000" pitchFamily="2" charset="2"/>
              </a:rPr>
              <a:t>와 </a:t>
            </a:r>
            <a:r>
              <a:rPr lang="en-US" altLang="ko-KR" sz="2400" dirty="0">
                <a:sym typeface="Wingdings" panose="05000000000000000000" pitchFamily="2" charset="2"/>
              </a:rPr>
              <a:t>A*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환경 질의 시스템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/>
              <a:t>정량 지표</a:t>
            </a:r>
            <a:br>
              <a:rPr lang="en-US" altLang="ko-KR" sz="2400" dirty="0"/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플레이어 경험</a:t>
            </a:r>
            <a:r>
              <a:rPr lang="en-US" altLang="ko-KR" sz="2400" dirty="0">
                <a:sym typeface="Wingdings" panose="05000000000000000000" pitchFamily="2" charset="2"/>
              </a:rPr>
              <a:t>/</a:t>
            </a:r>
            <a:r>
              <a:rPr lang="ko-KR" altLang="en-US" sz="2400" dirty="0">
                <a:sym typeface="Wingdings" panose="05000000000000000000" pitchFamily="2" charset="2"/>
              </a:rPr>
              <a:t>주관적 신뢰도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en-US" altLang="ko-KR" sz="2400" dirty="0">
                <a:sym typeface="Wingdings" panose="05000000000000000000" pitchFamily="2" charset="2"/>
              </a:rPr>
              <a:t></a:t>
            </a:r>
            <a:r>
              <a:rPr lang="ko-KR" altLang="en-US" sz="2400" dirty="0">
                <a:sym typeface="Wingdings" panose="05000000000000000000" pitchFamily="2" charset="2"/>
              </a:rPr>
              <a:t> 연산 비용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en-US" altLang="ko-KR" sz="2400" dirty="0">
                <a:sym typeface="Wingdings" panose="05000000000000000000" pitchFamily="2" charset="2"/>
              </a:rPr>
              <a:t> AI</a:t>
            </a:r>
            <a:r>
              <a:rPr lang="ko-KR" altLang="en-US" sz="2400" dirty="0">
                <a:sym typeface="Wingdings" panose="05000000000000000000" pitchFamily="2" charset="2"/>
              </a:rPr>
              <a:t>의 </a:t>
            </a:r>
            <a:r>
              <a:rPr lang="ko-KR" altLang="en-US" sz="2400" dirty="0" err="1">
                <a:sym typeface="Wingdings" panose="05000000000000000000" pitchFamily="2" charset="2"/>
              </a:rPr>
              <a:t>재계획</a:t>
            </a:r>
            <a:r>
              <a:rPr lang="ko-KR" altLang="en-US" sz="2400" dirty="0">
                <a:sym typeface="Wingdings" panose="05000000000000000000" pitchFamily="2" charset="2"/>
              </a:rPr>
              <a:t> 빈도</a:t>
            </a:r>
            <a:r>
              <a:rPr lang="en-US" altLang="ko-KR" sz="2400" dirty="0">
                <a:sym typeface="Wingdings" panose="05000000000000000000" pitchFamily="2" charset="2"/>
              </a:rPr>
              <a:t>(</a:t>
            </a:r>
            <a:r>
              <a:rPr lang="ko-KR" altLang="en-US" sz="2400" dirty="0">
                <a:sym typeface="Wingdings" panose="05000000000000000000" pitchFamily="2" charset="2"/>
              </a:rPr>
              <a:t>낮을수록 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ko-KR" altLang="en-US" sz="2400" dirty="0">
                <a:sym typeface="Wingdings" panose="05000000000000000000" pitchFamily="2" charset="2"/>
              </a:rPr>
              <a:t>안정적</a:t>
            </a:r>
            <a:r>
              <a:rPr lang="en-US" altLang="ko-KR" sz="2400" dirty="0">
                <a:sym typeface="Wingdings" panose="05000000000000000000" pitchFamily="2" charset="2"/>
              </a:rPr>
              <a:t>)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예측과 실제 </a:t>
            </a:r>
            <a:r>
              <a:rPr lang="ko-KR" altLang="en-US" sz="2400" dirty="0" err="1">
                <a:sym typeface="Wingdings" panose="05000000000000000000" pitchFamily="2" charset="2"/>
              </a:rPr>
              <a:t>교전량</a:t>
            </a:r>
            <a:endParaRPr lang="en-US" altLang="ko-KR" sz="2400" dirty="0">
              <a:sym typeface="Wingdings" panose="05000000000000000000" pitchFamily="2" charset="2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3A6E8A-B9FA-05CA-B15D-698A5123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95A8-B3EF-4B27-BD48-B66816942396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FFC526-691D-5A1B-5D3D-C1BB7565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A4FE49C-F52B-8346-07E4-525F8AB8BB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연구 분야 발굴</a:t>
            </a:r>
          </a:p>
        </p:txBody>
      </p:sp>
    </p:spTree>
    <p:extLst>
      <p:ext uri="{BB962C8B-B14F-4D97-AF65-F5344CB8AC3E}">
        <p14:creationId xmlns:p14="http://schemas.microsoft.com/office/powerpoint/2010/main" val="224059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7FE09-93D2-1F00-B8DB-8E812FA7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 구현 계획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A83222-58F1-682D-39AC-635943A7E5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핵심 요소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화물 특성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종별 반응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종간 관계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예측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4AD092-489E-F612-D1E8-BDC75C9CD9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알고리즘 계획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화물 자극 확산 모델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종별 반응과 상호작용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스코어 계산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반응 확률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자극 강도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거리 등의 요소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T</a:t>
            </a:r>
            <a:r>
              <a:rPr lang="ko-KR" altLang="en-US" dirty="0">
                <a:sym typeface="Wingdings" panose="05000000000000000000" pitchFamily="2" charset="2"/>
              </a:rPr>
              <a:t>초 후 몬스터 밀도 및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분포 계산 갱신</a:t>
            </a:r>
            <a:br>
              <a:rPr lang="en-US" altLang="ko-KR" dirty="0">
                <a:sym typeface="Wingdings" panose="05000000000000000000" pitchFamily="2" charset="2"/>
              </a:rPr>
            </a:b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추가적 효율적인 재계산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2150EB-FEB4-6F06-5430-D6DDD0019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95A8-B3EF-4B27-BD48-B66816942396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25ED7E-3BDA-0ED9-EFC4-FCF2DC76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B781A2A-B476-83F7-48BF-71F8AA20A5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연구 분야 발굴</a:t>
            </a:r>
          </a:p>
        </p:txBody>
      </p:sp>
    </p:spTree>
    <p:extLst>
      <p:ext uri="{BB962C8B-B14F-4D97-AF65-F5344CB8AC3E}">
        <p14:creationId xmlns:p14="http://schemas.microsoft.com/office/powerpoint/2010/main" val="4462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C0B8BB5-7747-DFD5-7B48-6B0512EB7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통합 계획 수립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7FF96C7-ADD9-CA9A-4BDF-39DD698CD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4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0BDF48C-8CD5-353D-DBB5-50E65CEF6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계획서</a:t>
            </a:r>
            <a:r>
              <a:rPr lang="en-US" altLang="ko-KR" dirty="0"/>
              <a:t>(9</a:t>
            </a:r>
            <a:r>
              <a:rPr lang="ko-KR" altLang="en-US" dirty="0"/>
              <a:t>월</a:t>
            </a:r>
            <a:r>
              <a:rPr lang="en-US" altLang="ko-KR" dirty="0"/>
              <a:t>~11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7F02AB9-A2B6-8674-048D-A80D70B174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12"/>
          <a:stretch>
            <a:fillRect/>
          </a:stretch>
        </p:blipFill>
        <p:spPr>
          <a:xfrm>
            <a:off x="1637228" y="1402611"/>
            <a:ext cx="8917544" cy="497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04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E5652-03D5-F074-792B-BDB676D5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계획서</a:t>
            </a:r>
            <a:r>
              <a:rPr lang="en-US" altLang="ko-KR" dirty="0"/>
              <a:t>(12</a:t>
            </a:r>
            <a:r>
              <a:rPr lang="ko-KR" altLang="en-US" dirty="0"/>
              <a:t>월</a:t>
            </a:r>
            <a:r>
              <a:rPr lang="en-US" altLang="ko-KR" dirty="0"/>
              <a:t>~2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B60C4C-32FE-63EC-428B-BD9CB383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3435-1707-4B21-BAC9-39E92668C45A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80E176-36D5-580C-A558-64E68A0C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B737B15-DF30-E65A-A280-2D97D3F09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366" y="1386891"/>
            <a:ext cx="7769267" cy="508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86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D2A35-BA78-53F9-11C3-D88523EE6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계획서</a:t>
            </a:r>
            <a:r>
              <a:rPr lang="en-US" altLang="ko-KR" dirty="0"/>
              <a:t>(3</a:t>
            </a:r>
            <a:r>
              <a:rPr lang="ko-KR" altLang="en-US" dirty="0"/>
              <a:t>월</a:t>
            </a:r>
            <a:r>
              <a:rPr lang="en-US" altLang="ko-KR" dirty="0"/>
              <a:t>~4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179A89-A816-C536-DEFC-C228B8AA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3435-1707-4B21-BAC9-39E92668C45A}" type="datetime1">
              <a:rPr lang="en-US" altLang="ko-KR" smtClean="0"/>
              <a:t>9/15/2026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14E76B-83C2-BC3A-3C24-033BACF2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2F5-9954-4351-A905-F3671201F537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9B9917-E146-F1CF-8EF3-B996D49543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1"/>
          <a:stretch>
            <a:fillRect/>
          </a:stretch>
        </p:blipFill>
        <p:spPr>
          <a:xfrm>
            <a:off x="1452528" y="1754038"/>
            <a:ext cx="9286943" cy="407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20834"/>
      </p:ext>
    </p:extLst>
  </p:cSld>
  <p:clrMapOvr>
    <a:masterClrMapping/>
  </p:clrMapOvr>
</p:sld>
</file>

<file path=ppt/theme/theme1.xml><?xml version="1.0" encoding="utf-8"?>
<a:theme xmlns:a="http://schemas.openxmlformats.org/drawingml/2006/main" name="02_바디앤소울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2_바디앤소울" id="{A6DAAF16-197F-4C0E-AFD7-0C6E381D94C6}" vid="{5EBC4020-8BBE-441B-9F64-513E460E6D39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02_바디앤소울</Template>
  <TotalTime>87</TotalTime>
  <Words>332</Words>
  <Application>Microsoft Office PowerPoint</Application>
  <PresentationFormat>와이드스크린</PresentationFormat>
  <Paragraphs>32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Arial</vt:lpstr>
      <vt:lpstr>Wingdings</vt:lpstr>
      <vt:lpstr>02_바디앤소울</vt:lpstr>
      <vt:lpstr>디자인 사용자 지정</vt:lpstr>
      <vt:lpstr>1_디자인 사용자 지정</vt:lpstr>
      <vt:lpstr>졸업작품 연구분야 기획서</vt:lpstr>
      <vt:lpstr>중점 연구 분야 발굴</vt:lpstr>
      <vt:lpstr>연구 문제와 제안 방법</vt:lpstr>
      <vt:lpstr>기존 방법과의 비교와 정량 지표</vt:lpstr>
      <vt:lpstr>알고리즘 구현 계획</vt:lpstr>
      <vt:lpstr>통합 계획 수립</vt:lpstr>
      <vt:lpstr>계획서(9월~11월)</vt:lpstr>
      <vt:lpstr>계획서(12월~2월)</vt:lpstr>
      <vt:lpstr>계획서(3월~4월)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권현아(2023184004)</dc:creator>
  <cp:lastModifiedBy>권현아(2023184004)</cp:lastModifiedBy>
  <cp:revision>19</cp:revision>
  <dcterms:created xsi:type="dcterms:W3CDTF">2026-09-15T12:57:30Z</dcterms:created>
  <dcterms:modified xsi:type="dcterms:W3CDTF">2026-09-15T14:27:19Z</dcterms:modified>
</cp:coreProperties>
</file>