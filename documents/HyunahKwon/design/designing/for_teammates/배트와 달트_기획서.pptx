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53"/>
  </p:notesMasterIdLst>
  <p:sldIdLst>
    <p:sldId id="256" r:id="rId3"/>
    <p:sldId id="281" r:id="rId4"/>
    <p:sldId id="257" r:id="rId5"/>
    <p:sldId id="258" r:id="rId6"/>
    <p:sldId id="315" r:id="rId7"/>
    <p:sldId id="292" r:id="rId8"/>
    <p:sldId id="259" r:id="rId9"/>
    <p:sldId id="261" r:id="rId10"/>
    <p:sldId id="317" r:id="rId11"/>
    <p:sldId id="314" r:id="rId12"/>
    <p:sldId id="265" r:id="rId13"/>
    <p:sldId id="260" r:id="rId14"/>
    <p:sldId id="271" r:id="rId15"/>
    <p:sldId id="268" r:id="rId16"/>
    <p:sldId id="272" r:id="rId17"/>
    <p:sldId id="273" r:id="rId18"/>
    <p:sldId id="278" r:id="rId19"/>
    <p:sldId id="296" r:id="rId20"/>
    <p:sldId id="286" r:id="rId21"/>
    <p:sldId id="277" r:id="rId22"/>
    <p:sldId id="297" r:id="rId23"/>
    <p:sldId id="279" r:id="rId24"/>
    <p:sldId id="262" r:id="rId25"/>
    <p:sldId id="318" r:id="rId26"/>
    <p:sldId id="319" r:id="rId27"/>
    <p:sldId id="320" r:id="rId28"/>
    <p:sldId id="269" r:id="rId29"/>
    <p:sldId id="274" r:id="rId30"/>
    <p:sldId id="289" r:id="rId31"/>
    <p:sldId id="294" r:id="rId32"/>
    <p:sldId id="291" r:id="rId33"/>
    <p:sldId id="288" r:id="rId34"/>
    <p:sldId id="290" r:id="rId35"/>
    <p:sldId id="276" r:id="rId36"/>
    <p:sldId id="263" r:id="rId37"/>
    <p:sldId id="270" r:id="rId38"/>
    <p:sldId id="316" r:id="rId39"/>
    <p:sldId id="285" r:id="rId40"/>
    <p:sldId id="295" r:id="rId41"/>
    <p:sldId id="287" r:id="rId42"/>
    <p:sldId id="275" r:id="rId43"/>
    <p:sldId id="282" r:id="rId44"/>
    <p:sldId id="283" r:id="rId45"/>
    <p:sldId id="311" r:id="rId46"/>
    <p:sldId id="307" r:id="rId47"/>
    <p:sldId id="310" r:id="rId48"/>
    <p:sldId id="306" r:id="rId49"/>
    <p:sldId id="303" r:id="rId50"/>
    <p:sldId id="312" r:id="rId51"/>
    <p:sldId id="313" r:id="rId5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tableStyles" Target="tableStyle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jp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4F17953-3B5F-EE84-21E0-A1BD420E31CA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en-US" altLang="ko-KR" sz="2400" dirty="0"/>
              <a:t>, </a:t>
            </a:r>
            <a:r>
              <a:rPr lang="ko-KR" altLang="en-US" sz="2400" dirty="0"/>
              <a:t>화물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 : </a:t>
            </a:r>
            <a:r>
              <a:rPr lang="ko-KR" altLang="en-US" sz="2400" dirty="0"/>
              <a:t>경로를 보여주고 배달 예상 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배송품을 전달해야 하는 최종 장소</a:t>
            </a:r>
            <a:endParaRPr lang="en-US" altLang="ko-KR" sz="2400" dirty="0"/>
          </a:p>
          <a:p>
            <a:r>
              <a:rPr lang="ko-KR" altLang="en-US" sz="2400" dirty="0" err="1"/>
              <a:t>운반자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현재 화물을 소지하여 들고 있는 플레이어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b="1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개요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전체</a:t>
            </a:r>
            <a:br>
              <a:rPr lang="en-US" altLang="ko-KR" sz="2400" dirty="0"/>
            </a:br>
            <a:r>
              <a:rPr lang="en-US" altLang="ko-KR" sz="2400" dirty="0"/>
              <a:t>	-</a:t>
            </a:r>
            <a:r>
              <a:rPr lang="ko-KR" altLang="en-US" sz="2400" dirty="0"/>
              <a:t> 세부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개요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배달길에는 여러 방해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지형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몬스터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배달품에 영향을 받은 생물들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r>
              <a:rPr lang="ko-KR" altLang="en-US" dirty="0">
                <a:solidFill>
                  <a:srgbClr val="000000"/>
                </a:solidFill>
              </a:rPr>
              <a:t>가 존재하므로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그것을 피해가거나 처치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혹은 저지하며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5386747-3639-AA9F-0C0C-C7205DF2FB09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페이지 수정됨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24807253"/>
              </p:ext>
            </p:extLst>
          </p:nvPr>
        </p:nvGraphicFramePr>
        <p:xfrm>
          <a:off x="1025824" y="963547"/>
          <a:ext cx="10140351" cy="50346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6415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전략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629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73477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9332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예상 플레이 타임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약 </a:t>
                      </a: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1 ~ 2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4045334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273" y="4649799"/>
            <a:ext cx="1670449" cy="347502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60206C8E-317B-6C5C-5567-FD9A52F42FF4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페이지 수정됨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예상 시간 정보를 </a:t>
            </a:r>
            <a:br>
              <a:rPr lang="en-US" altLang="ko-KR" dirty="0"/>
            </a:br>
            <a:r>
              <a:rPr lang="ko-KR" altLang="ko-KR" dirty="0"/>
              <a:t>바탕으로 플레이어의 </a:t>
            </a:r>
            <a:br>
              <a:rPr lang="en-US" altLang="ko-KR" dirty="0"/>
            </a:br>
            <a:r>
              <a:rPr lang="ko-KR" altLang="ko-KR" dirty="0"/>
              <a:t>판단과 행동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44667-96F1-86C8-94EF-4A8B74EC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737768-AF92-E2A7-9D07-CF107A8164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어째서 </a:t>
            </a:r>
            <a:r>
              <a:rPr lang="en-US" altLang="ko-KR" dirty="0"/>
              <a:t>2</a:t>
            </a:r>
            <a:r>
              <a:rPr lang="ko-KR" altLang="en-US" dirty="0"/>
              <a:t>인인가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CA02-08FD-457E-299A-2D12BB6FA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1358" y="842169"/>
            <a:ext cx="10322442" cy="5334794"/>
          </a:xfrm>
        </p:spPr>
        <p:txBody>
          <a:bodyPr anchor="ctr"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두 플레이어의 특성이나 성격에 따라</a:t>
            </a:r>
            <a:r>
              <a:rPr lang="en-US" altLang="ko-KR" dirty="0"/>
              <a:t>, </a:t>
            </a:r>
            <a:r>
              <a:rPr lang="ko-KR" altLang="en-US" dirty="0"/>
              <a:t>경로 안내</a:t>
            </a:r>
            <a:r>
              <a:rPr lang="en-US" altLang="ko-KR" dirty="0"/>
              <a:t>AI</a:t>
            </a:r>
            <a:r>
              <a:rPr lang="ko-KR" altLang="en-US" dirty="0"/>
              <a:t>의 결과를 보고 서로 다른 의견을 낼 수 있는데</a:t>
            </a:r>
            <a:r>
              <a:rPr lang="en-US" altLang="ko-KR" dirty="0"/>
              <a:t>, </a:t>
            </a:r>
            <a:r>
              <a:rPr lang="ko-KR" altLang="en-US" dirty="0"/>
              <a:t>그 둘이 다른 의견으로 토의 시간이 길어지면 배달 시간이 점점 줄어든다</a:t>
            </a:r>
            <a:r>
              <a:rPr lang="en-US" altLang="ko-KR" dirty="0"/>
              <a:t>. </a:t>
            </a:r>
            <a:r>
              <a:rPr lang="ko-KR" altLang="en-US" dirty="0"/>
              <a:t>그렇게 줄어든 시간을 보며 결국 플레이어는 급하게 선택을 내릴 수 밖에 없는데</a:t>
            </a:r>
            <a:r>
              <a:rPr lang="en-US" altLang="ko-KR" dirty="0"/>
              <a:t>, </a:t>
            </a:r>
            <a:r>
              <a:rPr lang="ko-KR" altLang="en-US" dirty="0"/>
              <a:t>그렇게 함으로써 마찰이 생김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두 플레이어가 토의하면 혼자서 결정하는 것보다 결정의 시간이 </a:t>
            </a:r>
            <a:r>
              <a:rPr lang="ko-KR" altLang="en-US" dirty="0" err="1"/>
              <a:t>증가하게되는데</a:t>
            </a:r>
            <a:r>
              <a:rPr lang="en-US" altLang="ko-KR" dirty="0"/>
              <a:t>, </a:t>
            </a:r>
            <a:r>
              <a:rPr lang="ko-KR" altLang="en-US" dirty="0"/>
              <a:t>그렇게 하면 경로 시간이 계속 </a:t>
            </a:r>
            <a:r>
              <a:rPr lang="ko-KR" altLang="en-US" dirty="0" err="1"/>
              <a:t>확인할때마다</a:t>
            </a:r>
            <a:r>
              <a:rPr lang="ko-KR" altLang="en-US" dirty="0"/>
              <a:t> 변경되는 것을 보여주고자 한다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배달품</a:t>
            </a:r>
            <a:r>
              <a:rPr lang="ko-KR" altLang="en-US" dirty="0"/>
              <a:t> 최초 지급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ko-KR" altLang="en-US" dirty="0" err="1"/>
              <a:t>전달시</a:t>
            </a:r>
            <a:r>
              <a:rPr lang="ko-KR" altLang="en-US" dirty="0"/>
              <a:t> 인증절차를 </a:t>
            </a:r>
            <a:r>
              <a:rPr lang="ko-KR" altLang="en-US" dirty="0" err="1"/>
              <a:t>진행할때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인플레이어가 반드시 필요하게 만들어 두 플레이어가 서로 의견차이가 있더라도 서로 떨어지지 </a:t>
            </a:r>
            <a:r>
              <a:rPr lang="ko-KR" altLang="en-US" dirty="0" err="1"/>
              <a:t>않도록함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2</a:t>
            </a:r>
            <a:r>
              <a:rPr lang="ko-KR" altLang="en-US" dirty="0"/>
              <a:t>인의 플레이어고 </a:t>
            </a:r>
            <a:r>
              <a:rPr lang="ko-KR" altLang="en-US" dirty="0" err="1"/>
              <a:t>사람에따라</a:t>
            </a:r>
            <a:r>
              <a:rPr lang="ko-KR" altLang="en-US" dirty="0"/>
              <a:t> 변수를 많이 만들고 싶음</a:t>
            </a:r>
            <a:br>
              <a:rPr lang="en-US" altLang="ko-KR" dirty="0"/>
            </a:br>
            <a:r>
              <a:rPr lang="ko-KR" altLang="en-US" dirty="0"/>
              <a:t>예를 들어 두 플레이어가 길을 갈라서서 둘이 완전히 다른 길을 간다면</a:t>
            </a:r>
            <a:r>
              <a:rPr lang="en-US" altLang="ko-KR" dirty="0"/>
              <a:t>??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왜냐하면 변수를 많이 만드는 것이 정답지와 공략이 있는 배달 루트보다 다양한 플레이경험을 제공할 수 있기 때문에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그러면 왜 </a:t>
            </a:r>
            <a:r>
              <a:rPr lang="en-US" altLang="ko-KR" dirty="0"/>
              <a:t>2</a:t>
            </a:r>
            <a:r>
              <a:rPr lang="ko-KR" altLang="en-US" dirty="0"/>
              <a:t>인이고 </a:t>
            </a:r>
            <a:r>
              <a:rPr lang="en-US" altLang="ko-KR" dirty="0"/>
              <a:t>3</a:t>
            </a:r>
            <a:r>
              <a:rPr lang="ko-KR" altLang="en-US" dirty="0"/>
              <a:t>인이나</a:t>
            </a:r>
            <a:r>
              <a:rPr lang="en-US" altLang="ko-KR" dirty="0"/>
              <a:t>4</a:t>
            </a:r>
            <a:r>
              <a:rPr lang="ko-KR" altLang="en-US" dirty="0"/>
              <a:t>인이 아닌가</a:t>
            </a:r>
            <a:r>
              <a:rPr lang="en-US" altLang="ko-KR" dirty="0"/>
              <a:t>-&gt; </a:t>
            </a:r>
            <a:r>
              <a:rPr lang="ko-KR" altLang="en-US" dirty="0"/>
              <a:t>비용이 많이 듦</a:t>
            </a:r>
            <a:r>
              <a:rPr lang="en-US" altLang="ko-KR" dirty="0"/>
              <a:t>. </a:t>
            </a:r>
            <a:r>
              <a:rPr lang="ko-KR" altLang="en-US" dirty="0"/>
              <a:t>또한 역할의 분담에는 </a:t>
            </a:r>
            <a:r>
              <a:rPr lang="en-US" altLang="ko-KR" dirty="0"/>
              <a:t>2</a:t>
            </a:r>
            <a:r>
              <a:rPr lang="ko-KR" altLang="en-US" dirty="0"/>
              <a:t>인이 적절하다고 판단함</a:t>
            </a:r>
            <a:r>
              <a:rPr lang="en-US" altLang="ko-KR" dirty="0"/>
              <a:t>. </a:t>
            </a:r>
            <a:r>
              <a:rPr lang="ko-KR" altLang="en-US" dirty="0"/>
              <a:t>한명은 </a:t>
            </a:r>
            <a:r>
              <a:rPr lang="ko-KR" altLang="en-US" dirty="0" err="1"/>
              <a:t>배달품들기</a:t>
            </a:r>
            <a:r>
              <a:rPr lang="en-US" altLang="ko-KR" dirty="0"/>
              <a:t>, </a:t>
            </a:r>
            <a:r>
              <a:rPr lang="ko-KR" altLang="en-US" dirty="0" err="1"/>
              <a:t>다른한명은</a:t>
            </a:r>
            <a:r>
              <a:rPr lang="ko-KR" altLang="en-US" dirty="0"/>
              <a:t> 무기로 </a:t>
            </a:r>
            <a:r>
              <a:rPr lang="ko-KR" altLang="en-US" dirty="0" err="1"/>
              <a:t>엄호를하고</a:t>
            </a:r>
            <a:r>
              <a:rPr lang="en-US" altLang="ko-KR" dirty="0"/>
              <a:t>. 3</a:t>
            </a:r>
            <a:r>
              <a:rPr lang="ko-KR" altLang="en-US" dirty="0"/>
              <a:t>인이상이 되는 순간부터는</a:t>
            </a:r>
            <a:r>
              <a:rPr lang="en-US" altLang="ko-KR" dirty="0"/>
              <a:t>, 1</a:t>
            </a:r>
            <a:r>
              <a:rPr lang="ko-KR" altLang="en-US" dirty="0"/>
              <a:t>명이 화물</a:t>
            </a:r>
            <a:r>
              <a:rPr lang="en-US" altLang="ko-KR" dirty="0"/>
              <a:t>, 2</a:t>
            </a:r>
            <a:r>
              <a:rPr lang="ko-KR" altLang="en-US" dirty="0"/>
              <a:t>인이 무기를 들면 너무  엄호가 쉬워지고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아맞다</a:t>
            </a:r>
            <a:r>
              <a:rPr lang="ko-KR" altLang="en-US" dirty="0"/>
              <a:t> 플레이예상 시간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1CFA96-B6C1-0AB0-5757-0C46C6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3F41E6-2AA1-320D-D25D-103529784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E666827-FC81-6B0C-A9C0-3513E98015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28141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 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1646627" y="2929218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랜덤 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모든 </a:t>
            </a:r>
            <a:r>
              <a:rPr lang="ko-KR" altLang="en-US" dirty="0" err="1">
                <a:solidFill>
                  <a:srgbClr val="000000"/>
                </a:solidFill>
              </a:rPr>
              <a:t>배송품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8939589" y="2869551"/>
            <a:ext cx="1210826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3051564" y="3298312"/>
            <a:ext cx="5428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594428" y="2752968"/>
            <a:ext cx="2300289" cy="109068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안내에 따라 배송 진행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>
            <a:off x="5894717" y="3298312"/>
            <a:ext cx="6792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6780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 세부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02006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4244975" y="152683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554341" y="1526836"/>
            <a:ext cx="519083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>
            <a:off x="1968490" y="1522203"/>
            <a:ext cx="404932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38215" y="102212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플로우 진행 중</a:t>
            </a: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위험한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위치에서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래픽 10" descr="벌 단색으로 채워진">
            <a:extLst>
              <a:ext uri="{FF2B5EF4-FFF2-40B4-BE49-F238E27FC236}">
                <a16:creationId xmlns:a16="http://schemas.microsoft.com/office/drawing/2014/main" id="{091B47AF-8DED-47F7-F4A1-C869777386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31294" y="2711860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5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</a:t>
            </a:r>
            <a:br>
              <a:rPr lang="en-US" altLang="ko-KR" dirty="0"/>
            </a:br>
            <a:r>
              <a:rPr lang="ko-KR" altLang="en-US" dirty="0"/>
              <a:t>없을 정도로 강한 존재가 있음</a:t>
            </a:r>
            <a:endParaRPr lang="en-US" altLang="ko-KR" dirty="0"/>
          </a:p>
          <a:p>
            <a:r>
              <a:rPr lang="ko-KR" altLang="en-US" dirty="0"/>
              <a:t>모래언덕 </a:t>
            </a:r>
            <a:r>
              <a:rPr lang="en-US" altLang="ko-KR" dirty="0"/>
              <a:t>: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FD4BBD75-2B8D-74B6-0760-FBAFE3B1ECBC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1940E3A-D8DE-E36B-97DE-6FE30F83BF1D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7951EF7C-3C48-9993-9CDD-19B5DC78E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9F4B4B7F-FF74-02E1-546C-1BC095504E7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7404409D-3593-14FF-675B-3547AD02CF0D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B4E544C8-4057-07D1-E838-13A4AB1D9D2A}"/>
              </a:ext>
            </a:extLst>
          </p:cNvPr>
          <p:cNvSpPr/>
          <p:nvPr/>
        </p:nvSpPr>
        <p:spPr>
          <a:xfrm>
            <a:off x="2369148" y="512084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0027FCC1-99E8-0622-8FD3-4A3643924EAE}"/>
              </a:ext>
            </a:extLst>
          </p:cNvPr>
          <p:cNvSpPr/>
          <p:nvPr/>
        </p:nvSpPr>
        <p:spPr>
          <a:xfrm>
            <a:off x="4494825" y="5470438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3839D72-6AE0-FF15-C785-D205371A6316}"/>
              </a:ext>
            </a:extLst>
          </p:cNvPr>
          <p:cNvSpPr/>
          <p:nvPr/>
        </p:nvSpPr>
        <p:spPr>
          <a:xfrm>
            <a:off x="1638634" y="344711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7E92919F-047F-A7FD-1324-6493FD15CFC1}"/>
              </a:ext>
            </a:extLst>
          </p:cNvPr>
          <p:cNvSpPr/>
          <p:nvPr/>
        </p:nvSpPr>
        <p:spPr>
          <a:xfrm>
            <a:off x="4103926" y="3846316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지형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</a:t>
            </a:r>
            <a:br>
              <a:rPr lang="en-US" altLang="ko-KR" dirty="0"/>
            </a:br>
            <a:r>
              <a:rPr lang="ko-KR" altLang="en-US" dirty="0"/>
              <a:t>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72894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686578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A394CC3-10BC-21B8-5839-6A451024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790B1DD-DAC9-A671-91FC-062941EB9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개념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플레이어가 </a:t>
            </a:r>
            <a:r>
              <a:rPr lang="ko-KR" altLang="en-US" sz="1600" dirty="0" err="1"/>
              <a:t>안전히</a:t>
            </a:r>
            <a:r>
              <a:rPr lang="ko-KR" altLang="en-US" sz="1600" dirty="0"/>
              <a:t> 목적지까지 운반해야 하는 오브젝트로</a:t>
            </a:r>
            <a:r>
              <a:rPr lang="en-US" altLang="ko-KR" sz="1600" dirty="0"/>
              <a:t>, </a:t>
            </a:r>
            <a:r>
              <a:rPr lang="ko-KR" altLang="en-US" sz="1600" dirty="0"/>
              <a:t>종류에 따라 다른 생물들의 다른 반응을 이끌어낼 수 있음</a:t>
            </a:r>
            <a:r>
              <a:rPr lang="en-US" altLang="ko-KR" sz="1600" dirty="0"/>
              <a:t>. </a:t>
            </a:r>
            <a:br>
              <a:rPr lang="en-US" altLang="ko-KR" sz="1600" dirty="0"/>
            </a:br>
            <a:r>
              <a:rPr lang="ko-KR" altLang="en-US" sz="1600" dirty="0"/>
              <a:t>화물의 상태는 일반</a:t>
            </a:r>
            <a:r>
              <a:rPr lang="en-US" altLang="ko-KR" sz="1600" dirty="0"/>
              <a:t>, </a:t>
            </a:r>
            <a:r>
              <a:rPr lang="ko-KR" altLang="en-US" sz="1600" dirty="0"/>
              <a:t>파손</a:t>
            </a:r>
            <a:r>
              <a:rPr lang="en-US" altLang="ko-KR" sz="1600" dirty="0"/>
              <a:t>, </a:t>
            </a:r>
            <a:r>
              <a:rPr lang="ko-KR" altLang="en-US" sz="1600" dirty="0"/>
              <a:t>운반</a:t>
            </a:r>
            <a:r>
              <a:rPr lang="en-US" altLang="ko-KR" sz="1600" dirty="0"/>
              <a:t>, </a:t>
            </a:r>
            <a:r>
              <a:rPr lang="ko-KR" altLang="en-US" sz="1600" dirty="0"/>
              <a:t>소실 상태가 있음</a:t>
            </a:r>
            <a:br>
              <a:rPr lang="en-US" altLang="ko-KR" sz="1600" dirty="0"/>
            </a:br>
            <a:r>
              <a:rPr lang="ko-KR" altLang="en-US" sz="1600" dirty="0"/>
              <a:t>일반은 특수한 특징 없이 오로지 생물 반응만 이끌어내는 화물</a:t>
            </a:r>
            <a:r>
              <a:rPr lang="en-US" altLang="ko-KR" sz="1600" dirty="0"/>
              <a:t>,</a:t>
            </a:r>
            <a:br>
              <a:rPr lang="en-US" altLang="ko-KR" sz="1600" dirty="0"/>
            </a:br>
            <a:r>
              <a:rPr lang="ko-KR" altLang="en-US" sz="1600" dirty="0"/>
              <a:t>파손은 운반 중인 화물이 어떤 이유로 인해 플레이어의 손에서 바닥으로 떨어져 즉시 파괴된 상태의 화물</a:t>
            </a:r>
            <a:r>
              <a:rPr lang="en-US" altLang="ko-KR" sz="1600" dirty="0"/>
              <a:t>,</a:t>
            </a:r>
            <a:br>
              <a:rPr lang="en-US" altLang="ko-KR" sz="1600" dirty="0"/>
            </a:br>
            <a:r>
              <a:rPr lang="ko-KR" altLang="en-US" sz="1600" dirty="0"/>
              <a:t>운반은 플레이어 중 한 명이 화물을 집어 이동 중인 화물</a:t>
            </a:r>
            <a:r>
              <a:rPr lang="en-US" altLang="ko-KR" sz="1600" dirty="0"/>
              <a:t>,</a:t>
            </a:r>
            <a:br>
              <a:rPr lang="en-US" altLang="ko-KR" sz="1600" dirty="0"/>
            </a:br>
            <a:r>
              <a:rPr lang="ko-KR" altLang="en-US" sz="1600" dirty="0"/>
              <a:t>소실은 어떤 이유로 플레이어의 손에서 화물이 떨어져 즉시 파괴되지는 않으나 일정 시간 이후 사라지니 화물</a:t>
            </a:r>
            <a:r>
              <a:rPr lang="en-US" altLang="ko-KR" sz="1600" dirty="0"/>
              <a:t>.</a:t>
            </a:r>
          </a:p>
          <a:p>
            <a:pPr>
              <a:lnSpc>
                <a:spcPct val="120000"/>
              </a:lnSpc>
            </a:pPr>
            <a:r>
              <a:rPr lang="ko-KR" altLang="en-US" sz="1600" dirty="0"/>
              <a:t>동작원리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추가 설정이 없다면 모든 화물은 기본적으로 일반 화물임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ko-KR" altLang="en-US" sz="1600" dirty="0"/>
              <a:t>파손 가능한 화물은 플레이어에게서 떨어진 이후 바닥을 포함한 모든 오브젝트에 닿는 즉시 파괴됨</a:t>
            </a:r>
            <a:r>
              <a:rPr lang="en-US" altLang="ko-KR" sz="1600" dirty="0"/>
              <a:t>. </a:t>
            </a:r>
            <a:r>
              <a:rPr lang="ko-KR" altLang="en-US" sz="1600" dirty="0"/>
              <a:t>파괴된 화물은 다시 집어들 수 없고 파괴된 상태 후 </a:t>
            </a:r>
            <a:r>
              <a:rPr lang="en-US" altLang="ko-KR" sz="1600" dirty="0"/>
              <a:t>5</a:t>
            </a:r>
            <a:r>
              <a:rPr lang="ko-KR" altLang="en-US" sz="1600" dirty="0"/>
              <a:t>초 경과 시 해당 객체는 삭제됨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ko-KR" altLang="en-US" sz="1600" dirty="0"/>
              <a:t>플레이어 한 명이 운반 중인 화물은 다른 플레이어가 강제로 상호작용 시 </a:t>
            </a:r>
            <a:r>
              <a:rPr lang="en-US" altLang="ko-KR" sz="1600" dirty="0"/>
              <a:t>40%</a:t>
            </a:r>
            <a:r>
              <a:rPr lang="ko-KR" altLang="en-US" sz="1600" dirty="0"/>
              <a:t>의 확률로 운반자가 변경됨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ko-KR" altLang="en-US" sz="1600" dirty="0"/>
              <a:t>소실은 모든 화물에 발생할 수 있음</a:t>
            </a:r>
            <a:r>
              <a:rPr lang="en-US" altLang="ko-KR" sz="1600" dirty="0"/>
              <a:t>. </a:t>
            </a:r>
            <a:r>
              <a:rPr lang="ko-KR" altLang="en-US" sz="1600" dirty="0"/>
              <a:t>플레이어가 한 번 집어 올린 화물은 플레이어에게서 떨어진 순간부터 </a:t>
            </a:r>
            <a:r>
              <a:rPr lang="en-US" altLang="ko-KR" sz="1600" dirty="0"/>
              <a:t>7</a:t>
            </a:r>
            <a:r>
              <a:rPr lang="ko-KR" altLang="en-US" sz="1600" dirty="0"/>
              <a:t>초 이내 다시 상호작용하지 않으면 소멸함</a:t>
            </a:r>
            <a:r>
              <a:rPr lang="en-US" altLang="ko-KR" sz="1600" dirty="0"/>
              <a:t>. </a:t>
            </a:r>
            <a:r>
              <a:rPr lang="ko-KR" altLang="en-US" sz="1600" dirty="0"/>
              <a:t>단</a:t>
            </a:r>
            <a:r>
              <a:rPr lang="en-US" altLang="ko-KR" sz="1600" dirty="0"/>
              <a:t>, </a:t>
            </a:r>
            <a:r>
              <a:rPr lang="ko-KR" altLang="en-US" sz="1600" dirty="0"/>
              <a:t>다른 플레이어에 의해 운반자가 강제로 변경된 경우는 소실로 판단하지 않음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ko-KR" altLang="en-US" sz="1600" dirty="0"/>
              <a:t>정상적인 배달을 위해 화물이 소실되거나 파손되면 기지로 돌아가 동일한 화물을 지급받아 다시 배달을 진행해야 함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endParaRPr lang="ko-KR" altLang="en-US" sz="1600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995AB8F-13DE-0D55-68E5-F0105A1247B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54105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1B4486-62EE-4F69-DAC1-7CBB9C913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종류 별 데이터 테이블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112BD0-5142-B555-B1C3-C623432A7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16816" y="1825625"/>
            <a:ext cx="3336984" cy="4351338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최솟값 </a:t>
            </a:r>
            <a:r>
              <a:rPr lang="en-US" altLang="ko-KR" sz="1800" dirty="0"/>
              <a:t>= 0, </a:t>
            </a:r>
            <a:r>
              <a:rPr lang="ko-KR" altLang="en-US" sz="1800" dirty="0"/>
              <a:t>최댓값 </a:t>
            </a:r>
            <a:r>
              <a:rPr lang="en-US" altLang="ko-KR" sz="1800" dirty="0"/>
              <a:t>= 100</a:t>
            </a:r>
          </a:p>
          <a:p>
            <a:r>
              <a:rPr lang="en-US" altLang="ko-KR" sz="1800" dirty="0"/>
              <a:t>0 = </a:t>
            </a:r>
            <a:r>
              <a:rPr lang="ko-KR" altLang="en-US" sz="1800" dirty="0"/>
              <a:t>게임 내에서 상호작용이 없음을 의미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F08382-8421-3C95-54B7-8F8C5B52A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EFD169-B2FC-1508-28E5-5ADFD900A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8B6D79-8A89-4F2D-BE63-62D5793D2B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13C7B6E4-828B-FDEE-ED26-B65341A3C5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04450040"/>
              </p:ext>
            </p:extLst>
          </p:nvPr>
        </p:nvGraphicFramePr>
        <p:xfrm>
          <a:off x="1298276" y="2006052"/>
          <a:ext cx="5953025" cy="28458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홍어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냄새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보여지는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무게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2976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2175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25168-84E7-44A0-0E0D-B20A0EAD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1682DB-6FB7-DACF-BCD2-9EBF042EAEB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C5456CA-9982-DAD2-5DF0-5D583CB96AA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31240-481A-11A9-533C-BE222CE21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B50EF-03B8-FF17-0987-E3A2055F2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9D480-DDE6-E044-E9D8-D2F93D9DE43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2134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3219923" y="2804499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1782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F7D7EE-3DE5-1BD9-35E5-37F9E1FF2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이후 사용 가능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7DD9361-CC15-4C39-F844-0B591E49D5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b="1" dirty="0"/>
              <a:t>**</a:t>
            </a:r>
            <a:r>
              <a:rPr lang="ko-KR" altLang="en-US" b="1" dirty="0"/>
              <a:t>화면에 필요한 것</a:t>
            </a:r>
            <a:br>
              <a:rPr lang="en-US" altLang="ko-KR" b="1" dirty="0"/>
            </a:br>
            <a:r>
              <a:rPr lang="ko-KR" altLang="en-US" b="1" dirty="0"/>
              <a:t>어디 경로 선택지 표시</a:t>
            </a:r>
            <a:r>
              <a:rPr lang="en-US" altLang="ko-KR" b="1" dirty="0"/>
              <a:t>, </a:t>
            </a:r>
            <a:r>
              <a:rPr lang="ko-KR" altLang="en-US" b="1" dirty="0"/>
              <a:t>경로 선택 후 경로를 안내하는 화살표</a:t>
            </a:r>
            <a:endParaRPr lang="en-US" altLang="ko-KR" b="1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2D26FB4-7390-2550-A4C9-670005419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0215FE-1961-73FF-95E9-3D78003F1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A0D3D40-2BD2-2885-B7A9-E532CC149B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택배 상태</a:t>
            </a:r>
          </a:p>
        </p:txBody>
      </p:sp>
      <p:pic>
        <p:nvPicPr>
          <p:cNvPr id="15" name="그래픽 14" descr="청각 장애인 단색으로 채워진">
            <a:extLst>
              <a:ext uri="{FF2B5EF4-FFF2-40B4-BE49-F238E27FC236}">
                <a16:creationId xmlns:a16="http://schemas.microsoft.com/office/drawing/2014/main" id="{FD64F41E-05E6-1601-577E-8956F652A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89992" y="4105763"/>
            <a:ext cx="914400" cy="914400"/>
          </a:xfrm>
          <a:prstGeom prst="rect">
            <a:avLst/>
          </a:prstGeom>
        </p:spPr>
      </p:pic>
      <p:pic>
        <p:nvPicPr>
          <p:cNvPr id="17" name="그래픽 16" descr="폭발 단색으로 채워진">
            <a:extLst>
              <a:ext uri="{FF2B5EF4-FFF2-40B4-BE49-F238E27FC236}">
                <a16:creationId xmlns:a16="http://schemas.microsoft.com/office/drawing/2014/main" id="{14D3EE94-1ED3-E171-7945-1C1392F110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06786" y="4056527"/>
            <a:ext cx="914400" cy="914400"/>
          </a:xfrm>
          <a:prstGeom prst="rect">
            <a:avLst/>
          </a:prstGeom>
        </p:spPr>
      </p:pic>
      <p:pic>
        <p:nvPicPr>
          <p:cNvPr id="19" name="그래픽 18" descr="가연성 단색으로 채워진">
            <a:extLst>
              <a:ext uri="{FF2B5EF4-FFF2-40B4-BE49-F238E27FC236}">
                <a16:creationId xmlns:a16="http://schemas.microsoft.com/office/drawing/2014/main" id="{B1DBA925-63AD-7FD2-9A28-1987D39BC7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5773" y="4056527"/>
            <a:ext cx="914400" cy="914400"/>
          </a:xfrm>
          <a:prstGeom prst="rect">
            <a:avLst/>
          </a:prstGeom>
        </p:spPr>
      </p:pic>
      <p:pic>
        <p:nvPicPr>
          <p:cNvPr id="21" name="그래픽 20" descr="고전압 단색으로 채워진">
            <a:extLst>
              <a:ext uri="{FF2B5EF4-FFF2-40B4-BE49-F238E27FC236}">
                <a16:creationId xmlns:a16="http://schemas.microsoft.com/office/drawing/2014/main" id="{5D1196DC-A71A-F175-C042-5E7D627819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59732" y="4056527"/>
            <a:ext cx="914400" cy="914400"/>
          </a:xfrm>
          <a:prstGeom prst="rect">
            <a:avLst/>
          </a:prstGeom>
        </p:spPr>
      </p:pic>
      <p:pic>
        <p:nvPicPr>
          <p:cNvPr id="8" name="그래픽 7" descr="지속적인 개선 단색으로 채워진">
            <a:extLst>
              <a:ext uri="{FF2B5EF4-FFF2-40B4-BE49-F238E27FC236}">
                <a16:creationId xmlns:a16="http://schemas.microsoft.com/office/drawing/2014/main" id="{0D0E0612-78ED-BF89-4FAD-ED1F159471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60814" y="1735771"/>
            <a:ext cx="914400" cy="914400"/>
          </a:xfrm>
          <a:prstGeom prst="rect">
            <a:avLst/>
          </a:prstGeom>
        </p:spPr>
      </p:pic>
      <p:pic>
        <p:nvPicPr>
          <p:cNvPr id="10" name="그래픽 9" descr="지속적인 개선 윤곽선">
            <a:extLst>
              <a:ext uri="{FF2B5EF4-FFF2-40B4-BE49-F238E27FC236}">
                <a16:creationId xmlns:a16="http://schemas.microsoft.com/office/drawing/2014/main" id="{178B322E-84E1-38DE-6ABE-A6F9F929FB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67000" y="1890819"/>
            <a:ext cx="914400" cy="914400"/>
          </a:xfrm>
          <a:prstGeom prst="rect">
            <a:avLst/>
          </a:prstGeom>
        </p:spPr>
      </p:pic>
      <p:pic>
        <p:nvPicPr>
          <p:cNvPr id="12" name="그래픽 11" descr="하비 공 65% 단색으로 채워진">
            <a:extLst>
              <a:ext uri="{FF2B5EF4-FFF2-40B4-BE49-F238E27FC236}">
                <a16:creationId xmlns:a16="http://schemas.microsoft.com/office/drawing/2014/main" id="{BEC253AC-A8B5-43B5-33A3-D60E273979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5400" y="2344273"/>
            <a:ext cx="914400" cy="914400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CAE25721-75DD-A818-1577-BD7F5AA4DB91}"/>
              </a:ext>
            </a:extLst>
          </p:cNvPr>
          <p:cNvGrpSpPr/>
          <p:nvPr/>
        </p:nvGrpSpPr>
        <p:grpSpPr>
          <a:xfrm>
            <a:off x="4943969" y="2797892"/>
            <a:ext cx="272824" cy="325698"/>
            <a:chOff x="4943969" y="2797892"/>
            <a:chExt cx="272824" cy="325698"/>
          </a:xfrm>
        </p:grpSpPr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B4EA4EFC-B3DA-A1A0-6037-816F577E7241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A83F4BE3-02DD-7710-1820-3CCCE3B09F79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B469D8E0-7094-8CEB-0C16-1AF87B1D7277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BA16980F-5E58-138A-2B7B-D8120F2D87A9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2233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2388</TotalTime>
  <Words>3160</Words>
  <Application>Microsoft Office PowerPoint</Application>
  <PresentationFormat>와이드스크린</PresentationFormat>
  <Paragraphs>529</Paragraphs>
  <Slides>50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50</vt:i4>
      </vt:variant>
    </vt:vector>
  </HeadingPairs>
  <TitlesOfParts>
    <vt:vector size="55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개요</vt:lpstr>
      <vt:lpstr>도우미 AI 참고 프리뷰</vt:lpstr>
      <vt:lpstr>게임 정보</vt:lpstr>
      <vt:lpstr>기획 목표</vt:lpstr>
      <vt:lpstr>기획 목표</vt:lpstr>
      <vt:lpstr>게임 전체 플로우 </vt:lpstr>
      <vt:lpstr>게임 플로우 세부</vt:lpstr>
      <vt:lpstr>컨텐츠</vt:lpstr>
      <vt:lpstr>스토리</vt:lpstr>
      <vt:lpstr>플레이어블 캐릭터</vt:lpstr>
      <vt:lpstr>NPC_반응 생물</vt:lpstr>
      <vt:lpstr>NPC_주민</vt:lpstr>
      <vt:lpstr>맵</vt:lpstr>
      <vt:lpstr>맵 지형</vt:lpstr>
      <vt:lpstr>배달품</vt:lpstr>
      <vt:lpstr>상호작용_배달품_예시</vt:lpstr>
      <vt:lpstr>PowerPoint 프레젠테이션</vt:lpstr>
      <vt:lpstr>상호작용_생물</vt:lpstr>
      <vt:lpstr>시스템</vt:lpstr>
      <vt:lpstr>화물</vt:lpstr>
      <vt:lpstr>화물 종류 별 데이터 테이블</vt:lpstr>
      <vt:lpstr>PowerPoint 프레젠테이션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이후 사용 가능</vt:lpstr>
      <vt:lpstr>UI_세부_시간예측분석UI_후보1</vt:lpstr>
      <vt:lpstr>UI_세부_시간예측분석UI_후보2</vt:lpstr>
      <vt:lpstr>UI_세부_시간예측분석UI_후보3</vt:lpstr>
      <vt:lpstr>프로토타입 플로우</vt:lpstr>
      <vt:lpstr>데이터 테이블_맵</vt:lpstr>
      <vt:lpstr>NPC_생물_벌 행동트리</vt:lpstr>
      <vt:lpstr>경로 예측</vt:lpstr>
      <vt:lpstr>도우미 AI 구현 계획</vt:lpstr>
      <vt:lpstr>데이터 테이블_NPC,플레이어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145</cp:revision>
  <dcterms:created xsi:type="dcterms:W3CDTF">2026-09-16T19:24:55Z</dcterms:created>
  <dcterms:modified xsi:type="dcterms:W3CDTF">2026-10-10T06:45:17Z</dcterms:modified>
</cp:coreProperties>
</file>