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59"/>
  </p:notesMasterIdLst>
  <p:sldIdLst>
    <p:sldId id="256" r:id="rId3"/>
    <p:sldId id="281" r:id="rId4"/>
    <p:sldId id="257" r:id="rId5"/>
    <p:sldId id="258" r:id="rId6"/>
    <p:sldId id="315" r:id="rId7"/>
    <p:sldId id="292" r:id="rId8"/>
    <p:sldId id="259" r:id="rId9"/>
    <p:sldId id="261" r:id="rId10"/>
    <p:sldId id="317" r:id="rId11"/>
    <p:sldId id="314" r:id="rId12"/>
    <p:sldId id="265" r:id="rId13"/>
    <p:sldId id="260" r:id="rId14"/>
    <p:sldId id="271" r:id="rId15"/>
    <p:sldId id="268" r:id="rId16"/>
    <p:sldId id="272" r:id="rId17"/>
    <p:sldId id="273" r:id="rId18"/>
    <p:sldId id="278" r:id="rId19"/>
    <p:sldId id="296" r:id="rId20"/>
    <p:sldId id="286" r:id="rId21"/>
    <p:sldId id="277" r:id="rId22"/>
    <p:sldId id="297" r:id="rId23"/>
    <p:sldId id="279" r:id="rId24"/>
    <p:sldId id="262" r:id="rId25"/>
    <p:sldId id="318" r:id="rId26"/>
    <p:sldId id="321" r:id="rId27"/>
    <p:sldId id="323" r:id="rId28"/>
    <p:sldId id="322" r:id="rId29"/>
    <p:sldId id="319" r:id="rId30"/>
    <p:sldId id="320" r:id="rId31"/>
    <p:sldId id="324" r:id="rId32"/>
    <p:sldId id="325" r:id="rId33"/>
    <p:sldId id="326" r:id="rId34"/>
    <p:sldId id="269" r:id="rId35"/>
    <p:sldId id="274" r:id="rId36"/>
    <p:sldId id="289" r:id="rId37"/>
    <p:sldId id="294" r:id="rId38"/>
    <p:sldId id="291" r:id="rId39"/>
    <p:sldId id="288" r:id="rId40"/>
    <p:sldId id="290" r:id="rId41"/>
    <p:sldId id="276" r:id="rId42"/>
    <p:sldId id="263" r:id="rId43"/>
    <p:sldId id="270" r:id="rId44"/>
    <p:sldId id="316" r:id="rId45"/>
    <p:sldId id="285" r:id="rId46"/>
    <p:sldId id="295" r:id="rId47"/>
    <p:sldId id="287" r:id="rId48"/>
    <p:sldId id="275" r:id="rId49"/>
    <p:sldId id="282" r:id="rId50"/>
    <p:sldId id="283" r:id="rId51"/>
    <p:sldId id="311" r:id="rId52"/>
    <p:sldId id="307" r:id="rId53"/>
    <p:sldId id="310" r:id="rId54"/>
    <p:sldId id="306" r:id="rId55"/>
    <p:sldId id="303" r:id="rId56"/>
    <p:sldId id="312" r:id="rId57"/>
    <p:sldId id="313" r:id="rId5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5" Type="http://schemas.openxmlformats.org/officeDocument/2006/relationships/slide" Target="slides/slide3.xml"/><Relationship Id="rId61" Type="http://schemas.openxmlformats.org/officeDocument/2006/relationships/viewProps" Target="viewProp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jp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4F17953-3B5F-EE84-21E0-A1BD420E31CA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en-US" altLang="ko-KR" sz="2400" dirty="0"/>
              <a:t>, </a:t>
            </a:r>
            <a:r>
              <a:rPr lang="ko-KR" altLang="en-US" sz="2400" dirty="0"/>
              <a:t>화물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 : </a:t>
            </a:r>
            <a:r>
              <a:rPr lang="ko-KR" altLang="en-US" sz="2400" dirty="0"/>
              <a:t>경로를 보여주고 배달 예상 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배송품을 전달해야 하는 최종 장소</a:t>
            </a:r>
            <a:endParaRPr lang="en-US" altLang="ko-KR" sz="2400" dirty="0"/>
          </a:p>
          <a:p>
            <a:r>
              <a:rPr lang="ko-KR" altLang="en-US" sz="2400" dirty="0" err="1"/>
              <a:t>운반자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현재 화물을 소지하여 들고 있는 플레이어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b="1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개요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전체</a:t>
            </a:r>
            <a:br>
              <a:rPr lang="en-US" altLang="ko-KR" sz="2400" dirty="0"/>
            </a:br>
            <a:r>
              <a:rPr lang="en-US" altLang="ko-KR" sz="2400" dirty="0"/>
              <a:t>	-</a:t>
            </a:r>
            <a:r>
              <a:rPr lang="ko-KR" altLang="en-US" sz="2400" dirty="0"/>
              <a:t> 세부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개요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배달길에는 여러 방해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지형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몬스터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배달품에 영향을 받은 생물들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r>
              <a:rPr lang="ko-KR" altLang="en-US" dirty="0">
                <a:solidFill>
                  <a:srgbClr val="000000"/>
                </a:solidFill>
              </a:rPr>
              <a:t>가 존재하므로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그것을 피해가거나 처치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혹은 저지하며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24807253"/>
              </p:ext>
            </p:extLst>
          </p:nvPr>
        </p:nvGraphicFramePr>
        <p:xfrm>
          <a:off x="1025824" y="963547"/>
          <a:ext cx="10140351" cy="50346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6415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전략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629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73477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9332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예상 플레이 타임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약 </a:t>
                      </a: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1 ~ 2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4045334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273" y="4649799"/>
            <a:ext cx="1670449" cy="34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예상 시간 정보를 </a:t>
            </a:r>
            <a:br>
              <a:rPr lang="en-US" altLang="ko-KR" dirty="0"/>
            </a:br>
            <a:r>
              <a:rPr lang="ko-KR" altLang="ko-KR" dirty="0"/>
              <a:t>바탕으로 플레이어의 </a:t>
            </a:r>
            <a:br>
              <a:rPr lang="en-US" altLang="ko-KR" dirty="0"/>
            </a:br>
            <a:r>
              <a:rPr lang="ko-KR" altLang="ko-KR" dirty="0"/>
              <a:t>판단과 행동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44667-96F1-86C8-94EF-4A8B74EC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737768-AF92-E2A7-9D07-CF107A8164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어째서 </a:t>
            </a:r>
            <a:r>
              <a:rPr lang="en-US" altLang="ko-KR" dirty="0"/>
              <a:t>2</a:t>
            </a:r>
            <a:r>
              <a:rPr lang="ko-KR" altLang="en-US" dirty="0"/>
              <a:t>인인가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CA02-08FD-457E-299A-2D12BB6FA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1358" y="842169"/>
            <a:ext cx="10322442" cy="5334794"/>
          </a:xfrm>
        </p:spPr>
        <p:txBody>
          <a:bodyPr anchor="ctr"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두 플레이어의 특성이나 성격에 따라</a:t>
            </a:r>
            <a:r>
              <a:rPr lang="en-US" altLang="ko-KR" dirty="0"/>
              <a:t>, </a:t>
            </a:r>
            <a:r>
              <a:rPr lang="ko-KR" altLang="en-US" dirty="0"/>
              <a:t>경로 안내</a:t>
            </a:r>
            <a:r>
              <a:rPr lang="en-US" altLang="ko-KR" dirty="0"/>
              <a:t>AI</a:t>
            </a:r>
            <a:r>
              <a:rPr lang="ko-KR" altLang="en-US" dirty="0"/>
              <a:t>의 결과를 보고 서로 다른 의견을 낼 수 있는데</a:t>
            </a:r>
            <a:r>
              <a:rPr lang="en-US" altLang="ko-KR" dirty="0"/>
              <a:t>, </a:t>
            </a:r>
            <a:r>
              <a:rPr lang="ko-KR" altLang="en-US" dirty="0"/>
              <a:t>그 둘이 다른 의견으로 토의 시간이 길어지면 배달 시간이 점점 줄어든다</a:t>
            </a:r>
            <a:r>
              <a:rPr lang="en-US" altLang="ko-KR" dirty="0"/>
              <a:t>. </a:t>
            </a:r>
            <a:r>
              <a:rPr lang="ko-KR" altLang="en-US" dirty="0"/>
              <a:t>그렇게 줄어든 시간을 보며 결국 플레이어는 급하게 선택을 내릴 수 밖에 없는데</a:t>
            </a:r>
            <a:r>
              <a:rPr lang="en-US" altLang="ko-KR" dirty="0"/>
              <a:t>, </a:t>
            </a:r>
            <a:r>
              <a:rPr lang="ko-KR" altLang="en-US" dirty="0"/>
              <a:t>그렇게 함으로써 마찰이 생김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두 플레이어가 토의하면 혼자서 결정하는 것보다 결정의 시간이 </a:t>
            </a:r>
            <a:r>
              <a:rPr lang="ko-KR" altLang="en-US" dirty="0" err="1"/>
              <a:t>증가하게되는데</a:t>
            </a:r>
            <a:r>
              <a:rPr lang="en-US" altLang="ko-KR" dirty="0"/>
              <a:t>, </a:t>
            </a:r>
            <a:r>
              <a:rPr lang="ko-KR" altLang="en-US" dirty="0"/>
              <a:t>그렇게 하면 경로 시간이 계속 </a:t>
            </a:r>
            <a:r>
              <a:rPr lang="ko-KR" altLang="en-US" dirty="0" err="1"/>
              <a:t>확인할때마다</a:t>
            </a:r>
            <a:r>
              <a:rPr lang="ko-KR" altLang="en-US" dirty="0"/>
              <a:t> 변경되는 것을 보여주고자 한다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배달품</a:t>
            </a:r>
            <a:r>
              <a:rPr lang="ko-KR" altLang="en-US" dirty="0"/>
              <a:t> 최초 지급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ko-KR" altLang="en-US" dirty="0" err="1"/>
              <a:t>전달시</a:t>
            </a:r>
            <a:r>
              <a:rPr lang="ko-KR" altLang="en-US" dirty="0"/>
              <a:t> 인증절차를 </a:t>
            </a:r>
            <a:r>
              <a:rPr lang="ko-KR" altLang="en-US" dirty="0" err="1"/>
              <a:t>진행할때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인플레이어가 반드시 필요하게 만들어 두 플레이어가 서로 의견차이가 있더라도 서로 떨어지지 </a:t>
            </a:r>
            <a:r>
              <a:rPr lang="ko-KR" altLang="en-US" dirty="0" err="1"/>
              <a:t>않도록함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2</a:t>
            </a:r>
            <a:r>
              <a:rPr lang="ko-KR" altLang="en-US" dirty="0"/>
              <a:t>인의 플레이어고 </a:t>
            </a:r>
            <a:r>
              <a:rPr lang="ko-KR" altLang="en-US" dirty="0" err="1"/>
              <a:t>사람에따라</a:t>
            </a:r>
            <a:r>
              <a:rPr lang="ko-KR" altLang="en-US" dirty="0"/>
              <a:t> 변수를 많이 만들고 싶음</a:t>
            </a:r>
            <a:br>
              <a:rPr lang="en-US" altLang="ko-KR" dirty="0"/>
            </a:br>
            <a:r>
              <a:rPr lang="ko-KR" altLang="en-US" dirty="0"/>
              <a:t>예를 들어 두 플레이어가 길을 갈라서서 둘이 완전히 다른 길을 간다면</a:t>
            </a:r>
            <a:r>
              <a:rPr lang="en-US" altLang="ko-KR" dirty="0"/>
              <a:t>??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왜냐하면 변수를 많이 만드는 것이 정답지와 공략이 있는 배달 루트보다 다양한 플레이경험을 제공할 수 있기 때문에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그러면 왜 </a:t>
            </a:r>
            <a:r>
              <a:rPr lang="en-US" altLang="ko-KR" dirty="0"/>
              <a:t>2</a:t>
            </a:r>
            <a:r>
              <a:rPr lang="ko-KR" altLang="en-US" dirty="0"/>
              <a:t>인이고 </a:t>
            </a:r>
            <a:r>
              <a:rPr lang="en-US" altLang="ko-KR" dirty="0"/>
              <a:t>3</a:t>
            </a:r>
            <a:r>
              <a:rPr lang="ko-KR" altLang="en-US" dirty="0"/>
              <a:t>인이나</a:t>
            </a:r>
            <a:r>
              <a:rPr lang="en-US" altLang="ko-KR" dirty="0"/>
              <a:t>4</a:t>
            </a:r>
            <a:r>
              <a:rPr lang="ko-KR" altLang="en-US" dirty="0"/>
              <a:t>인이 아닌가</a:t>
            </a:r>
            <a:r>
              <a:rPr lang="en-US" altLang="ko-KR" dirty="0"/>
              <a:t>-&gt; </a:t>
            </a:r>
            <a:r>
              <a:rPr lang="ko-KR" altLang="en-US" dirty="0"/>
              <a:t>비용이 많이 듦</a:t>
            </a:r>
            <a:r>
              <a:rPr lang="en-US" altLang="ko-KR" dirty="0"/>
              <a:t>. </a:t>
            </a:r>
            <a:r>
              <a:rPr lang="ko-KR" altLang="en-US" dirty="0"/>
              <a:t>또한 역할의 분담에는 </a:t>
            </a:r>
            <a:r>
              <a:rPr lang="en-US" altLang="ko-KR" dirty="0"/>
              <a:t>2</a:t>
            </a:r>
            <a:r>
              <a:rPr lang="ko-KR" altLang="en-US" dirty="0"/>
              <a:t>인이 적절하다고 판단함</a:t>
            </a:r>
            <a:r>
              <a:rPr lang="en-US" altLang="ko-KR" dirty="0"/>
              <a:t>. </a:t>
            </a:r>
            <a:r>
              <a:rPr lang="ko-KR" altLang="en-US" dirty="0"/>
              <a:t>한명은 </a:t>
            </a:r>
            <a:r>
              <a:rPr lang="ko-KR" altLang="en-US" dirty="0" err="1"/>
              <a:t>배달품들기</a:t>
            </a:r>
            <a:r>
              <a:rPr lang="en-US" altLang="ko-KR" dirty="0"/>
              <a:t>, </a:t>
            </a:r>
            <a:r>
              <a:rPr lang="ko-KR" altLang="en-US" dirty="0" err="1"/>
              <a:t>다른한명은</a:t>
            </a:r>
            <a:r>
              <a:rPr lang="ko-KR" altLang="en-US" dirty="0"/>
              <a:t> 무기로 </a:t>
            </a:r>
            <a:r>
              <a:rPr lang="ko-KR" altLang="en-US" dirty="0" err="1"/>
              <a:t>엄호를하고</a:t>
            </a:r>
            <a:r>
              <a:rPr lang="en-US" altLang="ko-KR" dirty="0"/>
              <a:t>. 3</a:t>
            </a:r>
            <a:r>
              <a:rPr lang="ko-KR" altLang="en-US" dirty="0"/>
              <a:t>인이상이 되는 순간부터는</a:t>
            </a:r>
            <a:r>
              <a:rPr lang="en-US" altLang="ko-KR" dirty="0"/>
              <a:t>, 1</a:t>
            </a:r>
            <a:r>
              <a:rPr lang="ko-KR" altLang="en-US" dirty="0"/>
              <a:t>명이 화물</a:t>
            </a:r>
            <a:r>
              <a:rPr lang="en-US" altLang="ko-KR" dirty="0"/>
              <a:t>, 2</a:t>
            </a:r>
            <a:r>
              <a:rPr lang="ko-KR" altLang="en-US" dirty="0"/>
              <a:t>인이 무기를 들면 너무  엄호가 쉬워지고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아맞다</a:t>
            </a:r>
            <a:r>
              <a:rPr lang="ko-KR" altLang="en-US" dirty="0"/>
              <a:t> 플레이예상 시간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1CFA96-B6C1-0AB0-5757-0C46C6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3F41E6-2AA1-320D-D25D-103529784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E666827-FC81-6B0C-A9C0-3513E98015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28141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 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1646627" y="2929218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랜덤 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모든 </a:t>
            </a:r>
            <a:r>
              <a:rPr lang="ko-KR" altLang="en-US" dirty="0" err="1">
                <a:solidFill>
                  <a:srgbClr val="000000"/>
                </a:solidFill>
              </a:rPr>
              <a:t>배송품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8939589" y="2869551"/>
            <a:ext cx="1210826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3051564" y="3298312"/>
            <a:ext cx="5428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594428" y="2752968"/>
            <a:ext cx="2300289" cy="109068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안내에 따라 배송 진행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>
            <a:off x="5894717" y="3298312"/>
            <a:ext cx="6792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6780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 세부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02006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4244975" y="152683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554341" y="1526836"/>
            <a:ext cx="519083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>
            <a:off x="1968490" y="1522203"/>
            <a:ext cx="404932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38215" y="102212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플로우 진행 중</a:t>
            </a: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위험한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위치에서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래픽 10" descr="벌 단색으로 채워진">
            <a:extLst>
              <a:ext uri="{FF2B5EF4-FFF2-40B4-BE49-F238E27FC236}">
                <a16:creationId xmlns:a16="http://schemas.microsoft.com/office/drawing/2014/main" id="{091B47AF-8DED-47F7-F4A1-C869777386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31294" y="2711860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5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</a:t>
            </a:r>
            <a:br>
              <a:rPr lang="en-US" altLang="ko-KR" dirty="0"/>
            </a:br>
            <a:r>
              <a:rPr lang="ko-KR" altLang="en-US" dirty="0"/>
              <a:t>없을 정도로 강한 존재가 있음</a:t>
            </a:r>
            <a:endParaRPr lang="en-US" altLang="ko-KR" dirty="0"/>
          </a:p>
          <a:p>
            <a:r>
              <a:rPr lang="ko-KR" altLang="en-US" dirty="0"/>
              <a:t>모래언덕 </a:t>
            </a:r>
            <a:r>
              <a:rPr lang="en-US" altLang="ko-KR" dirty="0"/>
              <a:t>: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FD4BBD75-2B8D-74B6-0760-FBAFE3B1ECBC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1940E3A-D8DE-E36B-97DE-6FE30F83BF1D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7951EF7C-3C48-9993-9CDD-19B5DC78E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9F4B4B7F-FF74-02E1-546C-1BC095504E7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7404409D-3593-14FF-675B-3547AD02CF0D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B4E544C8-4057-07D1-E838-13A4AB1D9D2A}"/>
              </a:ext>
            </a:extLst>
          </p:cNvPr>
          <p:cNvSpPr/>
          <p:nvPr/>
        </p:nvSpPr>
        <p:spPr>
          <a:xfrm>
            <a:off x="2369148" y="512084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0027FCC1-99E8-0622-8FD3-4A3643924EAE}"/>
              </a:ext>
            </a:extLst>
          </p:cNvPr>
          <p:cNvSpPr/>
          <p:nvPr/>
        </p:nvSpPr>
        <p:spPr>
          <a:xfrm>
            <a:off x="4494825" y="5470438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3839D72-6AE0-FF15-C785-D205371A6316}"/>
              </a:ext>
            </a:extLst>
          </p:cNvPr>
          <p:cNvSpPr/>
          <p:nvPr/>
        </p:nvSpPr>
        <p:spPr>
          <a:xfrm>
            <a:off x="1638634" y="344711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7E92919F-047F-A7FD-1324-6493FD15CFC1}"/>
              </a:ext>
            </a:extLst>
          </p:cNvPr>
          <p:cNvSpPr/>
          <p:nvPr/>
        </p:nvSpPr>
        <p:spPr>
          <a:xfrm>
            <a:off x="4103926" y="3846316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지형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</a:t>
            </a:r>
            <a:br>
              <a:rPr lang="en-US" altLang="ko-KR" dirty="0"/>
            </a:br>
            <a:r>
              <a:rPr lang="ko-KR" altLang="en-US" dirty="0"/>
              <a:t>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72894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686578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A394CC3-10BC-21B8-5839-6A451024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1AF12A68-A7CB-3039-8B62-E190F1298F1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313239984"/>
              </p:ext>
            </p:extLst>
          </p:nvPr>
        </p:nvGraphicFramePr>
        <p:xfrm>
          <a:off x="1116488" y="1939195"/>
          <a:ext cx="9959023" cy="25782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6680">
                  <a:extLst>
                    <a:ext uri="{9D8B030D-6E8A-4147-A177-3AD203B41FA5}">
                      <a16:colId xmlns:a16="http://schemas.microsoft.com/office/drawing/2014/main" val="2368495908"/>
                    </a:ext>
                  </a:extLst>
                </a:gridCol>
                <a:gridCol w="8582343">
                  <a:extLst>
                    <a:ext uri="{9D8B030D-6E8A-4147-A177-3AD203B41FA5}">
                      <a16:colId xmlns:a16="http://schemas.microsoft.com/office/drawing/2014/main" val="2843093248"/>
                    </a:ext>
                  </a:extLst>
                </a:gridCol>
              </a:tblGrid>
              <a:tr h="10016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개념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플레이어가 안전하게 목적지까지 운반해야 하는 오브젝트로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종류에 따라 다른 생물들의 다른 반응을 이끌어낼 수 있음</a:t>
                      </a:r>
                      <a:r>
                        <a:rPr lang="en-US" altLang="ko-KR" sz="2000" dirty="0"/>
                        <a:t>.</a:t>
                      </a:r>
                      <a:endParaRPr lang="ko-KR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39951"/>
                  </a:ext>
                </a:extLst>
              </a:tr>
              <a:tr h="15766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세부 특징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 한 명이 운반 중인 화물은 다른 플레이어가 강제로 상호작용 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en-US" altLang="ko-KR" sz="2000" dirty="0"/>
                        <a:t>40%</a:t>
                      </a:r>
                      <a:r>
                        <a:rPr lang="ko-KR" altLang="en-US" sz="2000" dirty="0"/>
                        <a:t>의 확률로 운반자가 변경됨</a:t>
                      </a:r>
                      <a:r>
                        <a:rPr lang="en-US" altLang="ko-KR" sz="2000" dirty="0"/>
                        <a:t>.</a:t>
                      </a:r>
                      <a:br>
                        <a:rPr lang="en-US" altLang="ko-KR" sz="2000" dirty="0"/>
                      </a:b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제한 시간 안에 배달하면 배달 완료</a:t>
                      </a:r>
                      <a:r>
                        <a:rPr lang="en-US" altLang="ko-KR" sz="2000" dirty="0"/>
                        <a:t>, </a:t>
                      </a:r>
                      <a:r>
                        <a:rPr lang="ko-KR" altLang="en-US" sz="2000" dirty="0"/>
                        <a:t>제한 시간을 초과하면 배달 실패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661750"/>
                  </a:ext>
                </a:extLst>
              </a:tr>
            </a:tbl>
          </a:graphicData>
        </a:graphic>
      </p:graphicFrame>
      <p:sp>
        <p:nvSpPr>
          <p:cNvPr id="3" name="내용 개체 틀 6">
            <a:extLst>
              <a:ext uri="{FF2B5EF4-FFF2-40B4-BE49-F238E27FC236}">
                <a16:creationId xmlns:a16="http://schemas.microsoft.com/office/drawing/2014/main" id="{C8EC98FF-471F-924A-F613-B7A8ED6B65F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F19C43B-156B-5ABB-70BB-24435DBAA064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15254105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0F6E8-65C3-9037-AE29-04FFCF1F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88206-DB11-0447-4AC5-DF6B8A892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관계 다이어그램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8053F0-DAE6-8A2D-16AD-4EEEE2055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E5022D-DC77-8C3C-1955-75A17E474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9F86C96-9791-534A-8875-06BFEE16240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A4277FD-D192-29CD-1D77-35DF091CE988}"/>
              </a:ext>
            </a:extLst>
          </p:cNvPr>
          <p:cNvSpPr/>
          <p:nvPr/>
        </p:nvSpPr>
        <p:spPr>
          <a:xfrm>
            <a:off x="5235250" y="991015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3ED6CF1-9692-CFE0-59F1-0EF558794EAA}"/>
              </a:ext>
            </a:extLst>
          </p:cNvPr>
          <p:cNvSpPr/>
          <p:nvPr/>
        </p:nvSpPr>
        <p:spPr>
          <a:xfrm>
            <a:off x="6647646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530A37-33A3-BC22-C029-965C0768E01A}"/>
              </a:ext>
            </a:extLst>
          </p:cNvPr>
          <p:cNvSpPr/>
          <p:nvPr/>
        </p:nvSpPr>
        <p:spPr>
          <a:xfrm>
            <a:off x="4238254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8FAFFBB6-2B08-F741-B67C-99A1DA83310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6226341" y="1032871"/>
            <a:ext cx="404711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702E3B7F-6B57-325E-53B2-C9F964AC16D4}"/>
              </a:ext>
            </a:extLst>
          </p:cNvPr>
          <p:cNvCxnSpPr>
            <a:cxnSpLocks/>
            <a:stCxn id="8" idx="2"/>
            <a:endCxn id="19" idx="0"/>
          </p:cNvCxnSpPr>
          <p:nvPr/>
        </p:nvCxnSpPr>
        <p:spPr>
          <a:xfrm rot="5400000">
            <a:off x="5021645" y="1032759"/>
            <a:ext cx="404711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EAC9EF3D-06CA-0213-91C5-B884F1AFB4CC}"/>
              </a:ext>
            </a:extLst>
          </p:cNvPr>
          <p:cNvSpPr/>
          <p:nvPr/>
        </p:nvSpPr>
        <p:spPr>
          <a:xfrm>
            <a:off x="8514378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E39A05E-48EB-0E1D-0F95-09483D6429F5}"/>
              </a:ext>
            </a:extLst>
          </p:cNvPr>
          <p:cNvSpPr/>
          <p:nvPr/>
        </p:nvSpPr>
        <p:spPr>
          <a:xfrm>
            <a:off x="7331276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D6114FC-EFF4-7353-2914-C436755D834D}"/>
              </a:ext>
            </a:extLst>
          </p:cNvPr>
          <p:cNvSpPr/>
          <p:nvPr/>
        </p:nvSpPr>
        <p:spPr>
          <a:xfrm>
            <a:off x="9697480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9F9FF3BA-8AE3-ACE3-036B-4BD69B488197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16200000" flipH="1">
            <a:off x="7182951" y="2127348"/>
            <a:ext cx="455512" cy="7594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E82D0C6-B284-AF71-BCCD-353C83EF9615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8366053" y="944246"/>
            <a:ext cx="455512" cy="3125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24C3C693-A8B4-4B4B-D299-2ADBC7A1154F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16200000" flipH="1">
            <a:off x="7774502" y="1535797"/>
            <a:ext cx="455512" cy="194254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96D1C16-D95B-7C5C-DCFE-7D3DDF5CEDA5}"/>
              </a:ext>
            </a:extLst>
          </p:cNvPr>
          <p:cNvSpPr/>
          <p:nvPr/>
        </p:nvSpPr>
        <p:spPr>
          <a:xfrm>
            <a:off x="2252639" y="283133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9A04A49-7BAA-5140-2F24-0B986C8F2FEF}"/>
              </a:ext>
            </a:extLst>
          </p:cNvPr>
          <p:cNvSpPr/>
          <p:nvPr/>
        </p:nvSpPr>
        <p:spPr>
          <a:xfrm>
            <a:off x="3194270" y="2831331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CBEAF4B-A08E-C9AC-9435-755E4A41CF48}"/>
              </a:ext>
            </a:extLst>
          </p:cNvPr>
          <p:cNvSpPr/>
          <p:nvPr/>
        </p:nvSpPr>
        <p:spPr>
          <a:xfrm>
            <a:off x="4700243" y="4947693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37B3033-6FB7-621E-264F-C5C059E598FA}"/>
              </a:ext>
            </a:extLst>
          </p:cNvPr>
          <p:cNvSpPr/>
          <p:nvPr/>
        </p:nvSpPr>
        <p:spPr>
          <a:xfrm>
            <a:off x="5962955" y="4947693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77C563C-C421-1004-6BA4-3BE621F27E17}"/>
              </a:ext>
            </a:extLst>
          </p:cNvPr>
          <p:cNvSpPr/>
          <p:nvPr/>
        </p:nvSpPr>
        <p:spPr>
          <a:xfrm>
            <a:off x="5442950" y="183320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237FD5E-205D-1991-C077-FDB5EBCFB962}"/>
              </a:ext>
            </a:extLst>
          </p:cNvPr>
          <p:cNvSpPr/>
          <p:nvPr/>
        </p:nvSpPr>
        <p:spPr>
          <a:xfrm>
            <a:off x="7180871" y="4947693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1C5AB73-A33E-FEBD-F66A-E0360558B0D4}"/>
              </a:ext>
            </a:extLst>
          </p:cNvPr>
          <p:cNvSpPr/>
          <p:nvPr/>
        </p:nvSpPr>
        <p:spPr>
          <a:xfrm>
            <a:off x="2953929" y="4947692"/>
            <a:ext cx="1474736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8" name="꺾인 양쪽 화살표 연결선 18">
            <a:extLst>
              <a:ext uri="{FF2B5EF4-FFF2-40B4-BE49-F238E27FC236}">
                <a16:creationId xmlns:a16="http://schemas.microsoft.com/office/drawing/2014/main" id="{1656F0E8-131B-38B0-160C-687B9C441F14}"/>
              </a:ext>
            </a:extLst>
          </p:cNvPr>
          <p:cNvCxnSpPr>
            <a:cxnSpLocks/>
            <a:stCxn id="19" idx="2"/>
            <a:endCxn id="12" idx="0"/>
          </p:cNvCxnSpPr>
          <p:nvPr/>
        </p:nvCxnSpPr>
        <p:spPr>
          <a:xfrm rot="5400000">
            <a:off x="3352780" y="1562514"/>
            <a:ext cx="552019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750EFA3D-16EC-CB07-2683-959075468BEC}"/>
              </a:ext>
            </a:extLst>
          </p:cNvPr>
          <p:cNvCxnSpPr>
            <a:cxnSpLocks/>
            <a:stCxn id="19" idx="2"/>
            <a:endCxn id="16" idx="0"/>
          </p:cNvCxnSpPr>
          <p:nvPr/>
        </p:nvCxnSpPr>
        <p:spPr>
          <a:xfrm rot="5400000">
            <a:off x="3927908" y="2137642"/>
            <a:ext cx="552019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B169CCEB-FA59-58E7-482E-27469D79B11D}"/>
              </a:ext>
            </a:extLst>
          </p:cNvPr>
          <p:cNvCxnSpPr>
            <a:cxnSpLocks/>
            <a:stCxn id="41" idx="2"/>
            <a:endCxn id="46" idx="0"/>
          </p:cNvCxnSpPr>
          <p:nvPr/>
        </p:nvCxnSpPr>
        <p:spPr>
          <a:xfrm rot="5400000">
            <a:off x="3422446" y="2543846"/>
            <a:ext cx="2672698" cy="213499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99C0381F-901E-509C-FEDF-DA87AB338519}"/>
              </a:ext>
            </a:extLst>
          </p:cNvPr>
          <p:cNvCxnSpPr>
            <a:cxnSpLocks/>
            <a:stCxn id="41" idx="2"/>
            <a:endCxn id="34" idx="0"/>
          </p:cNvCxnSpPr>
          <p:nvPr/>
        </p:nvCxnSpPr>
        <p:spPr>
          <a:xfrm rot="5400000">
            <a:off x="4174702" y="3296102"/>
            <a:ext cx="2672699" cy="6304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18">
            <a:extLst>
              <a:ext uri="{FF2B5EF4-FFF2-40B4-BE49-F238E27FC236}">
                <a16:creationId xmlns:a16="http://schemas.microsoft.com/office/drawing/2014/main" id="{6AC9F1C6-EB99-E689-B752-3CFEE0DD44CE}"/>
              </a:ext>
            </a:extLst>
          </p:cNvPr>
          <p:cNvCxnSpPr>
            <a:cxnSpLocks/>
            <a:stCxn id="41" idx="2"/>
            <a:endCxn id="38" idx="0"/>
          </p:cNvCxnSpPr>
          <p:nvPr/>
        </p:nvCxnSpPr>
        <p:spPr>
          <a:xfrm rot="16200000" flipH="1">
            <a:off x="4794859" y="3306427"/>
            <a:ext cx="2672699" cy="60983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꺾인 양쪽 화살표 연결선 18">
            <a:extLst>
              <a:ext uri="{FF2B5EF4-FFF2-40B4-BE49-F238E27FC236}">
                <a16:creationId xmlns:a16="http://schemas.microsoft.com/office/drawing/2014/main" id="{01C90099-2CB7-BAA5-F5FF-2DF678D4727D}"/>
              </a:ext>
            </a:extLst>
          </p:cNvPr>
          <p:cNvCxnSpPr>
            <a:cxnSpLocks/>
            <a:stCxn id="41" idx="2"/>
            <a:endCxn id="44" idx="0"/>
          </p:cNvCxnSpPr>
          <p:nvPr/>
        </p:nvCxnSpPr>
        <p:spPr>
          <a:xfrm rot="16200000" flipH="1">
            <a:off x="5421712" y="2679574"/>
            <a:ext cx="2672699" cy="18635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양쪽 화살표 연결선 18">
            <a:extLst>
              <a:ext uri="{FF2B5EF4-FFF2-40B4-BE49-F238E27FC236}">
                <a16:creationId xmlns:a16="http://schemas.microsoft.com/office/drawing/2014/main" id="{DD692EE0-DAD5-2E89-9A79-75FB66F190D7}"/>
              </a:ext>
            </a:extLst>
          </p:cNvPr>
          <p:cNvCxnSpPr>
            <a:cxnSpLocks/>
            <a:stCxn id="8" idx="2"/>
            <a:endCxn id="41" idx="0"/>
          </p:cNvCxnSpPr>
          <p:nvPr/>
        </p:nvCxnSpPr>
        <p:spPr>
          <a:xfrm rot="5400000">
            <a:off x="5626152" y="1632948"/>
            <a:ext cx="400393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C716C187-640D-B845-14F1-B0F13C15A2B2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88401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CDE8B-B1CF-9D92-619D-3EA7437EB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2260B-3281-5C07-EBB2-A9A71959C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명세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494713-0D23-7D7D-ED73-1283B223A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3E4802-28ED-2573-3395-65096234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27EC3A30-483F-BE00-DD1A-9A373DEF078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59497826"/>
              </p:ext>
            </p:extLst>
          </p:nvPr>
        </p:nvGraphicFramePr>
        <p:xfrm>
          <a:off x="7898416" y="1645882"/>
          <a:ext cx="3748606" cy="3994919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9408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409521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1644997">
                  <a:extLst>
                    <a:ext uri="{9D8B030D-6E8A-4147-A177-3AD203B41FA5}">
                      <a16:colId xmlns:a16="http://schemas.microsoft.com/office/drawing/2014/main" val="2485259887"/>
                    </a:ext>
                  </a:extLst>
                </a:gridCol>
              </a:tblGrid>
              <a:tr h="181152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영문이름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253007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General_cargo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Fragile_cargo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181152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Preinteract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Carried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46606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Destroyed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785654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Vanishing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181152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1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Visual_stim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b="1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b="1" dirty="0" err="1"/>
                        <a:t>Olfac_stim</a:t>
                      </a:r>
                      <a:endParaRPr lang="ko-KR" altLang="en-US" sz="2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Vib_stim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83D1C775-35BD-ED49-5E06-4E8F8CB1FF31}"/>
              </a:ext>
            </a:extLst>
          </p:cNvPr>
          <p:cNvSpPr/>
          <p:nvPr/>
        </p:nvSpPr>
        <p:spPr>
          <a:xfrm>
            <a:off x="4068363" y="1434566"/>
            <a:ext cx="1182307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C6F4015-BC4F-1699-AE99-220A88361A9E}"/>
              </a:ext>
            </a:extLst>
          </p:cNvPr>
          <p:cNvSpPr/>
          <p:nvPr/>
        </p:nvSpPr>
        <p:spPr>
          <a:xfrm>
            <a:off x="5480759" y="2137766"/>
            <a:ext cx="766684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D47446A-DD58-F18A-95BA-63157B6C94C9}"/>
              </a:ext>
            </a:extLst>
          </p:cNvPr>
          <p:cNvSpPr/>
          <p:nvPr/>
        </p:nvSpPr>
        <p:spPr>
          <a:xfrm>
            <a:off x="3071367" y="2137766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2ED62440-1534-E005-A7D7-87BCEC9D8546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16200000" flipH="1">
            <a:off x="5131106" y="1404770"/>
            <a:ext cx="261407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꺾인 양쪽 화살표 연결선 18">
            <a:extLst>
              <a:ext uri="{FF2B5EF4-FFF2-40B4-BE49-F238E27FC236}">
                <a16:creationId xmlns:a16="http://schemas.microsoft.com/office/drawing/2014/main" id="{86FC022A-1ED2-D0CB-EFC7-6F5AE69AD7B0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5400000">
            <a:off x="3926410" y="1404658"/>
            <a:ext cx="261407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AABEC58-6713-9731-2FD4-22D289DCB150}"/>
              </a:ext>
            </a:extLst>
          </p:cNvPr>
          <p:cNvSpPr/>
          <p:nvPr/>
        </p:nvSpPr>
        <p:spPr>
          <a:xfrm>
            <a:off x="5771172" y="3076009"/>
            <a:ext cx="918302" cy="647655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79F41C9-4AA8-4EB7-C8B9-E2DD486760C2}"/>
              </a:ext>
            </a:extLst>
          </p:cNvPr>
          <p:cNvSpPr/>
          <p:nvPr/>
        </p:nvSpPr>
        <p:spPr>
          <a:xfrm>
            <a:off x="4709681" y="3082392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03C4F6C-AC34-1515-2E31-B94F4B712BA3}"/>
              </a:ext>
            </a:extLst>
          </p:cNvPr>
          <p:cNvSpPr/>
          <p:nvPr/>
        </p:nvSpPr>
        <p:spPr>
          <a:xfrm>
            <a:off x="6848442" y="307600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14" name="꺾인 양쪽 화살표 연결선 18">
            <a:extLst>
              <a:ext uri="{FF2B5EF4-FFF2-40B4-BE49-F238E27FC236}">
                <a16:creationId xmlns:a16="http://schemas.microsoft.com/office/drawing/2014/main" id="{BBF32755-1822-40C0-C165-3A9B89C2E391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 rot="5400000">
            <a:off x="5265051" y="2483341"/>
            <a:ext cx="502833" cy="69526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E4F75291-6322-8454-93E9-4004E67B2700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 rot="16200000" flipH="1">
            <a:off x="6337623" y="2106037"/>
            <a:ext cx="496449" cy="144349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08230DC9-C2A3-C862-F74A-B2FA1930C360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 rot="16200000" flipH="1">
            <a:off x="5798987" y="2644673"/>
            <a:ext cx="496450" cy="36622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2FF7CE-C73A-4BF5-E98C-DCB1183EBDA5}"/>
              </a:ext>
            </a:extLst>
          </p:cNvPr>
          <p:cNvSpPr/>
          <p:nvPr/>
        </p:nvSpPr>
        <p:spPr>
          <a:xfrm>
            <a:off x="1085752" y="282450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6D072E5-AD12-0330-90D0-31252A3F6EE3}"/>
              </a:ext>
            </a:extLst>
          </p:cNvPr>
          <p:cNvSpPr/>
          <p:nvPr/>
        </p:nvSpPr>
        <p:spPr>
          <a:xfrm>
            <a:off x="2027383" y="2824500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7972EDD-1D35-58D8-753B-BBA93B6C5EBC}"/>
              </a:ext>
            </a:extLst>
          </p:cNvPr>
          <p:cNvSpPr/>
          <p:nvPr/>
        </p:nvSpPr>
        <p:spPr>
          <a:xfrm>
            <a:off x="2421062" y="4524601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3887F0-FB68-B7E4-BCE6-3005F29EF337}"/>
              </a:ext>
            </a:extLst>
          </p:cNvPr>
          <p:cNvSpPr/>
          <p:nvPr/>
        </p:nvSpPr>
        <p:spPr>
          <a:xfrm>
            <a:off x="3683774" y="4524601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7E8C59E-C6AA-055F-87E1-6F395208D72D}"/>
              </a:ext>
            </a:extLst>
          </p:cNvPr>
          <p:cNvSpPr/>
          <p:nvPr/>
        </p:nvSpPr>
        <p:spPr>
          <a:xfrm>
            <a:off x="4276063" y="2133448"/>
            <a:ext cx="766684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7924E0-A7FB-5F6E-90DD-7A0D3F6E8438}"/>
              </a:ext>
            </a:extLst>
          </p:cNvPr>
          <p:cNvSpPr/>
          <p:nvPr/>
        </p:nvSpPr>
        <p:spPr>
          <a:xfrm>
            <a:off x="4901690" y="4524601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4EA0BB8-53B1-4DD7-C983-51B7082E1E3A}"/>
              </a:ext>
            </a:extLst>
          </p:cNvPr>
          <p:cNvSpPr/>
          <p:nvPr/>
        </p:nvSpPr>
        <p:spPr>
          <a:xfrm>
            <a:off x="674748" y="4524600"/>
            <a:ext cx="1474736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7D3479E2-BC2F-E4A0-826C-3759F0601D8E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 rot="5400000">
            <a:off x="2339432" y="1709222"/>
            <a:ext cx="244941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꺾인 양쪽 화살표 연결선 18">
            <a:extLst>
              <a:ext uri="{FF2B5EF4-FFF2-40B4-BE49-F238E27FC236}">
                <a16:creationId xmlns:a16="http://schemas.microsoft.com/office/drawing/2014/main" id="{C3A90B56-51F4-996C-A725-F7C3B16A395B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 rot="5400000">
            <a:off x="2914560" y="2284350"/>
            <a:ext cx="244941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7DF846F0-5C9E-E0CE-B6F4-DB7F455AB9C1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rot="5400000">
            <a:off x="2061082" y="1926276"/>
            <a:ext cx="1949359" cy="3247289"/>
          </a:xfrm>
          <a:prstGeom prst="bentConnector3">
            <a:avLst>
              <a:gd name="adj1" fmla="val 811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양쪽 화살표 연결선 18">
            <a:extLst>
              <a:ext uri="{FF2B5EF4-FFF2-40B4-BE49-F238E27FC236}">
                <a16:creationId xmlns:a16="http://schemas.microsoft.com/office/drawing/2014/main" id="{963BA789-658A-09D3-4FDF-84755226B64C}"/>
              </a:ext>
            </a:extLst>
          </p:cNvPr>
          <p:cNvCxnSpPr>
            <a:cxnSpLocks/>
            <a:stCxn id="21" idx="2"/>
            <a:endCxn id="19" idx="0"/>
          </p:cNvCxnSpPr>
          <p:nvPr/>
        </p:nvCxnSpPr>
        <p:spPr>
          <a:xfrm rot="5400000">
            <a:off x="2813337" y="2678533"/>
            <a:ext cx="1949360" cy="1742776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266D1ED0-BC04-939D-9F34-AF56E53AD613}"/>
              </a:ext>
            </a:extLst>
          </p:cNvPr>
          <p:cNvCxnSpPr>
            <a:cxnSpLocks/>
            <a:stCxn id="21" idx="2"/>
            <a:endCxn id="20" idx="0"/>
          </p:cNvCxnSpPr>
          <p:nvPr/>
        </p:nvCxnSpPr>
        <p:spPr>
          <a:xfrm rot="5400000">
            <a:off x="3433494" y="3298690"/>
            <a:ext cx="1949360" cy="502462"/>
          </a:xfrm>
          <a:prstGeom prst="bentConnector3">
            <a:avLst>
              <a:gd name="adj1" fmla="val 815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B8863AE-55A0-B6B2-C2DC-3767CE9CCA7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16200000" flipH="1">
            <a:off x="4060347" y="3174299"/>
            <a:ext cx="1949360" cy="751244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꺾인 양쪽 화살표 연결선 18">
            <a:extLst>
              <a:ext uri="{FF2B5EF4-FFF2-40B4-BE49-F238E27FC236}">
                <a16:creationId xmlns:a16="http://schemas.microsoft.com/office/drawing/2014/main" id="{E1F5AB0F-C86A-D98A-5CEB-9502FCC107C6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 rot="5400000">
            <a:off x="4530917" y="2004847"/>
            <a:ext cx="257089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내용 개체 틀 6">
            <a:extLst>
              <a:ext uri="{FF2B5EF4-FFF2-40B4-BE49-F238E27FC236}">
                <a16:creationId xmlns:a16="http://schemas.microsoft.com/office/drawing/2014/main" id="{A280FAD9-FE3B-C800-7EB6-54C523C02511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376F5C1-2343-8F66-59EB-5413FFDF94C8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898369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A52B8-1A62-9F8B-4DEB-C684C43A3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8EBEA2-44D1-F9A3-A919-87413FCA1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FEFD78-3DD3-38D3-088C-3A138AC2F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1EAEA6-B74E-A669-06EF-8925E98E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3FE7E038-3212-C5BC-324F-0B8FF365995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152128272"/>
              </p:ext>
            </p:extLst>
          </p:nvPr>
        </p:nvGraphicFramePr>
        <p:xfrm>
          <a:off x="1159986" y="767224"/>
          <a:ext cx="9872028" cy="5954251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6071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341755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7869555">
                  <a:extLst>
                    <a:ext uri="{9D8B030D-6E8A-4147-A177-3AD203B41FA5}">
                      <a16:colId xmlns:a16="http://schemas.microsoft.com/office/drawing/2014/main" val="3722105752"/>
                    </a:ext>
                  </a:extLst>
                </a:gridCol>
              </a:tblGrid>
              <a:tr h="358573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개념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559964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특수한 특징 없이 오로지 생물 반응만 이끌어내는 화물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추가 설정이 없다면 모든 화물은 기본적으로 일반 화물임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 가능한 화물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358573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플레이어가 상호작용하기 전의 상태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플레이어 중 한 명이 화물을 집어 이동 중인 화물의 상태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103151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운반 중인 화물이 어떤 이유로 인해 플레이어의 손에서 떨어져 즉시 파괴된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플레이어에게서 떨어진 이후 바닥을 포함한 모든 오브젝트에 닿는 즉시 파괴됨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파괴된 화물은 다시 집어들 수 없고 파괴된 상태 후 </a:t>
                      </a:r>
                      <a:r>
                        <a:rPr lang="en-US" altLang="ko-KR" sz="1600" dirty="0"/>
                        <a:t>5</a:t>
                      </a:r>
                      <a:r>
                        <a:rPr lang="ko-KR" altLang="en-US" sz="1600" dirty="0"/>
                        <a:t>초 경과 시 해당 객체는 삭제됨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파손되면 기지로 돌아가 동일한 화물을 지급받아 다시 배달을 진행해야 함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173883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600" dirty="0"/>
                        <a:t>어떤 이유로 플레이어의 손에서 화물이 떨어져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파괴되지는 않으나 일정 시간 이후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사라지는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플레이어가 한 번 집어 올린 화물은 플레이어에게서 떨어진 순간부터 </a:t>
                      </a:r>
                      <a:r>
                        <a:rPr lang="en-US" altLang="ko-KR" sz="1600" dirty="0"/>
                        <a:t>7</a:t>
                      </a:r>
                      <a:r>
                        <a:rPr lang="ko-KR" altLang="en-US" sz="1600" dirty="0"/>
                        <a:t>초 이내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다시 상호작용하지 않으면 소실됨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모든 화물에 발생할 수 있음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단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다른 플레이어에 의해 운반자가 강제로 변경된 경우는 소실로 판단하지 않음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소실되면 기지로 돌아가 동일한 화물을 지급받아 다시 배달을 진행해야 함</a:t>
                      </a:r>
                      <a:endParaRPr lang="en-US" altLang="ko-K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35857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시각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후각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 err="1"/>
                        <a:t>진동값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6F4B2D26-B22B-9547-CA81-93FB3D2923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04EE8F-242D-3709-8119-AE338461B4A6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19135928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1B4486-62EE-4F69-DAC1-7CBB9C913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종류 별 데이터 테이블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112BD0-5142-B555-B1C3-C623432A7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16816" y="1825625"/>
            <a:ext cx="3336984" cy="4351338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최솟값 </a:t>
            </a:r>
            <a:r>
              <a:rPr lang="en-US" altLang="ko-KR" sz="1800" dirty="0"/>
              <a:t>= 0, </a:t>
            </a:r>
            <a:r>
              <a:rPr lang="ko-KR" altLang="en-US" sz="1800" dirty="0"/>
              <a:t>최댓값 </a:t>
            </a:r>
            <a:r>
              <a:rPr lang="en-US" altLang="ko-KR" sz="1800" dirty="0"/>
              <a:t>= 100</a:t>
            </a:r>
          </a:p>
          <a:p>
            <a:r>
              <a:rPr lang="en-US" altLang="ko-KR" sz="1800" dirty="0"/>
              <a:t>0 = </a:t>
            </a:r>
            <a:r>
              <a:rPr lang="ko-KR" altLang="en-US" sz="1800" dirty="0"/>
              <a:t>게임 내에서 상호작용이 없음을 의미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F08382-8421-3C95-54B7-8F8C5B52A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EFD169-B2FC-1508-28E5-5ADFD900A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8B6D79-8A89-4F2D-BE63-62D5793D2B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13C7B6E4-828B-FDEE-ED26-B65341A3C5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3324639"/>
              </p:ext>
            </p:extLst>
          </p:nvPr>
        </p:nvGraphicFramePr>
        <p:xfrm>
          <a:off x="1298276" y="2006052"/>
          <a:ext cx="4750058" cy="28458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8243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홍어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냄새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보여지는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무게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2976261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D0DEA144-A865-888F-27FC-8349039C9BAC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952175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25168-84E7-44A0-0E0D-B20A0EAD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31240-481A-11A9-533C-BE222CE21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B50EF-03B8-FF17-0987-E3A2055F2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9D480-DDE6-E044-E9D8-D2F93D9DE43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DD3ADD4-7EA4-564C-8572-29B9D36D6831}"/>
              </a:ext>
            </a:extLst>
          </p:cNvPr>
          <p:cNvSpPr/>
          <p:nvPr/>
        </p:nvSpPr>
        <p:spPr>
          <a:xfrm>
            <a:off x="2635012" y="1703513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생물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8DC84758-F674-EBEF-9484-045D5F25D556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2371138" y="1572032"/>
            <a:ext cx="281754" cy="142830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A012682-FAFB-E07F-29E5-DA09895BB6BB}"/>
              </a:ext>
            </a:extLst>
          </p:cNvPr>
          <p:cNvSpPr/>
          <p:nvPr/>
        </p:nvSpPr>
        <p:spPr>
          <a:xfrm>
            <a:off x="1164747" y="2427060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EA6DA5-CF8B-C0DB-799E-2A63CF65FC9F}"/>
              </a:ext>
            </a:extLst>
          </p:cNvPr>
          <p:cNvSpPr/>
          <p:nvPr/>
        </p:nvSpPr>
        <p:spPr>
          <a:xfrm>
            <a:off x="5487193" y="3506550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반응도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58A3A96-6721-85BB-D1B7-BCA8606F5277}"/>
              </a:ext>
            </a:extLst>
          </p:cNvPr>
          <p:cNvSpPr/>
          <p:nvPr/>
        </p:nvSpPr>
        <p:spPr>
          <a:xfrm>
            <a:off x="1337480" y="3199789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공격력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D566D65-E40D-FC01-76F8-02FBA7478E8D}"/>
              </a:ext>
            </a:extLst>
          </p:cNvPr>
          <p:cNvSpPr/>
          <p:nvPr/>
        </p:nvSpPr>
        <p:spPr>
          <a:xfrm>
            <a:off x="2419353" y="3199788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이동속도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B3112D3-E339-CE09-DCBC-D6D2D8343D95}"/>
              </a:ext>
            </a:extLst>
          </p:cNvPr>
          <p:cNvSpPr/>
          <p:nvPr/>
        </p:nvSpPr>
        <p:spPr>
          <a:xfrm>
            <a:off x="4265867" y="350655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3397A29-390C-33DB-7B4F-D5DCBAF1870A}"/>
              </a:ext>
            </a:extLst>
          </p:cNvPr>
          <p:cNvSpPr/>
          <p:nvPr/>
        </p:nvSpPr>
        <p:spPr>
          <a:xfrm>
            <a:off x="419349" y="3199790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B33F4835-4A9A-2102-8269-A52B661892A2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1131562" y="2533487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8A43A62-0F9D-F60A-7890-A69085D15A5E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1631780" y="3033705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EE1BB9E2-BF64-36D0-3D05-9AF33D77D4E9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2217473" y="2449244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52A754-9590-8DB1-9452-AE741BD65473}"/>
              </a:ext>
            </a:extLst>
          </p:cNvPr>
          <p:cNvSpPr/>
          <p:nvPr/>
        </p:nvSpPr>
        <p:spPr>
          <a:xfrm>
            <a:off x="4341970" y="2427056"/>
            <a:ext cx="1675969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상호작용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A2E4EFDC-011A-FE63-89A8-3A71ACEEC399}"/>
              </a:ext>
            </a:extLst>
          </p:cNvPr>
          <p:cNvCxnSpPr>
            <a:cxnSpLocks/>
            <a:stCxn id="8" idx="2"/>
            <a:endCxn id="36" idx="0"/>
          </p:cNvCxnSpPr>
          <p:nvPr/>
        </p:nvCxnSpPr>
        <p:spPr>
          <a:xfrm rot="16200000" flipH="1">
            <a:off x="4062185" y="1309286"/>
            <a:ext cx="281750" cy="19537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2696716A-4AD3-7FF5-4C3F-CABBE0838864}"/>
              </a:ext>
            </a:extLst>
          </p:cNvPr>
          <p:cNvCxnSpPr>
            <a:cxnSpLocks/>
            <a:stCxn id="36" idx="2"/>
            <a:endCxn id="13" idx="0"/>
          </p:cNvCxnSpPr>
          <p:nvPr/>
        </p:nvCxnSpPr>
        <p:spPr>
          <a:xfrm rot="16200000" flipH="1">
            <a:off x="5244299" y="2804504"/>
            <a:ext cx="637701" cy="7663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22041EB2-EABF-E94E-A16E-5C19F7EAB0F0}"/>
              </a:ext>
            </a:extLst>
          </p:cNvPr>
          <p:cNvCxnSpPr>
            <a:cxnSpLocks/>
            <a:stCxn id="36" idx="2"/>
            <a:endCxn id="19" idx="0"/>
          </p:cNvCxnSpPr>
          <p:nvPr/>
        </p:nvCxnSpPr>
        <p:spPr>
          <a:xfrm rot="5400000">
            <a:off x="4595732" y="2922326"/>
            <a:ext cx="637701" cy="53074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47AA5C4-14BD-BC3D-CBD9-E6B9B914F62B}"/>
              </a:ext>
            </a:extLst>
          </p:cNvPr>
          <p:cNvSpPr/>
          <p:nvPr/>
        </p:nvSpPr>
        <p:spPr>
          <a:xfrm>
            <a:off x="1800593" y="4250805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배회 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BD4CD1B-3220-C314-01FA-F57A0DA61204}"/>
              </a:ext>
            </a:extLst>
          </p:cNvPr>
          <p:cNvSpPr/>
          <p:nvPr/>
        </p:nvSpPr>
        <p:spPr>
          <a:xfrm>
            <a:off x="3187810" y="4250805"/>
            <a:ext cx="1179561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질주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3FD3F5F4-C914-57C6-88AF-3621FBA3D55E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2374583" y="3657372"/>
            <a:ext cx="609224" cy="577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9E9CF1A6-B0D7-20DE-12B4-B0FFBDF0A2B8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068191" y="3541405"/>
            <a:ext cx="609224" cy="8095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BFC6BE2-4EF1-7BED-FDEB-32DECCBDB0F4}"/>
              </a:ext>
            </a:extLst>
          </p:cNvPr>
          <p:cNvSpPr/>
          <p:nvPr/>
        </p:nvSpPr>
        <p:spPr>
          <a:xfrm>
            <a:off x="4180144" y="5321836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후각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DB293FE-EAEE-CE0C-6C0B-342CCD584EA6}"/>
              </a:ext>
            </a:extLst>
          </p:cNvPr>
          <p:cNvSpPr/>
          <p:nvPr/>
        </p:nvSpPr>
        <p:spPr>
          <a:xfrm>
            <a:off x="5258959" y="532183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시각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F3472ED-FA29-CBB1-4532-56A01D65F4CB}"/>
              </a:ext>
            </a:extLst>
          </p:cNvPr>
          <p:cNvSpPr/>
          <p:nvPr/>
        </p:nvSpPr>
        <p:spPr>
          <a:xfrm>
            <a:off x="6341068" y="5321837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진동 </a:t>
            </a:r>
            <a:r>
              <a:rPr lang="ko-KR" altLang="en-US" dirty="0">
                <a:solidFill>
                  <a:srgbClr val="000000"/>
                </a:solidFill>
              </a:rPr>
              <a:t>반응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F6F0DDE9-BDCF-DC90-E66A-73403300DB16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5400000">
            <a:off x="5145480" y="4520973"/>
            <a:ext cx="1373495" cy="22823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3727766-635A-637B-F616-13D43B88397D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5686534" y="4208152"/>
            <a:ext cx="1373494" cy="8538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705EF96C-EE4B-7D84-44BC-F6B70FBE3C5E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5400000">
            <a:off x="4606074" y="3981565"/>
            <a:ext cx="1373493" cy="130704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B7F050E-5602-8B2C-082B-A2AF2EB36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988633"/>
              </p:ext>
            </p:extLst>
          </p:nvPr>
        </p:nvGraphicFramePr>
        <p:xfrm>
          <a:off x="6488492" y="1153585"/>
          <a:ext cx="54940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2592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Wander_vel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Sprint_vel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상호작용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Olfac_resp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9250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Visual_resp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57895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Vib_resp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3981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Condition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571365"/>
                  </a:ext>
                </a:extLst>
              </a:tr>
            </a:tbl>
          </a:graphicData>
        </a:graphic>
      </p:graphicFrame>
      <p:sp>
        <p:nvSpPr>
          <p:cNvPr id="24" name="직사각형 23">
            <a:extLst>
              <a:ext uri="{FF2B5EF4-FFF2-40B4-BE49-F238E27FC236}">
                <a16:creationId xmlns:a16="http://schemas.microsoft.com/office/drawing/2014/main" id="{D921FA45-D350-8C66-04FF-9B7B6854E782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162134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7776-B1F5-4EFD-0086-AD3BC434E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A7C25-E886-8948-09FB-785A22DB3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151D65-7E9F-EF5C-13A6-0573277DD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1865AE-EF17-CE80-CD4A-81FCA7C8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B7F5449E-591E-DCF5-D836-5BBC8FEDB7C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시스템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53EDEC5-D570-4E93-3BC9-92E1D34FBC60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  <p:graphicFrame>
        <p:nvGraphicFramePr>
          <p:cNvPr id="14" name="내용 개체 틀 8">
            <a:extLst>
              <a:ext uri="{FF2B5EF4-FFF2-40B4-BE49-F238E27FC236}">
                <a16:creationId xmlns:a16="http://schemas.microsoft.com/office/drawing/2014/main" id="{56C201FF-E361-CD15-5D09-3CD6E586E4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476668"/>
              </p:ext>
            </p:extLst>
          </p:nvPr>
        </p:nvGraphicFramePr>
        <p:xfrm>
          <a:off x="1322545" y="1569720"/>
          <a:ext cx="9546908" cy="3718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316355">
                  <a:extLst>
                    <a:ext uri="{9D8B030D-6E8A-4147-A177-3AD203B41FA5}">
                      <a16:colId xmlns:a16="http://schemas.microsoft.com/office/drawing/2014/main" val="188603479"/>
                    </a:ext>
                  </a:extLst>
                </a:gridCol>
                <a:gridCol w="1232218">
                  <a:extLst>
                    <a:ext uri="{9D8B030D-6E8A-4147-A177-3AD203B41FA5}">
                      <a16:colId xmlns:a16="http://schemas.microsoft.com/office/drawing/2014/main" val="602883667"/>
                    </a:ext>
                  </a:extLst>
                </a:gridCol>
                <a:gridCol w="1316355">
                  <a:extLst>
                    <a:ext uri="{9D8B030D-6E8A-4147-A177-3AD203B41FA5}">
                      <a16:colId xmlns:a16="http://schemas.microsoft.com/office/drawing/2014/main" val="3051481889"/>
                    </a:ext>
                  </a:extLst>
                </a:gridCol>
                <a:gridCol w="5681980">
                  <a:extLst>
                    <a:ext uri="{9D8B030D-6E8A-4147-A177-3AD203B41FA5}">
                      <a16:colId xmlns:a16="http://schemas.microsoft.com/office/drawing/2014/main" val="5462305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90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 err="1"/>
                        <a:t>스탯이름</a:t>
                      </a:r>
                      <a:endParaRPr lang="ko-KR" altLang="en-US" sz="1900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6650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물리 </a:t>
                      </a: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각 생물의 체력</a:t>
                      </a:r>
                      <a:br>
                        <a:rPr lang="en-US" altLang="ko-KR" sz="1900" dirty="0"/>
                      </a:br>
                      <a:r>
                        <a:rPr lang="en-US" altLang="ko-KR" sz="1900" dirty="0"/>
                        <a:t>0</a:t>
                      </a:r>
                      <a:r>
                        <a:rPr lang="ko-KR" altLang="en-US" sz="1900" dirty="0"/>
                        <a:t>이 되면 사망</a:t>
                      </a:r>
                      <a:r>
                        <a:rPr lang="en-US" altLang="ko-KR" sz="1900" dirty="0"/>
                        <a:t> </a:t>
                      </a:r>
                      <a:r>
                        <a:rPr lang="ko-KR" altLang="en-US" sz="1900" dirty="0"/>
                        <a:t>후 객체 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29349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플레이어에게 공격을 가할 시 </a:t>
                      </a:r>
                      <a:r>
                        <a:rPr lang="ko-KR" altLang="en-US" sz="1900" dirty="0" err="1"/>
                        <a:t>깍는</a:t>
                      </a:r>
                      <a:r>
                        <a:rPr lang="ko-KR" altLang="en-US" sz="1900" dirty="0"/>
                        <a:t> 체력의 수치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25935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화물에 반응 하기 전까지 배회할 때의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7370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추적</a:t>
                      </a:r>
                      <a:r>
                        <a:rPr lang="en-US" altLang="ko-KR" sz="1900" dirty="0"/>
                        <a:t>/</a:t>
                      </a:r>
                      <a:r>
                        <a:rPr lang="ko-KR" altLang="en-US" sz="1900" dirty="0"/>
                        <a:t>도망 시의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5308043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상호작용</a:t>
                      </a:r>
                      <a:br>
                        <a:rPr lang="en-US" altLang="ko-KR" sz="1900" dirty="0"/>
                      </a:b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후각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064416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시각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077764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진동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126965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상호작용에 따라 지정되는 생물의 현재 상태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205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28000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69D4-EE2E-1188-1D46-92B57F177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D3D75F-C182-1666-AB8E-92EAB424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A6B8D3-A599-2153-9CE3-B4D834184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B89872-4F3F-F6C4-9113-E36114E7A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C975A0-A5DD-3B30-EB6B-FCAFDC75E96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8FE343C-B767-4B0F-AC26-0C722ACB66B6}"/>
              </a:ext>
            </a:extLst>
          </p:cNvPr>
          <p:cNvSpPr/>
          <p:nvPr/>
        </p:nvSpPr>
        <p:spPr>
          <a:xfrm>
            <a:off x="3634048" y="1108289"/>
            <a:ext cx="170695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18FD8BF-505B-AE7D-BFE1-F952FD1B88C0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3324172" y="668481"/>
            <a:ext cx="281754" cy="204495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AC16879-415F-E402-375A-4B7845313C44}"/>
              </a:ext>
            </a:extLst>
          </p:cNvPr>
          <p:cNvSpPr/>
          <p:nvPr/>
        </p:nvSpPr>
        <p:spPr>
          <a:xfrm>
            <a:off x="1809453" y="1831836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042E630-8CF3-69E3-9A82-70123964D958}"/>
              </a:ext>
            </a:extLst>
          </p:cNvPr>
          <p:cNvSpPr/>
          <p:nvPr/>
        </p:nvSpPr>
        <p:spPr>
          <a:xfrm>
            <a:off x="1982186" y="2604565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공격력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E80DA6A-E9AF-BD5B-D006-498FA9F50C07}"/>
              </a:ext>
            </a:extLst>
          </p:cNvPr>
          <p:cNvSpPr/>
          <p:nvPr/>
        </p:nvSpPr>
        <p:spPr>
          <a:xfrm>
            <a:off x="3064059" y="2604564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이동속도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F8E4F14-5C22-20AF-F8D3-EDC26F5CE1DB}"/>
              </a:ext>
            </a:extLst>
          </p:cNvPr>
          <p:cNvSpPr/>
          <p:nvPr/>
        </p:nvSpPr>
        <p:spPr>
          <a:xfrm>
            <a:off x="1064055" y="2604566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094ECC49-9579-6086-3992-E0B9F2D642C1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1776268" y="1938263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CEDED0F9-B23B-B446-0DAF-E060A4564B87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2276486" y="2438481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0DA3C3D2-9FDD-39CC-5153-9C9D85E44EAB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2862179" y="1854020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2B7BAC3-8124-C67C-DF8F-5B8078F5A7B8}"/>
              </a:ext>
            </a:extLst>
          </p:cNvPr>
          <p:cNvSpPr/>
          <p:nvPr/>
        </p:nvSpPr>
        <p:spPr>
          <a:xfrm>
            <a:off x="2445299" y="3575571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걷기 속도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6131502E-F4FD-7B3D-2A61-84AD3FAF0169}"/>
              </a:ext>
            </a:extLst>
          </p:cNvPr>
          <p:cNvSpPr/>
          <p:nvPr/>
        </p:nvSpPr>
        <p:spPr>
          <a:xfrm>
            <a:off x="3724475" y="3575571"/>
            <a:ext cx="140984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달리기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7C54C4E7-4D63-B0AB-63BB-E5415D04A890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3059294" y="3022143"/>
            <a:ext cx="529214" cy="577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D99D36A-41FD-DB36-4885-E5093D48CBBB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756453" y="2902625"/>
            <a:ext cx="529214" cy="81667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A12560C-A88F-50AF-3011-11CF9065D2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6418143"/>
              </p:ext>
            </p:extLst>
          </p:nvPr>
        </p:nvGraphicFramePr>
        <p:xfrm>
          <a:off x="5437855" y="3389463"/>
          <a:ext cx="5722621" cy="296672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Walk_vel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Run_vel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Jump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Sta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2335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Rev_timer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</a:tbl>
          </a:graphicData>
        </a:graphic>
      </p:graphicFrame>
      <p:sp>
        <p:nvSpPr>
          <p:cNvPr id="24" name="직사각형 23">
            <a:extLst>
              <a:ext uri="{FF2B5EF4-FFF2-40B4-BE49-F238E27FC236}">
                <a16:creationId xmlns:a16="http://schemas.microsoft.com/office/drawing/2014/main" id="{CB2FB21B-C582-9D2F-2A85-53B25B8C7E02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45A9EFC-05B8-FC5C-2AAE-93246A0FBF4A}"/>
              </a:ext>
            </a:extLst>
          </p:cNvPr>
          <p:cNvSpPr/>
          <p:nvPr/>
        </p:nvSpPr>
        <p:spPr>
          <a:xfrm>
            <a:off x="4323721" y="2604564"/>
            <a:ext cx="121446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점프 높이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84E5017-3EE7-64F5-1562-3A5F5F063CB6}"/>
              </a:ext>
            </a:extLst>
          </p:cNvPr>
          <p:cNvSpPr/>
          <p:nvPr/>
        </p:nvSpPr>
        <p:spPr>
          <a:xfrm>
            <a:off x="6979052" y="2603134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부활 타이머</a:t>
            </a:r>
          </a:p>
        </p:txBody>
      </p: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23236868-31D1-637E-DCE4-6EA97299EACD}"/>
              </a:ext>
            </a:extLst>
          </p:cNvPr>
          <p:cNvCxnSpPr>
            <a:cxnSpLocks/>
            <a:stCxn id="11" idx="2"/>
            <a:endCxn id="18" idx="0"/>
          </p:cNvCxnSpPr>
          <p:nvPr/>
        </p:nvCxnSpPr>
        <p:spPr>
          <a:xfrm rot="16200000" flipH="1">
            <a:off x="3521294" y="1194905"/>
            <a:ext cx="330935" cy="24883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6B29877-DDC5-61B8-7D1F-8C35FC984306}"/>
              </a:ext>
            </a:extLst>
          </p:cNvPr>
          <p:cNvSpPr/>
          <p:nvPr/>
        </p:nvSpPr>
        <p:spPr>
          <a:xfrm>
            <a:off x="6310526" y="1831835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기타</a:t>
            </a:r>
          </a:p>
        </p:txBody>
      </p: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B5C1D931-B297-B0A9-9BAB-8D1BEC626256}"/>
              </a:ext>
            </a:extLst>
          </p:cNvPr>
          <p:cNvCxnSpPr>
            <a:cxnSpLocks/>
            <a:stCxn id="8" idx="2"/>
            <a:endCxn id="30" idx="0"/>
          </p:cNvCxnSpPr>
          <p:nvPr/>
        </p:nvCxnSpPr>
        <p:spPr>
          <a:xfrm rot="16200000" flipH="1">
            <a:off x="5574709" y="462900"/>
            <a:ext cx="281753" cy="245611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1BB34CD6-4F33-694A-AD1F-909F089A55C8}"/>
              </a:ext>
            </a:extLst>
          </p:cNvPr>
          <p:cNvCxnSpPr>
            <a:cxnSpLocks/>
            <a:stCxn id="30" idx="2"/>
            <a:endCxn id="21" idx="0"/>
          </p:cNvCxnSpPr>
          <p:nvPr/>
        </p:nvCxnSpPr>
        <p:spPr>
          <a:xfrm rot="16200000" flipH="1">
            <a:off x="7162744" y="2054527"/>
            <a:ext cx="329506" cy="7677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8CE520C-9630-60F2-F393-DA5D21234F27}"/>
              </a:ext>
            </a:extLst>
          </p:cNvPr>
          <p:cNvSpPr/>
          <p:nvPr/>
        </p:nvSpPr>
        <p:spPr>
          <a:xfrm>
            <a:off x="5700520" y="2603135"/>
            <a:ext cx="111619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스태미나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47FE11BE-FE9D-7B89-E82A-16990384BB23}"/>
              </a:ext>
            </a:extLst>
          </p:cNvPr>
          <p:cNvCxnSpPr>
            <a:cxnSpLocks/>
            <a:stCxn id="11" idx="2"/>
            <a:endCxn id="42" idx="0"/>
          </p:cNvCxnSpPr>
          <p:nvPr/>
        </p:nvCxnSpPr>
        <p:spPr>
          <a:xfrm rot="16200000" flipH="1">
            <a:off x="4185841" y="530358"/>
            <a:ext cx="329506" cy="38160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84112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5C9E9-148C-54B5-B007-453A9391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EBEA17-26BF-BAFB-7014-5F0842440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6ACBA9-67A2-CE75-E3DE-ED1AA1822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4102C7-CDED-904C-0B8C-E8FC49936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15252F1-BAB7-1036-A416-CF5BCFFA8C5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B235DAE-D5E5-4D64-B931-A8EA6FA8F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980006"/>
              </p:ext>
            </p:extLst>
          </p:nvPr>
        </p:nvGraphicFramePr>
        <p:xfrm>
          <a:off x="2084545" y="1047439"/>
          <a:ext cx="8022908" cy="486664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8020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4554855">
                  <a:extLst>
                    <a:ext uri="{9D8B030D-6E8A-4147-A177-3AD203B41FA5}">
                      <a16:colId xmlns:a16="http://schemas.microsoft.com/office/drawing/2014/main" val="1880246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 캐릭터의 체력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0</a:t>
                      </a:r>
                      <a:r>
                        <a:rPr lang="ko-KR" altLang="en-US" dirty="0"/>
                        <a:t>이 되면 사망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사망 시 동일한 위치에서 </a:t>
                      </a:r>
                      <a:r>
                        <a:rPr lang="en-US" altLang="ko-KR" dirty="0"/>
                        <a:t>10</a:t>
                      </a:r>
                      <a:r>
                        <a:rPr lang="ko-KR" altLang="en-US" dirty="0"/>
                        <a:t>초 후 부활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부활 직후 </a:t>
                      </a:r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초간 무적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총 발사 </a:t>
                      </a:r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회의 공격력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일반 이동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Shift</a:t>
                      </a:r>
                      <a:r>
                        <a:rPr lang="ko-KR" altLang="en-US" dirty="0"/>
                        <a:t>를 눌러 달리기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플레이어의 점프가 가능한 높이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가장 낮은 나무의 절반 높이와 동일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플레이어가 달릴 때 소모되는 에너지 수치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921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사망 시 부활까지의 타이머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</a:tbl>
          </a:graphicData>
        </a:graphic>
      </p:graphicFrame>
      <p:sp>
        <p:nvSpPr>
          <p:cNvPr id="24" name="직사각형 23">
            <a:extLst>
              <a:ext uri="{FF2B5EF4-FFF2-40B4-BE49-F238E27FC236}">
                <a16:creationId xmlns:a16="http://schemas.microsoft.com/office/drawing/2014/main" id="{8289E098-8DA2-30BD-1EBC-4FCE208FD055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19738863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3219923" y="2804499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1782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F7D7EE-3DE5-1BD9-35E5-37F9E1FF2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이후 사용 가능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7DD9361-CC15-4C39-F844-0B591E49D5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b="1" dirty="0"/>
              <a:t>**</a:t>
            </a:r>
            <a:r>
              <a:rPr lang="ko-KR" altLang="en-US" b="1" dirty="0"/>
              <a:t>화면에 필요한 것</a:t>
            </a:r>
            <a:br>
              <a:rPr lang="en-US" altLang="ko-KR" b="1" dirty="0"/>
            </a:br>
            <a:r>
              <a:rPr lang="ko-KR" altLang="en-US" b="1" dirty="0"/>
              <a:t>어디 경로 선택지 표시</a:t>
            </a:r>
            <a:r>
              <a:rPr lang="en-US" altLang="ko-KR" b="1" dirty="0"/>
              <a:t>, </a:t>
            </a:r>
            <a:r>
              <a:rPr lang="ko-KR" altLang="en-US" b="1" dirty="0"/>
              <a:t>경로 선택 후 경로를 안내하는 화살표</a:t>
            </a:r>
            <a:endParaRPr lang="en-US" altLang="ko-KR" b="1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2D26FB4-7390-2550-A4C9-670005419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0215FE-1961-73FF-95E9-3D78003F1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A0D3D40-2BD2-2885-B7A9-E532CC149B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택배 상태</a:t>
            </a:r>
          </a:p>
        </p:txBody>
      </p:sp>
      <p:pic>
        <p:nvPicPr>
          <p:cNvPr id="15" name="그래픽 14" descr="청각 장애인 단색으로 채워진">
            <a:extLst>
              <a:ext uri="{FF2B5EF4-FFF2-40B4-BE49-F238E27FC236}">
                <a16:creationId xmlns:a16="http://schemas.microsoft.com/office/drawing/2014/main" id="{FD64F41E-05E6-1601-577E-8956F652A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89992" y="4105763"/>
            <a:ext cx="914400" cy="914400"/>
          </a:xfrm>
          <a:prstGeom prst="rect">
            <a:avLst/>
          </a:prstGeom>
        </p:spPr>
      </p:pic>
      <p:pic>
        <p:nvPicPr>
          <p:cNvPr id="17" name="그래픽 16" descr="폭발 단색으로 채워진">
            <a:extLst>
              <a:ext uri="{FF2B5EF4-FFF2-40B4-BE49-F238E27FC236}">
                <a16:creationId xmlns:a16="http://schemas.microsoft.com/office/drawing/2014/main" id="{14D3EE94-1ED3-E171-7945-1C1392F110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06786" y="4056527"/>
            <a:ext cx="914400" cy="914400"/>
          </a:xfrm>
          <a:prstGeom prst="rect">
            <a:avLst/>
          </a:prstGeom>
        </p:spPr>
      </p:pic>
      <p:pic>
        <p:nvPicPr>
          <p:cNvPr id="19" name="그래픽 18" descr="가연성 단색으로 채워진">
            <a:extLst>
              <a:ext uri="{FF2B5EF4-FFF2-40B4-BE49-F238E27FC236}">
                <a16:creationId xmlns:a16="http://schemas.microsoft.com/office/drawing/2014/main" id="{B1DBA925-63AD-7FD2-9A28-1987D39BC7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5773" y="4056527"/>
            <a:ext cx="914400" cy="914400"/>
          </a:xfrm>
          <a:prstGeom prst="rect">
            <a:avLst/>
          </a:prstGeom>
        </p:spPr>
      </p:pic>
      <p:pic>
        <p:nvPicPr>
          <p:cNvPr id="21" name="그래픽 20" descr="고전압 단색으로 채워진">
            <a:extLst>
              <a:ext uri="{FF2B5EF4-FFF2-40B4-BE49-F238E27FC236}">
                <a16:creationId xmlns:a16="http://schemas.microsoft.com/office/drawing/2014/main" id="{5D1196DC-A71A-F175-C042-5E7D627819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59732" y="4056527"/>
            <a:ext cx="914400" cy="914400"/>
          </a:xfrm>
          <a:prstGeom prst="rect">
            <a:avLst/>
          </a:prstGeom>
        </p:spPr>
      </p:pic>
      <p:pic>
        <p:nvPicPr>
          <p:cNvPr id="8" name="그래픽 7" descr="지속적인 개선 단색으로 채워진">
            <a:extLst>
              <a:ext uri="{FF2B5EF4-FFF2-40B4-BE49-F238E27FC236}">
                <a16:creationId xmlns:a16="http://schemas.microsoft.com/office/drawing/2014/main" id="{0D0E0612-78ED-BF89-4FAD-ED1F159471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60814" y="1735771"/>
            <a:ext cx="914400" cy="914400"/>
          </a:xfrm>
          <a:prstGeom prst="rect">
            <a:avLst/>
          </a:prstGeom>
        </p:spPr>
      </p:pic>
      <p:pic>
        <p:nvPicPr>
          <p:cNvPr id="10" name="그래픽 9" descr="지속적인 개선 윤곽선">
            <a:extLst>
              <a:ext uri="{FF2B5EF4-FFF2-40B4-BE49-F238E27FC236}">
                <a16:creationId xmlns:a16="http://schemas.microsoft.com/office/drawing/2014/main" id="{178B322E-84E1-38DE-6ABE-A6F9F929FB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67000" y="1890819"/>
            <a:ext cx="914400" cy="914400"/>
          </a:xfrm>
          <a:prstGeom prst="rect">
            <a:avLst/>
          </a:prstGeom>
        </p:spPr>
      </p:pic>
      <p:pic>
        <p:nvPicPr>
          <p:cNvPr id="12" name="그래픽 11" descr="하비 공 65% 단색으로 채워진">
            <a:extLst>
              <a:ext uri="{FF2B5EF4-FFF2-40B4-BE49-F238E27FC236}">
                <a16:creationId xmlns:a16="http://schemas.microsoft.com/office/drawing/2014/main" id="{BEC253AC-A8B5-43B5-33A3-D60E273979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5400" y="2344273"/>
            <a:ext cx="914400" cy="914400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CAE25721-75DD-A818-1577-BD7F5AA4DB91}"/>
              </a:ext>
            </a:extLst>
          </p:cNvPr>
          <p:cNvGrpSpPr/>
          <p:nvPr/>
        </p:nvGrpSpPr>
        <p:grpSpPr>
          <a:xfrm>
            <a:off x="4943969" y="2797892"/>
            <a:ext cx="272824" cy="325698"/>
            <a:chOff x="4943969" y="2797892"/>
            <a:chExt cx="272824" cy="325698"/>
          </a:xfrm>
        </p:grpSpPr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B4EA4EFC-B3DA-A1A0-6037-816F577E7241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A83F4BE3-02DD-7710-1820-3CCCE3B09F79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B469D8E0-7094-8CEB-0C16-1AF87B1D7277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BA16980F-5E58-138A-2B7B-D8120F2D87A9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2233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2696</TotalTime>
  <Words>3633</Words>
  <Application>Microsoft Office PowerPoint</Application>
  <PresentationFormat>와이드스크린</PresentationFormat>
  <Paragraphs>744</Paragraphs>
  <Slides>56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56</vt:i4>
      </vt:variant>
    </vt:vector>
  </HeadingPairs>
  <TitlesOfParts>
    <vt:vector size="61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개요</vt:lpstr>
      <vt:lpstr>도우미 AI 참고 프리뷰</vt:lpstr>
      <vt:lpstr>게임 정보</vt:lpstr>
      <vt:lpstr>기획 목표</vt:lpstr>
      <vt:lpstr>기획 목표</vt:lpstr>
      <vt:lpstr>게임 전체 플로우 </vt:lpstr>
      <vt:lpstr>게임 플로우 세부</vt:lpstr>
      <vt:lpstr>컨텐츠</vt:lpstr>
      <vt:lpstr>스토리</vt:lpstr>
      <vt:lpstr>플레이어블 캐릭터</vt:lpstr>
      <vt:lpstr>NPC_반응 생물</vt:lpstr>
      <vt:lpstr>NPC_주민</vt:lpstr>
      <vt:lpstr>맵</vt:lpstr>
      <vt:lpstr>맵 지형</vt:lpstr>
      <vt:lpstr>배달품</vt:lpstr>
      <vt:lpstr>상호작용_배달품_예시</vt:lpstr>
      <vt:lpstr>PowerPoint 프레젠테이션</vt:lpstr>
      <vt:lpstr>상호작용_생물</vt:lpstr>
      <vt:lpstr>시스템</vt:lpstr>
      <vt:lpstr>화물</vt:lpstr>
      <vt:lpstr>화물 스탯 관계 다이어그램</vt:lpstr>
      <vt:lpstr>화물 스탯 명세</vt:lpstr>
      <vt:lpstr>화물 스탯 설명</vt:lpstr>
      <vt:lpstr>화물 종류 별 데이터 테이블</vt:lpstr>
      <vt:lpstr>생물 스탯</vt:lpstr>
      <vt:lpstr>생물 스탯 설명</vt:lpstr>
      <vt:lpstr>플레이어 스탯</vt:lpstr>
      <vt:lpstr>플레이어 스탯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이후 사용 가능</vt:lpstr>
      <vt:lpstr>UI_세부_시간예측분석UI_후보1</vt:lpstr>
      <vt:lpstr>UI_세부_시간예측분석UI_후보2</vt:lpstr>
      <vt:lpstr>UI_세부_시간예측분석UI_후보3</vt:lpstr>
      <vt:lpstr>프로토타입 플로우</vt:lpstr>
      <vt:lpstr>데이터 테이블_맵</vt:lpstr>
      <vt:lpstr>NPC_생물_벌 행동트리</vt:lpstr>
      <vt:lpstr>경로 예측</vt:lpstr>
      <vt:lpstr>도우미 AI 구현 계획</vt:lpstr>
      <vt:lpstr>데이터 테이블_NPC,플레이어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178</cp:revision>
  <dcterms:created xsi:type="dcterms:W3CDTF">2026-09-16T19:24:55Z</dcterms:created>
  <dcterms:modified xsi:type="dcterms:W3CDTF">2026-10-12T11:10:41Z</dcterms:modified>
</cp:coreProperties>
</file>