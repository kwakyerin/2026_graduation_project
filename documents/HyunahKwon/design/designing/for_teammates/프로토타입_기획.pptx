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51"/>
  </p:notesMasterIdLst>
  <p:sldIdLst>
    <p:sldId id="256" r:id="rId3"/>
    <p:sldId id="296" r:id="rId4"/>
    <p:sldId id="265" r:id="rId5"/>
    <p:sldId id="295" r:id="rId6"/>
    <p:sldId id="260" r:id="rId7"/>
    <p:sldId id="309" r:id="rId8"/>
    <p:sldId id="286" r:id="rId9"/>
    <p:sldId id="278" r:id="rId10"/>
    <p:sldId id="280" r:id="rId11"/>
    <p:sldId id="307" r:id="rId12"/>
    <p:sldId id="268" r:id="rId13"/>
    <p:sldId id="273" r:id="rId14"/>
    <p:sldId id="272" r:id="rId15"/>
    <p:sldId id="279" r:id="rId16"/>
    <p:sldId id="310" r:id="rId17"/>
    <p:sldId id="297" r:id="rId18"/>
    <p:sldId id="306" r:id="rId19"/>
    <p:sldId id="315" r:id="rId20"/>
    <p:sldId id="316" r:id="rId21"/>
    <p:sldId id="317" r:id="rId22"/>
    <p:sldId id="318" r:id="rId23"/>
    <p:sldId id="319" r:id="rId24"/>
    <p:sldId id="320" r:id="rId25"/>
    <p:sldId id="304" r:id="rId26"/>
    <p:sldId id="303" r:id="rId27"/>
    <p:sldId id="329" r:id="rId28"/>
    <p:sldId id="313" r:id="rId29"/>
    <p:sldId id="327" r:id="rId30"/>
    <p:sldId id="330" r:id="rId31"/>
    <p:sldId id="328" r:id="rId32"/>
    <p:sldId id="314" r:id="rId33"/>
    <p:sldId id="262" r:id="rId34"/>
    <p:sldId id="276" r:id="rId35"/>
    <p:sldId id="269" r:id="rId36"/>
    <p:sldId id="274" r:id="rId37"/>
    <p:sldId id="289" r:id="rId38"/>
    <p:sldId id="294" r:id="rId39"/>
    <p:sldId id="291" r:id="rId40"/>
    <p:sldId id="290" r:id="rId41"/>
    <p:sldId id="263" r:id="rId42"/>
    <p:sldId id="312" r:id="rId43"/>
    <p:sldId id="277" r:id="rId44"/>
    <p:sldId id="305" r:id="rId45"/>
    <p:sldId id="311" r:id="rId46"/>
    <p:sldId id="321" r:id="rId47"/>
    <p:sldId id="322" r:id="rId48"/>
    <p:sldId id="325" r:id="rId49"/>
    <p:sldId id="326" r:id="rId5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3885" autoAdjust="0"/>
  </p:normalViewPr>
  <p:slideViewPr>
    <p:cSldViewPr snapToGrid="0">
      <p:cViewPr varScale="1">
        <p:scale>
          <a:sx n="83" d="100"/>
          <a:sy n="83" d="100"/>
        </p:scale>
        <p:origin x="390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C1683-0A8E-4C89-8718-DB0F1CCCEAC4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47CBC-7971-4E20-A759-0DC8ABE1A2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83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8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프로토타입</a:t>
            </a:r>
            <a:r>
              <a:rPr lang="en-US" altLang="ko-KR" sz="4800" dirty="0"/>
              <a:t>_</a:t>
            </a:r>
            <a:r>
              <a:rPr lang="ko-KR" altLang="en-US" sz="4800" dirty="0"/>
              <a:t>벌꿀 배달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3A975E8-E091-B6A2-4310-626AEC6C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6B8D21-8793-F6E7-FCFC-59C06E386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949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76FB2C5-D248-0BF9-B285-06CE335A2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내 모든 객체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6E29514-6D4D-4038-C32A-B990A91B84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07698"/>
            <a:ext cx="5181600" cy="4969265"/>
          </a:xfrm>
        </p:spPr>
        <p:txBody>
          <a:bodyPr>
            <a:normAutofit/>
          </a:bodyPr>
          <a:lstStyle/>
          <a:p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en-US" altLang="ko-KR" dirty="0"/>
              <a:t>:  1</a:t>
            </a:r>
            <a:r>
              <a:rPr lang="ko-KR" altLang="en-US" dirty="0"/>
              <a:t>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플레이어블</a:t>
            </a:r>
            <a:r>
              <a:rPr lang="ko-KR" altLang="en-US" dirty="0"/>
              <a:t> 캐릭터 </a:t>
            </a:r>
            <a:r>
              <a:rPr lang="en-US" altLang="ko-KR" dirty="0"/>
              <a:t>: 2 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생물 </a:t>
            </a:r>
            <a:r>
              <a:rPr lang="en-US" altLang="ko-KR" dirty="0"/>
              <a:t>: </a:t>
            </a:r>
            <a:r>
              <a:rPr lang="ko-KR" altLang="en-US" dirty="0"/>
              <a:t>벌</a:t>
            </a:r>
            <a:r>
              <a:rPr lang="en-US" altLang="ko-KR" dirty="0"/>
              <a:t>, 20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주민 </a:t>
            </a:r>
            <a:r>
              <a:rPr lang="en-US" altLang="ko-KR" dirty="0"/>
              <a:t>: 1</a:t>
            </a:r>
            <a:r>
              <a:rPr lang="ko-KR" altLang="en-US" dirty="0"/>
              <a:t>객체</a:t>
            </a:r>
          </a:p>
          <a:p>
            <a:endParaRPr lang="en-US" altLang="ko-KR" dirty="0"/>
          </a:p>
          <a:p>
            <a:r>
              <a:rPr lang="ko-KR" altLang="en-US" dirty="0"/>
              <a:t>오브젝트 </a:t>
            </a:r>
            <a:r>
              <a:rPr lang="en-US" altLang="ko-KR" dirty="0"/>
              <a:t>: </a:t>
            </a:r>
            <a:r>
              <a:rPr lang="ko-KR" altLang="en-US" dirty="0"/>
              <a:t>벌집</a:t>
            </a:r>
            <a:r>
              <a:rPr lang="en-US" altLang="ko-KR" dirty="0"/>
              <a:t>, 1</a:t>
            </a:r>
            <a:r>
              <a:rPr lang="ko-KR" altLang="en-US" dirty="0"/>
              <a:t>객체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B0553E-9C54-03A8-BE6D-EDCBF824B51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내용 개체 틀 12" descr="열린 포장 상자 윤곽선">
            <a:extLst>
              <a:ext uri="{FF2B5EF4-FFF2-40B4-BE49-F238E27FC236}">
                <a16:creationId xmlns:a16="http://schemas.microsoft.com/office/drawing/2014/main" id="{FFD5AB11-36C0-BA93-8D5A-DBF7F97304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10686" y="981639"/>
            <a:ext cx="1094050" cy="10940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8825277-94BF-0D71-8A8A-E6E4ECCB7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71" y="2019091"/>
            <a:ext cx="940279" cy="1338090"/>
          </a:xfrm>
          <a:prstGeom prst="rect">
            <a:avLst/>
          </a:prstGeom>
        </p:spPr>
      </p:pic>
      <p:pic>
        <p:nvPicPr>
          <p:cNvPr id="13" name="그래픽 12" descr="벌 단색으로 채워진">
            <a:extLst>
              <a:ext uri="{FF2B5EF4-FFF2-40B4-BE49-F238E27FC236}">
                <a16:creationId xmlns:a16="http://schemas.microsoft.com/office/drawing/2014/main" id="{7742402A-885A-F663-8EB6-D77C1773F1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53981" y="3357181"/>
            <a:ext cx="841897" cy="841897"/>
          </a:xfrm>
          <a:prstGeom prst="rect">
            <a:avLst/>
          </a:prstGeom>
        </p:spPr>
      </p:pic>
      <p:pic>
        <p:nvPicPr>
          <p:cNvPr id="15" name="그래픽 14" descr="댄스 단색으로 채워진">
            <a:extLst>
              <a:ext uri="{FF2B5EF4-FFF2-40B4-BE49-F238E27FC236}">
                <a16:creationId xmlns:a16="http://schemas.microsoft.com/office/drawing/2014/main" id="{B6A640B9-0394-C65D-8633-4460435080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49514" y="4021102"/>
            <a:ext cx="1250832" cy="1250832"/>
          </a:xfrm>
          <a:prstGeom prst="rect">
            <a:avLst/>
          </a:prstGeom>
        </p:spPr>
      </p:pic>
      <p:pic>
        <p:nvPicPr>
          <p:cNvPr id="17" name="그래픽 16" descr="벌집 단색으로 채워진">
            <a:extLst>
              <a:ext uri="{FF2B5EF4-FFF2-40B4-BE49-F238E27FC236}">
                <a16:creationId xmlns:a16="http://schemas.microsoft.com/office/drawing/2014/main" id="{05E7D406-C574-6F6D-7ACD-181BB58EC9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10686" y="5279123"/>
            <a:ext cx="1094050" cy="109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13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r>
              <a:rPr lang="en-US" altLang="ko-KR" dirty="0"/>
              <a:t>_</a:t>
            </a:r>
            <a:r>
              <a:rPr lang="ko-KR" altLang="en-US" dirty="0"/>
              <a:t>벌꿀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/>
              <a:t>배달품</a:t>
            </a:r>
            <a:r>
              <a:rPr lang="ko-KR" altLang="en-US" sz="2000" dirty="0"/>
              <a:t> 품목 </a:t>
            </a:r>
            <a:r>
              <a:rPr lang="en-US" altLang="ko-KR" sz="2000" dirty="0"/>
              <a:t>: </a:t>
            </a:r>
            <a:r>
              <a:rPr lang="ko-KR" altLang="en-US" sz="2000" dirty="0"/>
              <a:t>일반 품목</a:t>
            </a:r>
            <a:r>
              <a:rPr lang="en-US" altLang="ko-KR" sz="2000" dirty="0"/>
              <a:t>(</a:t>
            </a:r>
            <a:r>
              <a:rPr lang="ko-KR" altLang="en-US" sz="2000" dirty="0"/>
              <a:t>일반</a:t>
            </a:r>
            <a:r>
              <a:rPr lang="en-US" altLang="ko-KR" sz="20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상태 </a:t>
            </a:r>
            <a:r>
              <a:rPr lang="en-US" altLang="ko-KR" sz="2000" dirty="0"/>
              <a:t>: </a:t>
            </a:r>
            <a:r>
              <a:rPr lang="ko-KR" altLang="en-US" sz="2000" dirty="0"/>
              <a:t>배달 중</a:t>
            </a:r>
            <a:r>
              <a:rPr lang="en-US" altLang="ko-KR" sz="2000" dirty="0"/>
              <a:t>, </a:t>
            </a:r>
            <a:r>
              <a:rPr lang="ko-KR" altLang="en-US" sz="2000" dirty="0"/>
              <a:t>시간 안에 배달 완료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시간 초과 배달</a:t>
            </a:r>
            <a:br>
              <a:rPr lang="en-US" altLang="ko-KR" sz="2000" dirty="0"/>
            </a:b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완료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배달함</a:t>
            </a: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실패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9185" y="2213462"/>
            <a:ext cx="2431076" cy="2431076"/>
          </a:xfrm>
          <a:prstGeom prst="rect">
            <a:avLst/>
          </a:prstGeom>
        </p:spPr>
      </p:pic>
      <p:pic>
        <p:nvPicPr>
          <p:cNvPr id="9" name="그래픽 8" descr="꿀단지 단색으로 채워진">
            <a:extLst>
              <a:ext uri="{FF2B5EF4-FFF2-40B4-BE49-F238E27FC236}">
                <a16:creationId xmlns:a16="http://schemas.microsoft.com/office/drawing/2014/main" id="{4397C4FC-B19F-E1AD-F28D-8E2F4C5753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4326" y="2839169"/>
            <a:ext cx="1379373" cy="137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7C140D-E86B-270D-1CE5-4851CC513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1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EBD7E6DC-F3F8-DD0A-B4B4-560D135E85D9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1C8B2-C126-642B-FBD6-82F8A408532B}"/>
              </a:ext>
            </a:extLst>
          </p:cNvPr>
          <p:cNvSpPr txBox="1"/>
          <p:nvPr/>
        </p:nvSpPr>
        <p:spPr>
          <a:xfrm>
            <a:off x="3590970" y="1131661"/>
            <a:ext cx="1025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주거지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배송지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630BB9DE-1E50-5805-7990-3BE5A2E1C179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9778F73-C79D-4121-BEE5-BE0413C0082E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A3C68D09-1906-3268-BBA6-D01C19066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F088EC4D-00A9-11FF-3933-F03C131EE552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D5810BEF-430A-903B-AFDD-8B3F3341E935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6C3AF25B-74B2-87EF-DA55-49672FD6763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0A76D0A-56A2-8E7C-F21A-DF9F58C58BF5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40EB758-5DD8-06B5-CF66-DB08701E0965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2DB6651-59F0-73C0-E771-4DAC49EC1B07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06" name="이등변 삼각형 105">
            <a:extLst>
              <a:ext uri="{FF2B5EF4-FFF2-40B4-BE49-F238E27FC236}">
                <a16:creationId xmlns:a16="http://schemas.microsoft.com/office/drawing/2014/main" id="{16050E1F-3C3F-8F16-B8DE-8DC9979AEBCA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56659"/>
            <a:ext cx="5181600" cy="482030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800" dirty="0"/>
              <a:t>모래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1/2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몬스터 없음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늪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1/3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방향전환율 </a:t>
            </a:r>
            <a:r>
              <a:rPr lang="en-US" altLang="ko-KR" sz="1800" dirty="0"/>
              <a:t>1/4 </a:t>
            </a:r>
            <a:r>
              <a:rPr lang="ko-KR" altLang="en-US" sz="1800" dirty="0"/>
              <a:t>감소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수중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플레이어에게 묻은 냄새 제거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산 </a:t>
            </a:r>
            <a:r>
              <a:rPr lang="en-US" altLang="ko-KR" sz="1800" dirty="0"/>
              <a:t>: </a:t>
            </a:r>
            <a:r>
              <a:rPr lang="ko-KR" altLang="en-US" sz="1800" dirty="0"/>
              <a:t>일반적으로 지나갈 수 없을 정도로 강한 존재가 있음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숲</a:t>
            </a:r>
            <a:r>
              <a:rPr lang="en-US" altLang="ko-KR" sz="1800" dirty="0"/>
              <a:t>: </a:t>
            </a:r>
            <a:r>
              <a:rPr lang="ko-KR" altLang="en-US" sz="1800" dirty="0"/>
              <a:t>일반 지형</a:t>
            </a:r>
            <a:endParaRPr lang="en-US" altLang="ko-KR" sz="18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79DACBC-3CAB-8EF9-57B8-7C2921780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6EE55D26-E1DF-0F72-9B4A-80B5BEA678EA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0EBA149-695C-638F-AF81-E11BBE51039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8FFDABD-E7F9-1848-1C81-F5E58C10C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F06EF77A-6096-EC45-E887-2FE11306664A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9C6DC375-A670-3774-7911-2A16DFA4EB52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7E653197-3FFA-609C-581C-24AC71DCC634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95C96E5-2419-8F85-B650-ABE6377F0E7A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7DC269-5F72-D3C4-1657-AE99E383913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AC2BA5-1C89-B81F-0D15-E2EEB5BC2D53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그래픽 34" descr="배지 1 단색으로 채워진">
            <a:extLst>
              <a:ext uri="{FF2B5EF4-FFF2-40B4-BE49-F238E27FC236}">
                <a16:creationId xmlns:a16="http://schemas.microsoft.com/office/drawing/2014/main" id="{783B4CBB-616D-3F80-1059-79845394D219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34" descr="배지 1 단색으로 채워진">
            <a:extLst>
              <a:ext uri="{FF2B5EF4-FFF2-40B4-BE49-F238E27FC236}">
                <a16:creationId xmlns:a16="http://schemas.microsoft.com/office/drawing/2014/main" id="{7D6C51E4-EF6A-F351-B463-EDD8C3A034F8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881E76B-01E6-66EE-9FB5-F3CAF335B115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6D0AA926-C5DC-1199-AF1F-12AE57BA2C59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DEEC308A-6045-2162-381B-F39E36CBC779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그래픽 42" descr="배지 3 단색으로 채워진">
            <a:extLst>
              <a:ext uri="{FF2B5EF4-FFF2-40B4-BE49-F238E27FC236}">
                <a16:creationId xmlns:a16="http://schemas.microsoft.com/office/drawing/2014/main" id="{2299B07F-2549-DACA-EFDA-5FB3EC77500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그래픽 44" descr="배지 5 단색으로 채워진">
            <a:extLst>
              <a:ext uri="{FF2B5EF4-FFF2-40B4-BE49-F238E27FC236}">
                <a16:creationId xmlns:a16="http://schemas.microsoft.com/office/drawing/2014/main" id="{CC988554-8A06-5541-0B75-E4689ED6DB1E}"/>
              </a:ext>
            </a:extLst>
          </p:cNvPr>
          <p:cNvSpPr/>
          <p:nvPr/>
        </p:nvSpPr>
        <p:spPr>
          <a:xfrm>
            <a:off x="5837990" y="5596674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32A6F23D-4C0B-4EA2-8C8A-379625CF6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554305"/>
            <a:ext cx="387752" cy="387752"/>
          </a:xfrm>
          <a:prstGeom prst="rect">
            <a:avLst/>
          </a:prstGeom>
        </p:spPr>
      </p:pic>
      <p:sp>
        <p:nvSpPr>
          <p:cNvPr id="55" name="그래픽 44" descr="배지 5 단색으로 채워진">
            <a:extLst>
              <a:ext uri="{FF2B5EF4-FFF2-40B4-BE49-F238E27FC236}">
                <a16:creationId xmlns:a16="http://schemas.microsoft.com/office/drawing/2014/main" id="{D0352FE1-A545-F535-9EFC-EC43B4D8132F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D9FB4A57-A602-FD19-5938-DBA67D8B0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3442438"/>
              </p:ext>
            </p:extLst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</a:t>
            </a:r>
            <a:br>
              <a:rPr lang="en-US" altLang="ko-KR" sz="2400" dirty="0"/>
            </a:br>
            <a:r>
              <a:rPr lang="en-US" altLang="ko-KR" sz="2400" dirty="0"/>
              <a:t>(+ </a:t>
            </a:r>
            <a:r>
              <a:rPr lang="ko-KR" altLang="en-US" sz="2400" dirty="0"/>
              <a:t>경로 안내 켜기</a:t>
            </a:r>
            <a:r>
              <a:rPr lang="en-US" altLang="ko-KR" sz="2400" dirty="0"/>
              <a:t>)</a:t>
            </a:r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장소에서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03B101AC-9E6F-ABED-3754-1AA372F36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벌꿀에 반응해 배송품을 </a:t>
            </a:r>
            <a:br>
              <a:rPr lang="en-US" altLang="ko-KR" sz="2400" dirty="0"/>
            </a:br>
            <a:r>
              <a:rPr lang="ko-KR" altLang="en-US" sz="2400" dirty="0"/>
              <a:t>쫓아 플레이어의 주위를 둘러싸</a:t>
            </a:r>
            <a:br>
              <a:rPr lang="en-US" altLang="ko-KR" sz="2400" dirty="0"/>
            </a:br>
            <a:r>
              <a:rPr lang="ko-KR" altLang="en-US" sz="2400" dirty="0"/>
              <a:t>방해함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벌의 행동반경에서 최대한 </a:t>
            </a:r>
            <a:br>
              <a:rPr lang="en-US" altLang="ko-KR" sz="2400" dirty="0"/>
            </a:br>
            <a:r>
              <a:rPr lang="ko-KR" altLang="en-US" sz="2400" dirty="0"/>
              <a:t>빨리 벗어나기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잘못된 </a:t>
            </a: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벌집 사격</a:t>
            </a:r>
            <a:r>
              <a:rPr lang="en-US" altLang="ko-KR" sz="2400" dirty="0"/>
              <a:t>(</a:t>
            </a:r>
            <a:r>
              <a:rPr lang="ko-KR" altLang="en-US" sz="2400" dirty="0"/>
              <a:t>사격 시 </a:t>
            </a:r>
            <a:br>
              <a:rPr lang="en-US" altLang="ko-KR" sz="2400" dirty="0"/>
            </a:br>
            <a:r>
              <a:rPr lang="ko-KR" altLang="en-US" sz="2400" dirty="0"/>
              <a:t>잠시간 방해 중지</a:t>
            </a:r>
            <a:r>
              <a:rPr lang="en-US" altLang="ko-KR" sz="2400" dirty="0"/>
              <a:t>, </a:t>
            </a:r>
            <a:r>
              <a:rPr lang="ko-KR" altLang="en-US" sz="2400" dirty="0"/>
              <a:t>이후 다시 방해</a:t>
            </a:r>
            <a:r>
              <a:rPr lang="en-US" altLang="ko-KR" sz="2400" dirty="0"/>
              <a:t>)</a:t>
            </a:r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고인물의 활용법 </a:t>
            </a:r>
            <a:r>
              <a:rPr lang="en-US" altLang="ko-KR" sz="2400" dirty="0"/>
              <a:t>: </a:t>
            </a:r>
            <a:r>
              <a:rPr lang="ko-KR" altLang="en-US" sz="2400" dirty="0"/>
              <a:t>벌집을 사격해 이동속도 증가를 활용하는 것이 가능함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CDE72430-0AEC-9BEF-6BA9-0D5F0CE962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4666" y="2540479"/>
            <a:ext cx="1595412" cy="1595412"/>
          </a:xfrm>
          <a:prstGeom prst="rect">
            <a:avLst/>
          </a:prstGeom>
        </p:spPr>
      </p:pic>
      <p:pic>
        <p:nvPicPr>
          <p:cNvPr id="11" name="그래픽 10" descr="벌집 단색으로 채워진">
            <a:extLst>
              <a:ext uri="{FF2B5EF4-FFF2-40B4-BE49-F238E27FC236}">
                <a16:creationId xmlns:a16="http://schemas.microsoft.com/office/drawing/2014/main" id="{57C6287E-1562-636E-E7CE-4DC8C281B2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0874" y="2540479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8036482" y="1774053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7196540" y="4248060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4" idx="1"/>
          </p:cNvCxnSpPr>
          <p:nvPr/>
        </p:nvCxnSpPr>
        <p:spPr>
          <a:xfrm flipH="1">
            <a:off x="5661960" y="3097413"/>
            <a:ext cx="290266" cy="959177"/>
          </a:xfrm>
          <a:prstGeom prst="bentConnector5">
            <a:avLst>
              <a:gd name="adj1" fmla="val -78755"/>
              <a:gd name="adj2" fmla="val 47857"/>
              <a:gd name="adj3" fmla="val 1787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1584532" cy="9006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587088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 flipV="1">
            <a:off x="9334790" y="3442512"/>
            <a:ext cx="252298" cy="12693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8036482" y="2001176"/>
            <a:ext cx="2644712" cy="1441336"/>
          </a:xfrm>
          <a:prstGeom prst="bentConnector5">
            <a:avLst>
              <a:gd name="adj1" fmla="val -8644"/>
              <a:gd name="adj2" fmla="val 53617"/>
              <a:gd name="adj3" fmla="val 10864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57445" y="3551247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33073" y="3551247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5475CB-7428-F7DF-60BC-05432D8CE4DD}"/>
              </a:ext>
            </a:extLst>
          </p:cNvPr>
          <p:cNvSpPr/>
          <p:nvPr/>
        </p:nvSpPr>
        <p:spPr>
          <a:xfrm>
            <a:off x="5661960" y="3670391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꺾인 양쪽 화살표 연결선 18">
            <a:extLst>
              <a:ext uri="{FF2B5EF4-FFF2-40B4-BE49-F238E27FC236}">
                <a16:creationId xmlns:a16="http://schemas.microsoft.com/office/drawing/2014/main" id="{655F7FC1-0066-D318-5B19-ECF44FB09F4B}"/>
              </a:ext>
            </a:extLst>
          </p:cNvPr>
          <p:cNvCxnSpPr>
            <a:cxnSpLocks/>
            <a:stCxn id="4" idx="3"/>
            <a:endCxn id="32" idx="1"/>
          </p:cNvCxnSpPr>
          <p:nvPr/>
        </p:nvCxnSpPr>
        <p:spPr>
          <a:xfrm>
            <a:off x="6857998" y="4056590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3748910"/>
              </p:ext>
            </p:extLst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54851672"/>
              </p:ext>
            </p:extLst>
          </p:nvPr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2BB88-309A-92F6-9391-C180C332E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2AF34-CE95-1E89-3457-973D3F49E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B2046-069D-CC1E-F35E-0BCAF58249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45451E1-C906-21D2-E8E8-F05F1AC6D17E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D2192B84-B964-FBF7-A006-F951C73DDCE7}"/>
              </a:ext>
            </a:extLst>
          </p:cNvPr>
          <p:cNvCxnSpPr>
            <a:cxnSpLocks/>
            <a:stCxn id="129" idx="3"/>
            <a:endCxn id="1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1D295A4-913E-ADC2-2909-B07AC4508DE0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5983472-EE13-9CB5-1D9E-2308B0D0E716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53B8788-56C9-59D7-9F04-25CA45CF15D0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494D74E3-05AC-0DDF-2128-1BA0E8156902}"/>
              </a:ext>
            </a:extLst>
          </p:cNvPr>
          <p:cNvCxnSpPr>
            <a:cxnSpLocks/>
            <a:stCxn id="129" idx="3"/>
            <a:endCxn id="15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D840C0B-0723-0EF8-977F-245AC396DD45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AB66E49E-DD7C-66A7-C579-7853114EF306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E3BAE558-A243-5D1A-116D-896A5C8120CF}"/>
              </a:ext>
            </a:extLst>
          </p:cNvPr>
          <p:cNvCxnSpPr>
            <a:cxnSpLocks/>
            <a:stCxn id="15" idx="3"/>
            <a:endCxn id="33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8E15F792-E1E2-E6D3-5C3E-8655A10F227B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8935A02D-E2CC-7F95-BE77-18B6CC902198}"/>
              </a:ext>
            </a:extLst>
          </p:cNvPr>
          <p:cNvCxnSpPr>
            <a:cxnSpLocks/>
            <a:stCxn id="15" idx="3"/>
            <a:endCxn id="35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6358268E-49DD-107B-9156-D8C680237B23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FF23A49A-53DC-6D99-C84C-5F700F08043D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F8C42F2F-1605-2BEA-BBDB-30A8CB671DC5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AD0AA0D-2419-5B3C-63D9-9ABE8B5A1D1C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3FAE763-22F3-A4ED-DD89-2B7B21F3B6AE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8A3FC1A6-4270-5D1D-8AE7-6EB0DB320676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3A75F19-376D-D094-0A10-A0590798D86D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3ADAA6B-53B2-8B57-5A36-ABF50FFFA0BC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4862F32-CB29-0E6E-D277-54A2BAE5BDB6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C16E12-7ECC-E5DB-3D30-A89C5ED64715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C56EA940-239E-2A5A-D1F2-B83DAC36102E}"/>
              </a:ext>
            </a:extLst>
          </p:cNvPr>
          <p:cNvCxnSpPr>
            <a:cxnSpLocks/>
            <a:stCxn id="104" idx="2"/>
            <a:endCxn id="48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타원 103">
            <a:extLst>
              <a:ext uri="{FF2B5EF4-FFF2-40B4-BE49-F238E27FC236}">
                <a16:creationId xmlns:a16="http://schemas.microsoft.com/office/drawing/2014/main" id="{B8726C45-0EAE-8256-2FDE-81B3E3FC9FC4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9886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플레이어의 평균 속력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지형 비용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벌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방해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EB222D-2353-B17A-801D-3A4A72DC4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핵심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F3659E-D04F-C0CE-73F7-1D512F9090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</a:pPr>
            <a:r>
              <a:rPr lang="en-US" altLang="ko-KR" dirty="0"/>
              <a:t>Behavior Tree</a:t>
            </a:r>
            <a:r>
              <a:rPr lang="ko-KR" altLang="en-US" dirty="0"/>
              <a:t>로 제작하지 </a:t>
            </a:r>
            <a:r>
              <a:rPr lang="en-US" altLang="ko-KR" dirty="0"/>
              <a:t>X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en-US" altLang="ko-KR" dirty="0"/>
              <a:t>Behavior Tree</a:t>
            </a:r>
            <a:r>
              <a:rPr lang="ko-KR" altLang="en-US" dirty="0"/>
              <a:t>는 생물 행동에 사용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NavMesh</a:t>
            </a:r>
            <a:r>
              <a:rPr lang="en-US" altLang="ko-KR" dirty="0"/>
              <a:t> </a:t>
            </a:r>
            <a:r>
              <a:rPr lang="ko-KR" altLang="en-US" dirty="0"/>
              <a:t>일부 사용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실제로 이동이 가능한지</a:t>
            </a:r>
            <a:r>
              <a:rPr lang="en-US" altLang="ko-KR" dirty="0"/>
              <a:t>, </a:t>
            </a:r>
            <a:r>
              <a:rPr lang="ko-KR" altLang="en-US" dirty="0"/>
              <a:t>실제 이동 거리는 </a:t>
            </a:r>
            <a:r>
              <a:rPr lang="ko-KR" altLang="en-US" dirty="0" err="1"/>
              <a:t>얼만큼인지</a:t>
            </a:r>
            <a:r>
              <a:rPr lang="en-US" altLang="ko-KR" dirty="0"/>
              <a:t>, </a:t>
            </a:r>
            <a:r>
              <a:rPr lang="ko-KR" altLang="en-US" dirty="0"/>
              <a:t>어떤 지형을 지나가는지 확인의 역할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경로는 경로 후보가 존재하므로 </a:t>
            </a:r>
            <a:r>
              <a:rPr lang="en-US" altLang="ko-KR" dirty="0"/>
              <a:t>Graph </a:t>
            </a:r>
            <a:r>
              <a:rPr lang="ko-KR" altLang="en-US" dirty="0"/>
              <a:t>구조로 관리</a:t>
            </a: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355AAD6-47D7-C4D1-D7C1-504BF468C1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sz="2600" dirty="0"/>
              <a:t>도우미 </a:t>
            </a:r>
            <a:r>
              <a:rPr lang="en-US" altLang="ko-KR" sz="2600" dirty="0"/>
              <a:t>AI</a:t>
            </a:r>
            <a:r>
              <a:rPr lang="ko-KR" altLang="en-US" sz="2600" dirty="0"/>
              <a:t> </a:t>
            </a:r>
            <a:r>
              <a:rPr lang="en-US" altLang="ko-KR" sz="2600" dirty="0"/>
              <a:t>= </a:t>
            </a:r>
            <a:br>
              <a:rPr lang="en-US" altLang="ko-KR" sz="2600" dirty="0"/>
            </a:br>
            <a:r>
              <a:rPr lang="en-US" altLang="ko-KR" sz="2600" dirty="0"/>
              <a:t>AI </a:t>
            </a:r>
            <a:r>
              <a:rPr lang="ko-KR" altLang="en-US" sz="2600" dirty="0"/>
              <a:t>매니저 </a:t>
            </a:r>
            <a:r>
              <a:rPr lang="en-US" altLang="ko-KR" sz="2600" dirty="0"/>
              <a:t>+ (</a:t>
            </a:r>
            <a:r>
              <a:rPr lang="ko-KR" altLang="en-US" sz="2600" dirty="0"/>
              <a:t>경로</a:t>
            </a:r>
            <a:r>
              <a:rPr lang="en-US" altLang="ko-KR" sz="2600" dirty="0"/>
              <a:t>)</a:t>
            </a:r>
            <a:r>
              <a:rPr lang="ko-KR" altLang="en-US" sz="2600" dirty="0"/>
              <a:t>그래프 </a:t>
            </a:r>
            <a:r>
              <a:rPr lang="en-US" altLang="ko-KR" sz="2600" dirty="0"/>
              <a:t>+ </a:t>
            </a:r>
            <a:r>
              <a:rPr lang="ko-KR" altLang="en-US" sz="2600" dirty="0"/>
              <a:t>동적 비용평가 알고리즘</a:t>
            </a:r>
          </a:p>
          <a:p>
            <a:pPr>
              <a:lnSpc>
                <a:spcPct val="110000"/>
              </a:lnSpc>
            </a:pPr>
            <a:endParaRPr lang="en-US" altLang="ko-KR" sz="2600" dirty="0"/>
          </a:p>
          <a:p>
            <a:pPr>
              <a:lnSpc>
                <a:spcPct val="110000"/>
              </a:lnSpc>
            </a:pPr>
            <a:r>
              <a:rPr lang="en-US" altLang="ko-KR" sz="2600" dirty="0"/>
              <a:t>EQS</a:t>
            </a:r>
            <a:r>
              <a:rPr lang="ko-KR" altLang="en-US" sz="2600" dirty="0"/>
              <a:t>는 프로토타입에는 적용하지 </a:t>
            </a:r>
            <a:r>
              <a:rPr lang="en-US" altLang="ko-KR" sz="2600" dirty="0"/>
              <a:t>X</a:t>
            </a:r>
            <a:br>
              <a:rPr lang="en-US" altLang="ko-KR" sz="2600" dirty="0"/>
            </a:br>
            <a:r>
              <a:rPr lang="en-US" altLang="ko-KR" sz="2600" dirty="0"/>
              <a:t>(</a:t>
            </a:r>
            <a:r>
              <a:rPr lang="ko-KR" altLang="en-US" sz="2600" dirty="0"/>
              <a:t>프로토타입 검토 후</a:t>
            </a:r>
            <a:r>
              <a:rPr lang="en-US" altLang="ko-KR" sz="2600" dirty="0"/>
              <a:t>,</a:t>
            </a:r>
            <a:r>
              <a:rPr lang="ko-KR" altLang="en-US" sz="2600" dirty="0"/>
              <a:t> 사용 여부 판단</a:t>
            </a:r>
            <a:r>
              <a:rPr lang="en-US" altLang="ko-KR" sz="2600" dirty="0"/>
              <a:t>)</a:t>
            </a:r>
            <a:endParaRPr lang="ko-KR" altLang="en-US" sz="2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A3DA03-D272-1221-5D3E-686E815D1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4166A3-266B-A327-FD7E-1E933923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3A843C7-A6EA-F261-B8A7-AA9701689B6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89537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2694F-BB34-3865-78CB-427B6F6F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F598EA-1663-6B6C-63A8-528F641B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5586EC-EB96-8A4D-568C-42C42576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E97A5A-C7C0-27D5-DF76-DD2CE357EA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6CDC0C-5224-9483-DA14-F55174EDA89E}"/>
              </a:ext>
            </a:extLst>
          </p:cNvPr>
          <p:cNvSpPr/>
          <p:nvPr/>
        </p:nvSpPr>
        <p:spPr>
          <a:xfrm>
            <a:off x="1324583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87E657A-902A-84B2-863E-84A97D7E864A}"/>
              </a:ext>
            </a:extLst>
          </p:cNvPr>
          <p:cNvSpPr/>
          <p:nvPr/>
        </p:nvSpPr>
        <p:spPr>
          <a:xfrm>
            <a:off x="5035685" y="2055164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C89F67-5D53-B461-827B-C5E1A6919E2B}"/>
              </a:ext>
            </a:extLst>
          </p:cNvPr>
          <p:cNvSpPr/>
          <p:nvPr/>
        </p:nvSpPr>
        <p:spPr>
          <a:xfrm>
            <a:off x="8746787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606E67-A596-4E9F-D6B2-CC5FCBECE082}"/>
              </a:ext>
            </a:extLst>
          </p:cNvPr>
          <p:cNvSpPr/>
          <p:nvPr/>
        </p:nvSpPr>
        <p:spPr>
          <a:xfrm>
            <a:off x="3579472" y="4226358"/>
            <a:ext cx="253378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비동기 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ETA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계산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AI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매니저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((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반드시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서버에서 실행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776141-E99D-915D-9DBE-275D49F94EC7}"/>
              </a:ext>
            </a:extLst>
          </p:cNvPr>
          <p:cNvSpPr/>
          <p:nvPr/>
        </p:nvSpPr>
        <p:spPr>
          <a:xfrm>
            <a:off x="6304686" y="4226359"/>
            <a:ext cx="2399976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구조체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경로별 </a:t>
            </a:r>
            <a:r>
              <a:rPr lang="en-US" altLang="ko-KR" dirty="0">
                <a:solidFill>
                  <a:schemeClr val="tx1"/>
                </a:solidFill>
              </a:rPr>
              <a:t>ETA + </a:t>
            </a:r>
            <a:r>
              <a:rPr lang="ko-KR" altLang="en-US" dirty="0">
                <a:solidFill>
                  <a:schemeClr val="tx1"/>
                </a:solidFill>
              </a:rPr>
              <a:t>위험도 </a:t>
            </a:r>
            <a:r>
              <a:rPr lang="en-US" altLang="ko-KR" dirty="0">
                <a:solidFill>
                  <a:schemeClr val="tx1"/>
                </a:solidFill>
              </a:rPr>
              <a:t>+</a:t>
            </a:r>
            <a:r>
              <a:rPr lang="ko-KR" altLang="en-US" dirty="0">
                <a:solidFill>
                  <a:schemeClr val="tx1"/>
                </a:solidFill>
              </a:rPr>
              <a:t> 지형 영향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4B5739B-D5C2-F945-0EC4-A074D86B408D}"/>
              </a:ext>
            </a:extLst>
          </p:cNvPr>
          <p:cNvSpPr/>
          <p:nvPr/>
        </p:nvSpPr>
        <p:spPr>
          <a:xfrm>
            <a:off x="9000285" y="3770424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1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1 : 10t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6A4F68-BB1D-02C2-2F3A-EEEEF406E941}"/>
              </a:ext>
            </a:extLst>
          </p:cNvPr>
          <p:cNvSpPr/>
          <p:nvPr/>
        </p:nvSpPr>
        <p:spPr>
          <a:xfrm>
            <a:off x="9000285" y="4704280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2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2: 20t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34B8056-3F1A-6FF9-9F17-F4914557C25E}"/>
              </a:ext>
            </a:extLst>
          </p:cNvPr>
          <p:cNvSpPr/>
          <p:nvPr/>
        </p:nvSpPr>
        <p:spPr>
          <a:xfrm>
            <a:off x="637862" y="4117624"/>
            <a:ext cx="2743201" cy="11513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경로 후보 </a:t>
            </a:r>
            <a:r>
              <a:rPr lang="en-US" altLang="ko-KR" dirty="0">
                <a:solidFill>
                  <a:schemeClr val="tx1"/>
                </a:solidFill>
              </a:rPr>
              <a:t>1,2,3</a:t>
            </a:r>
            <a:r>
              <a:rPr lang="ko-KR" altLang="en-US" dirty="0">
                <a:solidFill>
                  <a:schemeClr val="tx1"/>
                </a:solidFill>
              </a:rPr>
              <a:t>의 데이터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기본 소요 시간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지형 비율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생물 위험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F9E76-02BB-6614-DDB2-D55DD7BE8FE6}"/>
              </a:ext>
            </a:extLst>
          </p:cNvPr>
          <p:cNvSpPr/>
          <p:nvPr/>
        </p:nvSpPr>
        <p:spPr>
          <a:xfrm>
            <a:off x="4947081" y="961347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92B3E80-8E0F-5228-4CE1-F58B1913D81B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5400000">
            <a:off x="6160504" y="1876475"/>
            <a:ext cx="357378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9CA199E6-7DF1-1886-D72D-CE8E84A4A76C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5400000">
            <a:off x="4291580" y="34297"/>
            <a:ext cx="384124" cy="371110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59FCCBF1-6F82-7647-3FBC-6D8E944B533C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16200000" flipH="1">
            <a:off x="8002681" y="34297"/>
            <a:ext cx="384124" cy="37111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8412A750-7BED-4256-D535-7B7F196F032D}"/>
              </a:ext>
            </a:extLst>
          </p:cNvPr>
          <p:cNvCxnSpPr>
            <a:cxnSpLocks/>
            <a:stCxn id="10" idx="2"/>
            <a:endCxn id="23" idx="0"/>
          </p:cNvCxnSpPr>
          <p:nvPr/>
        </p:nvCxnSpPr>
        <p:spPr>
          <a:xfrm rot="5400000">
            <a:off x="3610026" y="1388457"/>
            <a:ext cx="1128605" cy="432972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6FE2729C-2CE7-1408-D887-CDA775CBF8BC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3381063" y="4693285"/>
            <a:ext cx="198409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44AE257E-0436-F864-69CC-A1916FF9EE8D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6113255" y="4693286"/>
            <a:ext cx="191431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0EB0306E-4B3C-7761-26BE-7034FC272FF2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8704662" y="4693287"/>
            <a:ext cx="295623" cy="47792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양쪽 화살표 연결선 18">
            <a:extLst>
              <a:ext uri="{FF2B5EF4-FFF2-40B4-BE49-F238E27FC236}">
                <a16:creationId xmlns:a16="http://schemas.microsoft.com/office/drawing/2014/main" id="{A2F5E3A9-86B8-A04B-4EA8-0AA7A77418F1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8704662" y="4237352"/>
            <a:ext cx="295623" cy="4559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2999D8F3-0CCD-BE5E-19BD-E5CD4FA2357D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rot="5400000">
            <a:off x="5478950" y="-453721"/>
            <a:ext cx="1101859" cy="80408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18">
            <a:extLst>
              <a:ext uri="{FF2B5EF4-FFF2-40B4-BE49-F238E27FC236}">
                <a16:creationId xmlns:a16="http://schemas.microsoft.com/office/drawing/2014/main" id="{F50A5E99-6D20-A8C7-F82D-5D3587414226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 rot="5400000">
            <a:off x="1767848" y="3257381"/>
            <a:ext cx="1101859" cy="61862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9373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D8A86-A4AE-41AE-2C62-21D9B42E4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AI </a:t>
            </a:r>
            <a:r>
              <a:rPr lang="ko-KR" altLang="en-US" dirty="0"/>
              <a:t>매니저의 역할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2275BB-7254-7E7D-ED7C-AF710286BF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현재 </a:t>
            </a:r>
            <a:r>
              <a:rPr lang="ko-KR" altLang="en-US" dirty="0" err="1"/>
              <a:t>배달품</a:t>
            </a:r>
            <a:r>
              <a:rPr lang="ko-KR" altLang="en-US" dirty="0"/>
              <a:t> 확인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각 경로별 지형 확인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경로별</a:t>
            </a:r>
            <a:r>
              <a:rPr lang="en-US" altLang="ko-KR" dirty="0"/>
              <a:t>/</a:t>
            </a:r>
            <a:r>
              <a:rPr lang="ko-KR" altLang="en-US" dirty="0"/>
              <a:t>주변 생물 확인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각 경로별 예상 소요시간 계산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각 경로의 순위가 아니라 평가 결과 생성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플레이어 </a:t>
            </a:r>
            <a:r>
              <a:rPr lang="en-US" altLang="ko-KR" dirty="0"/>
              <a:t>UI</a:t>
            </a:r>
            <a:r>
              <a:rPr lang="ko-KR" altLang="en-US" dirty="0"/>
              <a:t>에 전달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환경 변화가 발생하면 재계산</a:t>
            </a:r>
            <a:r>
              <a:rPr lang="en-US" altLang="ko-KR" dirty="0"/>
              <a:t>)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6AA815-1CFD-008F-675B-5EA554C88C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/>
              <a:t>[</a:t>
            </a:r>
            <a:r>
              <a:rPr lang="ko-KR" altLang="en-US" sz="2400" dirty="0"/>
              <a:t>예외사항</a:t>
            </a:r>
            <a:r>
              <a:rPr lang="en-US" altLang="ko-KR" sz="2400" dirty="0"/>
              <a:t>]</a:t>
            </a:r>
            <a:br>
              <a:rPr lang="en-US" altLang="ko-KR" sz="2400" dirty="0"/>
            </a:br>
            <a:r>
              <a:rPr lang="ko-KR" altLang="en-US" sz="2400" dirty="0" err="1"/>
              <a:t>배달품</a:t>
            </a:r>
            <a:r>
              <a:rPr lang="ko-KR" altLang="en-US" sz="2400" dirty="0"/>
              <a:t> 미소지자가 </a:t>
            </a:r>
            <a:r>
              <a:rPr lang="ko-KR" altLang="en-US" sz="2400" dirty="0" err="1"/>
              <a:t>배달품</a:t>
            </a:r>
            <a:r>
              <a:rPr lang="ko-KR" altLang="en-US" sz="2400" dirty="0"/>
              <a:t> 소지자와 일정 거리 이상 떨어질 경우</a:t>
            </a:r>
            <a:r>
              <a:rPr lang="en-US" altLang="ko-KR" sz="2400" dirty="0"/>
              <a:t> : </a:t>
            </a:r>
            <a:br>
              <a:rPr lang="en-US" altLang="ko-KR" sz="2400" dirty="0"/>
            </a:br>
            <a:r>
              <a:rPr lang="ko-KR" altLang="en-US" sz="2400" dirty="0" err="1"/>
              <a:t>배달품</a:t>
            </a:r>
            <a:r>
              <a:rPr lang="ko-KR" altLang="en-US" sz="2400" dirty="0"/>
              <a:t> 미소지자 경로의 목적지는</a:t>
            </a:r>
            <a:br>
              <a:rPr lang="en-US" altLang="ko-KR" sz="2400" dirty="0"/>
            </a:br>
            <a:r>
              <a:rPr lang="en-US" altLang="ko-KR" sz="2400" dirty="0"/>
              <a:t>{</a:t>
            </a:r>
            <a:r>
              <a:rPr lang="ko-KR" altLang="en-US" sz="2400" dirty="0"/>
              <a:t>배송지</a:t>
            </a:r>
            <a:r>
              <a:rPr lang="en-US" altLang="ko-KR" sz="2400" dirty="0"/>
              <a:t>}</a:t>
            </a:r>
            <a:r>
              <a:rPr lang="ko-KR" altLang="en-US" sz="2400" dirty="0"/>
              <a:t>에서 </a:t>
            </a:r>
            <a:r>
              <a:rPr lang="en-US" altLang="ko-KR" sz="2400" dirty="0"/>
              <a:t>-&gt; {</a:t>
            </a:r>
            <a:r>
              <a:rPr lang="ko-KR" altLang="en-US" sz="2400" dirty="0" err="1"/>
              <a:t>배달품</a:t>
            </a:r>
            <a:r>
              <a:rPr lang="ko-KR" altLang="en-US" sz="2400" dirty="0"/>
              <a:t> 소지자</a:t>
            </a:r>
            <a:r>
              <a:rPr lang="en-US" altLang="ko-KR" sz="2400" dirty="0"/>
              <a:t>}</a:t>
            </a:r>
            <a:r>
              <a:rPr lang="ko-KR" altLang="en-US" sz="2400" dirty="0"/>
              <a:t>로 변경됨</a:t>
            </a:r>
          </a:p>
          <a:p>
            <a:pPr>
              <a:lnSpc>
                <a:spcPct val="120000"/>
              </a:lnSpc>
            </a:pPr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58E476-81EA-479B-A1AA-FE8FCF7BC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0FD53A-C6EC-996C-A464-6BCFE560C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E34AB8D-AACD-F16C-0142-31777AB22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8857791-ACDE-946F-60C2-76872EFB1E71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7713423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1CC0-9437-AFFD-572D-E5C49FAC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7525BF-9836-9DB2-5D1A-8742EF0E6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960AB8-8F41-76A6-DC4D-84C94E9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2A020F-FA63-DA91-214A-DDFC67DF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FD2977-9846-86D1-34BA-3883F35E40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54F5151-4485-3E19-E101-8E2A0996B54B}"/>
              </a:ext>
            </a:extLst>
          </p:cNvPr>
          <p:cNvSpPr/>
          <p:nvPr/>
        </p:nvSpPr>
        <p:spPr>
          <a:xfrm>
            <a:off x="4600132" y="1719196"/>
            <a:ext cx="1427495" cy="535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6104DB06-A835-4A28-E8FC-87C10AD8F903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rot="5400000">
            <a:off x="5174507" y="2394333"/>
            <a:ext cx="278747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ADC92E8-D641-3DB1-09E3-5EFF4E5D09D8}"/>
              </a:ext>
            </a:extLst>
          </p:cNvPr>
          <p:cNvSpPr/>
          <p:nvPr/>
        </p:nvSpPr>
        <p:spPr>
          <a:xfrm>
            <a:off x="4831877" y="2533707"/>
            <a:ext cx="964003" cy="4315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벌 자극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D173B149-EA89-EA03-4DC0-ADC07D1ED792}"/>
              </a:ext>
            </a:extLst>
          </p:cNvPr>
          <p:cNvSpPr/>
          <p:nvPr/>
        </p:nvSpPr>
        <p:spPr>
          <a:xfrm>
            <a:off x="4333401" y="3223336"/>
            <a:ext cx="1960953" cy="8888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숲에 존재하는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벌의 방해를 받을 확률 증가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C65CAA5-B6B9-1045-A882-AAF2DD0AA4E7}"/>
              </a:ext>
            </a:extLst>
          </p:cNvPr>
          <p:cNvSpPr/>
          <p:nvPr/>
        </p:nvSpPr>
        <p:spPr>
          <a:xfrm>
            <a:off x="4333400" y="4436463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숲의 위험도 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BD07BC6-DEE5-D84A-8F2C-5A3B6AF8AE1A}"/>
              </a:ext>
            </a:extLst>
          </p:cNvPr>
          <p:cNvSpPr/>
          <p:nvPr/>
        </p:nvSpPr>
        <p:spPr>
          <a:xfrm>
            <a:off x="4333399" y="5213277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 경로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증가</a:t>
            </a:r>
          </a:p>
        </p:txBody>
      </p: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7E5A4F9-0CD7-670E-6CF2-4DEA628F6ABE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 rot="5400000">
            <a:off x="5184816" y="3094273"/>
            <a:ext cx="258126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7F9BBB7E-4C17-50DE-F3C3-F6768B21F11E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rot="5400000">
            <a:off x="5151716" y="4274301"/>
            <a:ext cx="324324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66A8B903-DBDA-1880-7B66-52DE7D6DDC62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rot="5400000">
            <a:off x="5170362" y="5069762"/>
            <a:ext cx="287030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9064DCB-4CAB-2BB5-2941-D87722B5DDE0}"/>
              </a:ext>
            </a:extLst>
          </p:cNvPr>
          <p:cNvSpPr/>
          <p:nvPr/>
        </p:nvSpPr>
        <p:spPr>
          <a:xfrm>
            <a:off x="6660134" y="1833581"/>
            <a:ext cx="2432109" cy="36683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그러므로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종별 반응 테이블을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생성해서 판단에 참조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예시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80</a:t>
            </a: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홍어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70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72B22-597A-70C8-E892-E9184D9BE5F1}"/>
              </a:ext>
            </a:extLst>
          </p:cNvPr>
          <p:cNvSpPr txBox="1"/>
          <p:nvPr/>
        </p:nvSpPr>
        <p:spPr>
          <a:xfrm>
            <a:off x="4192441" y="1300754"/>
            <a:ext cx="224286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dirty="0"/>
              <a:t>배달품이 꿀인 경우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1ADBA9-0C55-FCE6-65C5-DE7633DC64E9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</p:spTree>
    <p:extLst>
      <p:ext uri="{BB962C8B-B14F-4D97-AF65-F5344CB8AC3E}">
        <p14:creationId xmlns:p14="http://schemas.microsoft.com/office/powerpoint/2010/main" val="42267686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FB6CA-ABA4-A8D7-98EA-6725A24B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4475E-48E8-2E13-AADD-2D03120B2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D51857-355C-0996-0A55-E6BB8C819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3B09F3E-1A02-3F54-962E-B6EF9572B5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692803E-A071-D42F-D53A-94BEFFBE2A23}"/>
              </a:ext>
            </a:extLst>
          </p:cNvPr>
          <p:cNvSpPr/>
          <p:nvPr/>
        </p:nvSpPr>
        <p:spPr>
          <a:xfrm>
            <a:off x="4006170" y="1888216"/>
            <a:ext cx="1315156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시작 지점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6D9F2E-DE1F-F4CA-5E4A-23F444470140}"/>
              </a:ext>
            </a:extLst>
          </p:cNvPr>
          <p:cNvSpPr/>
          <p:nvPr/>
        </p:nvSpPr>
        <p:spPr>
          <a:xfrm>
            <a:off x="6277747" y="1426568"/>
            <a:ext cx="710609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A9B97A-753F-4814-00F0-75D62493A1B7}"/>
              </a:ext>
            </a:extLst>
          </p:cNvPr>
          <p:cNvSpPr/>
          <p:nvPr/>
        </p:nvSpPr>
        <p:spPr>
          <a:xfrm>
            <a:off x="6199332" y="2468826"/>
            <a:ext cx="867440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사막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F343F3-58EC-36CC-D6DE-B83952B572FD}"/>
              </a:ext>
            </a:extLst>
          </p:cNvPr>
          <p:cNvSpPr/>
          <p:nvPr/>
        </p:nvSpPr>
        <p:spPr>
          <a:xfrm>
            <a:off x="8822783" y="1855364"/>
            <a:ext cx="976555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목적지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90D45FA3-1F65-7B07-04C4-6897341F8451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321326" y="2211373"/>
            <a:ext cx="878006" cy="58061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양쪽 화살표 연결선 18">
            <a:extLst>
              <a:ext uri="{FF2B5EF4-FFF2-40B4-BE49-F238E27FC236}">
                <a16:creationId xmlns:a16="http://schemas.microsoft.com/office/drawing/2014/main" id="{39E39D46-322C-E7D7-4459-75907820BC2A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5321326" y="1749725"/>
            <a:ext cx="956421" cy="4616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643A863-1C2C-FE41-B2D4-3D433962A17D}"/>
              </a:ext>
            </a:extLst>
          </p:cNvPr>
          <p:cNvSpPr txBox="1"/>
          <p:nvPr/>
        </p:nvSpPr>
        <p:spPr>
          <a:xfrm>
            <a:off x="5321326" y="1888216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06DA0B1A-994E-2889-1AE2-2BEC56EEBC93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>
            <a:off x="6988356" y="1749725"/>
            <a:ext cx="1834427" cy="42879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43FABCF8-F1AD-E1BE-141E-176C532F6012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7066772" y="2178521"/>
            <a:ext cx="1756011" cy="61346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3A71DC-E49E-C196-D219-BD0A8AB4F00A}"/>
              </a:ext>
            </a:extLst>
          </p:cNvPr>
          <p:cNvSpPr txBox="1"/>
          <p:nvPr/>
        </p:nvSpPr>
        <p:spPr>
          <a:xfrm>
            <a:off x="8425760" y="1855364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F3619CB-A047-B196-D7B8-D63A1ADA41C8}"/>
              </a:ext>
            </a:extLst>
          </p:cNvPr>
          <p:cNvSpPr/>
          <p:nvPr/>
        </p:nvSpPr>
        <p:spPr>
          <a:xfrm>
            <a:off x="4254268" y="3723838"/>
            <a:ext cx="2374958" cy="14615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200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벌 존재</a:t>
            </a:r>
            <a:r>
              <a:rPr lang="en-US" altLang="ko-KR" dirty="0">
                <a:solidFill>
                  <a:schemeClr val="tx1"/>
                </a:solidFill>
              </a:rPr>
              <a:t>) = 10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68E8EB-3965-1589-5F81-954E0A8FB905}"/>
              </a:ext>
            </a:extLst>
          </p:cNvPr>
          <p:cNvSpPr/>
          <p:nvPr/>
        </p:nvSpPr>
        <p:spPr>
          <a:xfrm>
            <a:off x="6768984" y="3489520"/>
            <a:ext cx="2730443" cy="1930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지형에 따른 변화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이동속도 감소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몬스터 없음</a:t>
            </a:r>
            <a:r>
              <a:rPr lang="en-US" altLang="ko-KR" dirty="0">
                <a:solidFill>
                  <a:schemeClr val="tx1"/>
                </a:solidFill>
              </a:rPr>
              <a:t>) = 0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9341DAD-BF7B-19C3-A5CB-B2D9BE4C7E83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9E10BF5-A42D-A4C5-AD28-2074C89B10DB}"/>
              </a:ext>
            </a:extLst>
          </p:cNvPr>
          <p:cNvSpPr/>
          <p:nvPr/>
        </p:nvSpPr>
        <p:spPr>
          <a:xfrm>
            <a:off x="424457" y="3641190"/>
            <a:ext cx="2636427" cy="15720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: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소지자의 </a:t>
            </a: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위치로부터 중간 구역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늪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등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까지의 거리 </a:t>
            </a:r>
            <a:r>
              <a:rPr lang="en-US" altLang="ko-KR" dirty="0">
                <a:solidFill>
                  <a:schemeClr val="tx1"/>
                </a:solidFill>
              </a:rPr>
              <a:t>/ </a:t>
            </a:r>
            <a:r>
              <a:rPr lang="ko-KR" altLang="en-US" dirty="0">
                <a:solidFill>
                  <a:schemeClr val="tx1"/>
                </a:solidFill>
              </a:rPr>
              <a:t>플레이어 평균 속력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DF53D5C-146D-7E01-2FD6-E7842AA4CD95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777380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F3BC4B-BBC0-DF24-91CF-0E93A96D6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ko-KR" sz="2800" dirty="0"/>
              <a:t>AI</a:t>
            </a:r>
            <a:r>
              <a:rPr lang="ko-KR" altLang="en-US" sz="2800" dirty="0"/>
              <a:t> 구현을 위한 종 반응 테이블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B523747-21AE-CF68-A3AA-CCBD8C58B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FE0632-40AF-9192-9080-F3CDE5661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7002FD3-7EDD-0B46-CAED-2D63290A2EF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373DF5BD-D26B-B093-4206-DAF91EB728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7590088"/>
              </p:ext>
            </p:extLst>
          </p:nvPr>
        </p:nvGraphicFramePr>
        <p:xfrm>
          <a:off x="838198" y="1121076"/>
          <a:ext cx="2609852" cy="14229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4926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04926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25896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3225674" y="2822210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F14537F-469F-500B-9D87-4B51CB1992F9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5E13E3F-3404-E1B5-E844-3E016D956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8393639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DBA942A-C195-1325-404B-F42C375A6F21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266063" y="3748415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방향을</a:t>
            </a:r>
            <a:br>
              <a:rPr lang="en-US" altLang="ko-KR" sz="2400" dirty="0"/>
            </a:br>
            <a:r>
              <a:rPr lang="ko-KR" altLang="en-US" sz="2400" dirty="0"/>
              <a:t>플레이어 각자의 화면에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03F6EF-4950-773C-AEA0-9FA0DE41DC72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0BFFC0-EAC9-6E92-76E8-130498AD4F6D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16" name="그래픽 39" descr="배지 단색으로 채워진">
            <a:extLst>
              <a:ext uri="{FF2B5EF4-FFF2-40B4-BE49-F238E27FC236}">
                <a16:creationId xmlns:a16="http://schemas.microsoft.com/office/drawing/2014/main" id="{0ADE778E-1AAF-CCDD-FF68-09272240AA1C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그래픽 39" descr="배지 단색으로 채워진">
            <a:extLst>
              <a:ext uri="{FF2B5EF4-FFF2-40B4-BE49-F238E27FC236}">
                <a16:creationId xmlns:a16="http://schemas.microsoft.com/office/drawing/2014/main" id="{6763C964-5DEC-91D3-E592-B2000F46A51D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그래픽 39" descr="배지 단색으로 채워진">
            <a:extLst>
              <a:ext uri="{FF2B5EF4-FFF2-40B4-BE49-F238E27FC236}">
                <a16:creationId xmlns:a16="http://schemas.microsoft.com/office/drawing/2014/main" id="{D2CAC575-2364-DDB5-995E-11E635FC41D4}"/>
              </a:ext>
            </a:extLst>
          </p:cNvPr>
          <p:cNvSpPr/>
          <p:nvPr/>
        </p:nvSpPr>
        <p:spPr>
          <a:xfrm>
            <a:off x="6963928" y="308021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E9131-CA6A-73EF-8786-50169C02D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6FB4582-482D-F94F-9CBE-3759C4EC1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endParaRPr lang="ko-KR" altLang="en-US" dirty="0"/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353D2E58-196B-F7C9-3A8B-B55E207FBB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6473664"/>
              </p:ext>
            </p:extLst>
          </p:nvPr>
        </p:nvGraphicFramePr>
        <p:xfrm>
          <a:off x="838198" y="1121076"/>
          <a:ext cx="10715445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3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집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75E976-EB64-DB06-491D-7C5882E5E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6A861-B6CD-2296-EC28-227685090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3FEC3E9A-A97C-A4ED-D4DF-7BDBCDDFABB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0CA774AC-46E6-0BB1-188D-8B7BBAA88D45}"/>
              </a:ext>
            </a:extLst>
          </p:cNvPr>
          <p:cNvCxnSpPr>
            <a:cxnSpLocks/>
          </p:cNvCxnSpPr>
          <p:nvPr/>
        </p:nvCxnSpPr>
        <p:spPr>
          <a:xfrm>
            <a:off x="2036755" y="1857608"/>
            <a:ext cx="2368172" cy="139789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73282333-3E19-221B-490A-A52A3A39611E}"/>
              </a:ext>
            </a:extLst>
          </p:cNvPr>
          <p:cNvCxnSpPr>
            <a:cxnSpLocks/>
          </p:cNvCxnSpPr>
          <p:nvPr/>
        </p:nvCxnSpPr>
        <p:spPr>
          <a:xfrm>
            <a:off x="3204391" y="1857608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3DC11C70-6540-54D7-14D7-6FFBEEC7037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43709336"/>
              </p:ext>
            </p:extLst>
          </p:nvPr>
        </p:nvGraphicFramePr>
        <p:xfrm>
          <a:off x="841037" y="3457546"/>
          <a:ext cx="5948385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3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집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8D4E3C5-2CF0-4BAC-84E8-5A72D288969A}"/>
              </a:ext>
            </a:extLst>
          </p:cNvPr>
          <p:cNvCxnSpPr>
            <a:cxnSpLocks/>
          </p:cNvCxnSpPr>
          <p:nvPr/>
        </p:nvCxnSpPr>
        <p:spPr>
          <a:xfrm>
            <a:off x="2003855" y="2570889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7883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B06394E-FBD1-88EC-C748-61486B9B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C48EEFC-D0E8-6F3B-E73E-D7EB99B58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F58A6C-6834-A11D-D20C-98B18CBEDD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C9947D-7B6B-15C5-6DAF-05C5DA6D34AB}"/>
              </a:ext>
            </a:extLst>
          </p:cNvPr>
          <p:cNvSpPr/>
          <p:nvPr/>
        </p:nvSpPr>
        <p:spPr>
          <a:xfrm rot="20292011">
            <a:off x="2244725" y="4510279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4BD287AA-CA3F-AE90-D812-A36C5F78267A}"/>
              </a:ext>
            </a:extLst>
          </p:cNvPr>
          <p:cNvSpPr/>
          <p:nvPr/>
        </p:nvSpPr>
        <p:spPr>
          <a:xfrm>
            <a:off x="2133595" y="4362418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14DD3935-5F3D-803F-BCAE-F7745B85FF85}"/>
              </a:ext>
            </a:extLst>
          </p:cNvPr>
          <p:cNvSpPr/>
          <p:nvPr/>
        </p:nvSpPr>
        <p:spPr>
          <a:xfrm>
            <a:off x="1913224" y="4281488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D770341-1118-F06C-F6CA-AFA96BF83803}"/>
              </a:ext>
            </a:extLst>
          </p:cNvPr>
          <p:cNvSpPr/>
          <p:nvPr/>
        </p:nvSpPr>
        <p:spPr>
          <a:xfrm>
            <a:off x="3100796" y="4962328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A56A5FE9-367B-0C1D-7952-46FA99C8927C}"/>
              </a:ext>
            </a:extLst>
          </p:cNvPr>
          <p:cNvSpPr/>
          <p:nvPr/>
        </p:nvSpPr>
        <p:spPr>
          <a:xfrm>
            <a:off x="2988443" y="4838700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1410E483-BF39-5265-187C-1934F34611AC}"/>
              </a:ext>
            </a:extLst>
          </p:cNvPr>
          <p:cNvSpPr/>
          <p:nvPr/>
        </p:nvSpPr>
        <p:spPr>
          <a:xfrm>
            <a:off x="3957441" y="5553075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E309FAD8-4B1E-7D5F-A28B-0A530777A5FA}"/>
              </a:ext>
            </a:extLst>
          </p:cNvPr>
          <p:cNvSpPr/>
          <p:nvPr/>
        </p:nvSpPr>
        <p:spPr>
          <a:xfrm>
            <a:off x="2871782" y="4700288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E3D2D36-1489-F68F-A3F1-28392939E1C2}"/>
              </a:ext>
            </a:extLst>
          </p:cNvPr>
          <p:cNvSpPr/>
          <p:nvPr/>
        </p:nvSpPr>
        <p:spPr>
          <a:xfrm>
            <a:off x="2971795" y="4572000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0725C691-545A-65AB-D83E-83006CF5B2F1}"/>
              </a:ext>
            </a:extLst>
          </p:cNvPr>
          <p:cNvSpPr/>
          <p:nvPr/>
        </p:nvSpPr>
        <p:spPr>
          <a:xfrm>
            <a:off x="2666995" y="5019675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39BFFB-1241-2C76-AB47-1B9AE05BAA58}"/>
              </a:ext>
            </a:extLst>
          </p:cNvPr>
          <p:cNvSpPr/>
          <p:nvPr/>
        </p:nvSpPr>
        <p:spPr>
          <a:xfrm>
            <a:off x="2857495" y="4367213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697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A3EE3-96A3-0424-B6E9-ED8334BAC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5E85E2-E19F-DED9-0D64-5F12D6C86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4090448-F1E2-CC60-8C1C-307860C97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0274E0-C944-571F-99A6-8DBED913D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6993115-7865-81BA-A743-D67B19399E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6EA4A369-5176-D464-3393-5C6B05EA837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67700402-4B42-389B-0836-4626E826AD7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AA05B9F0-4D64-3D6E-9E9F-F77B84C89EC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EEA9C19-5A33-60E9-0058-0AC7C0CCFD32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12727E37-BF46-CD89-29E8-6427A99FA92A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6C6FEEDE-07F2-0120-A291-EC103625847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88E8B721-6C5F-B933-68E7-0CDADF102FB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087345-3D44-83C4-FF2A-B9849FEEAA7C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73FB50B5-AEB2-D504-E196-288B25FDDD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A92855CA-095E-BC13-49AA-93B8BBCA1E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3A468393-ACA5-9105-19AF-C5D280C3FF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E24645EF-A450-28D4-BCDB-5874B1C4AC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ECF8694E-623E-61AF-4081-42B97178EF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BCA43ACE-817E-9485-DA85-AE5089ADB53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4D5C0E80-503D-66F8-F5C3-3A12ED3602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8BD012AA-3373-12A0-5A79-EF68DA3B60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340D91-C923-C535-13BC-3395F2932B80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9C996B9-C257-4A3E-EA03-299CE470DD6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9636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3BF02-8054-C5CC-946D-548E8BF7C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0CFF86-6C96-FE00-F530-72F1F604FFD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6537E90-2EC0-E5F9-F1ED-E613E4165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8E73E2C-4CC1-C6D2-3969-665243D4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8EE460-2FDB-D720-6501-41C8519B1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BD850ACF-016D-2D17-CFC1-DBA19BD09828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A6DD019-1B21-A61A-3AEF-86E8CB51F71E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505BC2FF-F215-9F83-BE0B-7AE436A719F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A5222750-BFB2-0438-06C1-14B1F0C03631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목적지까지의 최적 경로 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4F2E5F9-1F1B-BD5B-AC0B-7B098A2AB2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D6D7DE1A-C255-973E-5235-B3BC86E2D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EB7F7486-6867-DAA8-0F87-DED43ABE4E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52A1852B-49E0-5CF2-CF82-66F6DCB8FC92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08E4825C-2DEA-025B-2808-C84BD00232FD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56B360E4-FEF9-4913-8F8C-86C21F835386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83CC053D-725D-81D7-6725-22443FD7BC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CEFEF033-DC68-8FE5-271A-DB843ED8FE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5044164-471A-F1DF-8638-4D7ACA4BFF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7B8CE688-3628-FE5F-F9F2-E9900F6F94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B6B35EA8-21B1-5CB1-A801-CAF1866BFA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30747E08-666A-56A0-7932-6A6485079F7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D99563F2-9600-547B-84E6-54D36D6110ED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16E9AEBD-ED79-CAFC-C831-40E81DEC8CB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D497A05-80FF-A946-FF18-5BF2D0B4F1F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645BA5DC-6BC8-CB37-CD94-12F00E2BA9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13" name="그래픽 12" descr="화살표 원 단색으로 채워진">
            <a:extLst>
              <a:ext uri="{FF2B5EF4-FFF2-40B4-BE49-F238E27FC236}">
                <a16:creationId xmlns:a16="http://schemas.microsoft.com/office/drawing/2014/main" id="{52D5811F-D02A-5199-23A1-25068011F3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sp>
        <p:nvSpPr>
          <p:cNvPr id="17" name="내용 개체 틀 6">
            <a:extLst>
              <a:ext uri="{FF2B5EF4-FFF2-40B4-BE49-F238E27FC236}">
                <a16:creationId xmlns:a16="http://schemas.microsoft.com/office/drawing/2014/main" id="{40E86A89-1908-A64A-3730-FF0883976C8F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176076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4E5CF-CA08-F22B-C442-8AF9E5B1B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603C0798-B239-5631-232B-190A1D68A5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35CFE1E-1703-988F-FF90-678D81C1A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28E19C-1605-934D-9119-F4B26A61A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C9E707-A502-BA5D-445F-B380B80B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7EC5FB-CAD2-92FB-FC4E-D500A6FD04B7}"/>
              </a:ext>
            </a:extLst>
          </p:cNvPr>
          <p:cNvSpPr txBox="1"/>
          <p:nvPr/>
        </p:nvSpPr>
        <p:spPr>
          <a:xfrm>
            <a:off x="7355703" y="1497402"/>
            <a:ext cx="2343015" cy="1200329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목적지까지의 최적 경로 수정 및 </a:t>
            </a:r>
            <a:r>
              <a:rPr lang="en-US" altLang="ko-KR" sz="2400" dirty="0"/>
              <a:t>ETA</a:t>
            </a:r>
            <a:r>
              <a:rPr lang="ko-KR" altLang="en-US" sz="2400" dirty="0"/>
              <a:t>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3B78E771-EE67-3363-74CE-5BE8E45F6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8FD3ED5F-E52C-6E1E-18C6-4EA0C353BD3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E898F2F0-CC39-74ED-80ED-E23DAD371DA0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7D0BFC78-6815-BA56-8807-14DEC7ADF327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7FBD724-7228-D223-79FB-EFEB07DE1A2B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0191FC9B-E8A5-68EF-9398-31D4A3C50A1D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BD663C2-9854-34FD-F767-6871330083C9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2B948421-4C78-98EB-A0AC-3C003F7B53F2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E12CEDD-C58F-EC6A-549C-826EDF1DEB0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64B63E48-8A05-28BB-0BCB-19308FCBABC3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내용 개체 틀 6">
            <a:extLst>
              <a:ext uri="{FF2B5EF4-FFF2-40B4-BE49-F238E27FC236}">
                <a16:creationId xmlns:a16="http://schemas.microsoft.com/office/drawing/2014/main" id="{72C29E85-E90A-BBE0-C3C0-3179A06A3B1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  <p:cxnSp>
        <p:nvCxnSpPr>
          <p:cNvPr id="22" name="연결선: 구부러짐 21">
            <a:extLst>
              <a:ext uri="{FF2B5EF4-FFF2-40B4-BE49-F238E27FC236}">
                <a16:creationId xmlns:a16="http://schemas.microsoft.com/office/drawing/2014/main" id="{9C4484A7-671A-39EC-B37A-AFD550787ED4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B0D325B3-8964-CAC4-0780-DD8DD3C2DD3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265112" y="2224190"/>
            <a:ext cx="2744417" cy="2675821"/>
          </a:xfrm>
          <a:prstGeom prst="curvedConnector3">
            <a:avLst>
              <a:gd name="adj1" fmla="val 58801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BDF5E16A-3FB0-AD14-247B-102E5D75A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383706A-193E-9558-FF1F-9A5797D3F9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cxnSp>
        <p:nvCxnSpPr>
          <p:cNvPr id="23" name="연결선: 구부러짐 22">
            <a:extLst>
              <a:ext uri="{FF2B5EF4-FFF2-40B4-BE49-F238E27FC236}">
                <a16:creationId xmlns:a16="http://schemas.microsoft.com/office/drawing/2014/main" id="{DE3AD1BD-AA24-1CD3-A770-563CE89E1A86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DBBF072-4508-D5D8-AA7E-D8868AEDC1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513A0B68-C4F4-388C-4777-65CC94EC0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0BDD48D8-B92D-C076-AAC9-57F1B38C95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FE72806D-1A11-37AF-20C1-74207BF8C6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F5FC23F6-ED54-37B8-C73C-F085538C10A7}"/>
              </a:ext>
            </a:extLst>
          </p:cNvPr>
          <p:cNvSpPr/>
          <p:nvPr/>
        </p:nvSpPr>
        <p:spPr>
          <a:xfrm>
            <a:off x="5291176" y="3402938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</p:spTree>
    <p:extLst>
      <p:ext uri="{BB962C8B-B14F-4D97-AF65-F5344CB8AC3E}">
        <p14:creationId xmlns:p14="http://schemas.microsoft.com/office/powerpoint/2010/main" val="21149832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2CB84-7D7C-7272-F7CC-82EE699DA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A810EE0-3DF7-3084-1B3D-09BE12FAE06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06EC6DF-1315-50B6-E307-28CBC027D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93B8B1E-D78A-B339-80D2-8B0684D43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462DC3-8AEA-4835-11C5-255059929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BF21618-E877-9AB7-CDF8-6B5A59FED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81EFDDEA-14B3-452E-5C8F-EA66A787C2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8483C77-BA93-65EA-1A35-59E29B05AEA0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42D80B9-D327-B5D3-DC49-5B3110FB84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C25BA8BB-ECB9-AFA1-64F6-6F356FF1B4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3C071AE-1094-3F49-E5CE-51D6E07944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72B3299-6310-C77A-C328-81F54074EE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D16DCA6A-E4C2-C18D-570B-D0133FCFCB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D954EC8-6F33-35A6-3E5C-A788D38989A9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최적 경로로 이동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FBEED702-4FD5-14D0-3F20-803CA3F979ED}"/>
              </a:ext>
            </a:extLst>
          </p:cNvPr>
          <p:cNvGrpSpPr/>
          <p:nvPr/>
        </p:nvGrpSpPr>
        <p:grpSpPr>
          <a:xfrm>
            <a:off x="5291176" y="2775371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22E3AB1-6E5C-6C43-6D99-4621F32F737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6BA5F0C3-A617-68C5-EA6A-B55612CB1C0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897D2E8-9E8B-5E30-CA51-394557251B1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B9CEAB0E-6EBA-A5DB-2479-2CBD802FDB4E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  <p:cxnSp>
        <p:nvCxnSpPr>
          <p:cNvPr id="3" name="연결선: 구부러짐 2">
            <a:extLst>
              <a:ext uri="{FF2B5EF4-FFF2-40B4-BE49-F238E27FC236}">
                <a16:creationId xmlns:a16="http://schemas.microsoft.com/office/drawing/2014/main" id="{13B3773D-F6E9-0828-809D-44930DA436B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265112" y="2224190"/>
            <a:ext cx="2744417" cy="2675821"/>
          </a:xfrm>
          <a:prstGeom prst="curvedConnector3">
            <a:avLst>
              <a:gd name="adj1" fmla="val 58801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F405A9-9058-7DE6-A4CC-DF0B8A354233}"/>
              </a:ext>
            </a:extLst>
          </p:cNvPr>
          <p:cNvSpPr/>
          <p:nvPr/>
        </p:nvSpPr>
        <p:spPr>
          <a:xfrm>
            <a:off x="5291176" y="3402938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A92E2A3B-1F54-FC68-B1E3-3C230B62CC66}"/>
              </a:ext>
            </a:extLst>
          </p:cNvPr>
          <p:cNvGrpSpPr/>
          <p:nvPr/>
        </p:nvGrpSpPr>
        <p:grpSpPr>
          <a:xfrm>
            <a:off x="4624249" y="3076149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B1CF3CF-D771-3C1E-F8E0-9135BD87E0FD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DF22E62-914B-6F05-9103-8416D08B416A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0904A0D8-3A78-8BA4-CF16-1205612778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151933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5543</TotalTime>
  <Words>2183</Words>
  <Application>Microsoft Office PowerPoint</Application>
  <PresentationFormat>와이드스크린</PresentationFormat>
  <Paragraphs>533</Paragraphs>
  <Slides>48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48</vt:i4>
      </vt:variant>
    </vt:vector>
  </HeadingPairs>
  <TitlesOfParts>
    <vt:vector size="53" baseType="lpstr">
      <vt:lpstr>맑은 고딕</vt:lpstr>
      <vt:lpstr>Arial</vt:lpstr>
      <vt:lpstr>Wingdings</vt:lpstr>
      <vt:lpstr>기본_수정</vt:lpstr>
      <vt:lpstr>디자인 사용자 지정</vt:lpstr>
      <vt:lpstr>배트와 달트 프로토타입_벌꿀 배달</vt:lpstr>
      <vt:lpstr>플로우</vt:lpstr>
      <vt:lpstr>게임 전체 플로우</vt:lpstr>
      <vt:lpstr>프로토타입 플로우</vt:lpstr>
      <vt:lpstr>컨텐츠</vt:lpstr>
      <vt:lpstr>게임 내 모든 객체</vt:lpstr>
      <vt:lpstr>배달품_벌꿀</vt:lpstr>
      <vt:lpstr>맵</vt:lpstr>
      <vt:lpstr>맵_지형</vt:lpstr>
      <vt:lpstr>데이터 테이블_맵</vt:lpstr>
      <vt:lpstr>플레이어블 캐릭터</vt:lpstr>
      <vt:lpstr>NPC_주민</vt:lpstr>
      <vt:lpstr>NPC_생물_벌</vt:lpstr>
      <vt:lpstr>상호작용_생물_벌</vt:lpstr>
      <vt:lpstr>NPC_생물_벌 행동트리</vt:lpstr>
      <vt:lpstr>데이터 테이블_NPC,플레이어</vt:lpstr>
      <vt:lpstr>경로 예측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상호작용_배달품</vt:lpstr>
      <vt:lpstr>도우미 AI 구현 계획</vt:lpstr>
      <vt:lpstr>도우미 AI의 핵심</vt:lpstr>
      <vt:lpstr>도우미 AI 구현 아키텍쳐</vt:lpstr>
      <vt:lpstr>AI 매니저의 역할</vt:lpstr>
      <vt:lpstr>경로 후보 생성 예시</vt:lpstr>
      <vt:lpstr>경로 후보 생성 예시</vt:lpstr>
      <vt:lpstr>AI 구현을 위한 종 반응 테이블</vt:lpstr>
      <vt:lpstr>시스템</vt:lpstr>
      <vt:lpstr>컨트롤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UI</vt:lpstr>
      <vt:lpstr>부록</vt:lpstr>
      <vt:lpstr>데이터 테이블_</vt:lpstr>
      <vt:lpstr>상호작용_배달품</vt:lpstr>
      <vt:lpstr>PowerPoint 프레젠테이션</vt:lpstr>
      <vt:lpstr>PowerPoint 프레젠테이션</vt:lpstr>
      <vt:lpstr>경로 예측 과정</vt:lpstr>
      <vt:lpstr>경로 예측 과정</vt:lpstr>
      <vt:lpstr>경로 예측 과정</vt:lpstr>
      <vt:lpstr>경로 예측 과정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224</cp:revision>
  <dcterms:created xsi:type="dcterms:W3CDTF">2026-09-16T19:24:55Z</dcterms:created>
  <dcterms:modified xsi:type="dcterms:W3CDTF">2026-10-09T03:14:34Z</dcterms:modified>
</cp:coreProperties>
</file>