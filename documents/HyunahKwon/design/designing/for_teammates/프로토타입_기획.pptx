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0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307" r:id="rId12"/>
    <p:sldId id="268" r:id="rId13"/>
    <p:sldId id="273" r:id="rId14"/>
    <p:sldId id="272" r:id="rId15"/>
    <p:sldId id="279" r:id="rId16"/>
    <p:sldId id="310" r:id="rId17"/>
    <p:sldId id="297" r:id="rId18"/>
    <p:sldId id="306" r:id="rId19"/>
    <p:sldId id="315" r:id="rId20"/>
    <p:sldId id="316" r:id="rId21"/>
    <p:sldId id="317" r:id="rId22"/>
    <p:sldId id="318" r:id="rId23"/>
    <p:sldId id="319" r:id="rId24"/>
    <p:sldId id="320" r:id="rId25"/>
    <p:sldId id="321" r:id="rId26"/>
    <p:sldId id="322" r:id="rId27"/>
    <p:sldId id="325" r:id="rId28"/>
    <p:sldId id="326" r:id="rId29"/>
    <p:sldId id="304" r:id="rId30"/>
    <p:sldId id="303" r:id="rId31"/>
    <p:sldId id="329" r:id="rId32"/>
    <p:sldId id="313" r:id="rId33"/>
    <p:sldId id="327" r:id="rId34"/>
    <p:sldId id="328" r:id="rId35"/>
    <p:sldId id="314" r:id="rId36"/>
    <p:sldId id="262" r:id="rId37"/>
    <p:sldId id="276" r:id="rId38"/>
    <p:sldId id="269" r:id="rId39"/>
    <p:sldId id="274" r:id="rId40"/>
    <p:sldId id="289" r:id="rId41"/>
    <p:sldId id="294" r:id="rId42"/>
    <p:sldId id="291" r:id="rId43"/>
    <p:sldId id="290" r:id="rId44"/>
    <p:sldId id="263" r:id="rId45"/>
    <p:sldId id="312" r:id="rId46"/>
    <p:sldId id="277" r:id="rId47"/>
    <p:sldId id="305" r:id="rId48"/>
    <p:sldId id="311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3885" autoAdjust="0"/>
  </p:normalViewPr>
  <p:slideViewPr>
    <p:cSldViewPr snapToGrid="0">
      <p:cViewPr>
        <p:scale>
          <a:sx n="50" d="100"/>
          <a:sy n="50" d="100"/>
        </p:scale>
        <p:origin x="4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8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내 모든 객체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96926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 1</a:t>
            </a:r>
            <a:r>
              <a:rPr lang="ko-KR" altLang="en-US" dirty="0"/>
              <a:t>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플레이어블</a:t>
            </a:r>
            <a:r>
              <a:rPr lang="ko-KR" altLang="en-US" dirty="0"/>
              <a:t> 캐릭터 </a:t>
            </a:r>
            <a:r>
              <a:rPr lang="en-US" altLang="ko-KR" dirty="0"/>
              <a:t>: 2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생물 </a:t>
            </a:r>
            <a:r>
              <a:rPr lang="en-US" altLang="ko-KR" dirty="0"/>
              <a:t>: </a:t>
            </a:r>
            <a:r>
              <a:rPr lang="ko-KR" altLang="en-US" dirty="0"/>
              <a:t>벌</a:t>
            </a:r>
            <a:r>
              <a:rPr lang="en-US" altLang="ko-KR" dirty="0"/>
              <a:t>, 20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주민 </a:t>
            </a:r>
            <a:r>
              <a:rPr lang="en-US" altLang="ko-KR" dirty="0"/>
              <a:t>: 1</a:t>
            </a:r>
            <a:r>
              <a:rPr lang="ko-KR" altLang="en-US" dirty="0"/>
              <a:t>객체</a:t>
            </a:r>
          </a:p>
          <a:p>
            <a:endParaRPr lang="en-US" altLang="ko-KR" dirty="0"/>
          </a:p>
          <a:p>
            <a:r>
              <a:rPr lang="ko-KR" altLang="en-US" dirty="0"/>
              <a:t>오브젝트 </a:t>
            </a:r>
            <a:r>
              <a:rPr lang="en-US" altLang="ko-KR" dirty="0"/>
              <a:t>: </a:t>
            </a:r>
            <a:r>
              <a:rPr lang="ko-KR" altLang="en-US" dirty="0"/>
              <a:t>벌집</a:t>
            </a:r>
            <a:r>
              <a:rPr lang="en-US" altLang="ko-KR" dirty="0"/>
              <a:t>, 1</a:t>
            </a:r>
            <a:r>
              <a:rPr lang="ko-KR" altLang="en-US" dirty="0"/>
              <a:t>객체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내용 개체 틀 12" descr="열린 포장 상자 윤곽선">
            <a:extLst>
              <a:ext uri="{FF2B5EF4-FFF2-40B4-BE49-F238E27FC236}">
                <a16:creationId xmlns:a16="http://schemas.microsoft.com/office/drawing/2014/main" id="{FFD5AB11-36C0-BA93-8D5A-DBF7F9730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0686" y="981639"/>
            <a:ext cx="1094050" cy="10940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25277-94BF-0D71-8A8A-E6E4ECCB7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71" y="2019091"/>
            <a:ext cx="940279" cy="1338090"/>
          </a:xfrm>
          <a:prstGeom prst="rect">
            <a:avLst/>
          </a:prstGeom>
        </p:spPr>
      </p:pic>
      <p:pic>
        <p:nvPicPr>
          <p:cNvPr id="13" name="그래픽 12" descr="벌 단색으로 채워진">
            <a:extLst>
              <a:ext uri="{FF2B5EF4-FFF2-40B4-BE49-F238E27FC236}">
                <a16:creationId xmlns:a16="http://schemas.microsoft.com/office/drawing/2014/main" id="{7742402A-885A-F663-8EB6-D77C1773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3981" y="3357181"/>
            <a:ext cx="841897" cy="841897"/>
          </a:xfrm>
          <a:prstGeom prst="rect">
            <a:avLst/>
          </a:prstGeom>
        </p:spPr>
      </p:pic>
      <p:pic>
        <p:nvPicPr>
          <p:cNvPr id="15" name="그래픽 14" descr="댄스 단색으로 채워진">
            <a:extLst>
              <a:ext uri="{FF2B5EF4-FFF2-40B4-BE49-F238E27FC236}">
                <a16:creationId xmlns:a16="http://schemas.microsoft.com/office/drawing/2014/main" id="{B6A640B9-0394-C65D-8633-4460435080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9514" y="4021102"/>
            <a:ext cx="1250832" cy="1250832"/>
          </a:xfrm>
          <a:prstGeom prst="rect">
            <a:avLst/>
          </a:prstGeom>
        </p:spPr>
      </p:pic>
      <p:pic>
        <p:nvPicPr>
          <p:cNvPr id="17" name="그래픽 16" descr="벌집 단색으로 채워진">
            <a:extLst>
              <a:ext uri="{FF2B5EF4-FFF2-40B4-BE49-F238E27FC236}">
                <a16:creationId xmlns:a16="http://schemas.microsoft.com/office/drawing/2014/main" id="{05E7D406-C574-6F6D-7ACD-181BB58EC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0686" y="5279123"/>
            <a:ext cx="1094050" cy="10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748910"/>
              </p:ext>
            </p:extLst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4851672"/>
              </p:ext>
            </p:extLst>
          </p:nvPr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A3EE3-96A3-0424-B6E9-ED8334BAC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E85E2-E19F-DED9-0D64-5F12D6C86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090448-F1E2-CC60-8C1C-307860C97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0274E0-C944-571F-99A6-8DBED913D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6993115-7865-81BA-A743-D67B19399E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6EA4A369-5176-D464-3393-5C6B05EA837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7700402-4B42-389B-0836-4626E826AD7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AA05B9F0-4D64-3D6E-9E9F-F77B84C89EC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EEA9C19-5A33-60E9-0058-0AC7C0CCFD32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12727E37-BF46-CD89-29E8-6427A99FA92A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6C6FEEDE-07F2-0120-A291-EC103625847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88E8B721-6C5F-B933-68E7-0CDADF102FB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087345-3D44-83C4-FF2A-B9849FEEAA7C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73FB50B5-AEB2-D504-E196-288B25FDDD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A92855CA-095E-BC13-49AA-93B8BBCA1E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3A468393-ACA5-9105-19AF-C5D280C3F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E24645EF-A450-28D4-BCDB-5874B1C4A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ECF8694E-623E-61AF-4081-42B97178E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BCA43ACE-817E-9485-DA85-AE5089AD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4D5C0E80-503D-66F8-F5C3-3A12ED360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8BD012AA-3373-12A0-5A79-EF68DA3B6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340D91-C923-C535-13BC-3395F2932B80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9C996B9-C257-4A3E-EA03-299CE470DD6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9636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3BF02-8054-C5CC-946D-548E8BF7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0CFF86-6C96-FE00-F530-72F1F604FF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6537E90-2EC0-E5F9-F1ED-E613E4165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E73E2C-4CC1-C6D2-3969-665243D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8EE460-2FDB-D720-6501-41C8519B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BD850ACF-016D-2D17-CFC1-DBA19BD09828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A6DD019-1B21-A61A-3AEF-86E8CB51F71E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505BC2FF-F215-9F83-BE0B-7AE436A719F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5222750-BFB2-0438-06C1-14B1F0C03631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4F2E5F9-1F1B-BD5B-AC0B-7B098A2AB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D6D7DE1A-C255-973E-5235-B3BC86E2D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EB7F7486-6867-DAA8-0F87-DED43ABE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2A1852B-49E0-5CF2-CF82-66F6DCB8FC92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08E4825C-2DEA-025B-2808-C84BD00232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56B360E4-FEF9-4913-8F8C-86C21F8353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83CC053D-725D-81D7-6725-22443FD7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EFEF033-DC68-8FE5-271A-DB843ED8F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5044164-471A-F1DF-8638-4D7ACA4B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B8CE688-3628-FE5F-F9F2-E9900F6F9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6B35EA8-21B1-5CB1-A801-CAF1866BFA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30747E08-666A-56A0-7932-6A6485079F7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D99563F2-9600-547B-84E6-54D36D6110E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16E9AEBD-ED79-CAFC-C831-40E81DEC8CB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D497A05-80FF-A946-FF18-5BF2D0B4F1F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645BA5DC-6BC8-CB37-CD94-12F00E2BA9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13" name="그래픽 12" descr="화살표 원 단색으로 채워진">
            <a:extLst>
              <a:ext uri="{FF2B5EF4-FFF2-40B4-BE49-F238E27FC236}">
                <a16:creationId xmlns:a16="http://schemas.microsoft.com/office/drawing/2014/main" id="{52D5811F-D02A-5199-23A1-25068011F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sp>
        <p:nvSpPr>
          <p:cNvPr id="17" name="내용 개체 틀 6">
            <a:extLst>
              <a:ext uri="{FF2B5EF4-FFF2-40B4-BE49-F238E27FC236}">
                <a16:creationId xmlns:a16="http://schemas.microsoft.com/office/drawing/2014/main" id="{40E86A89-1908-A64A-3730-FF0883976C8F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6076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4E5CF-CA08-F22B-C442-8AF9E5B1B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03C0798-B239-5631-232B-190A1D68A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35CFE1E-1703-988F-FF90-678D81C1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28E19C-1605-934D-9119-F4B26A61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C9E707-A502-BA5D-445F-B380B80B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7EC5FB-CAD2-92FB-FC4E-D500A6FD04B7}"/>
              </a:ext>
            </a:extLst>
          </p:cNvPr>
          <p:cNvSpPr txBox="1"/>
          <p:nvPr/>
        </p:nvSpPr>
        <p:spPr>
          <a:xfrm>
            <a:off x="7355703" y="1497402"/>
            <a:ext cx="2343015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수정 및 </a:t>
            </a:r>
            <a:r>
              <a:rPr lang="en-US" altLang="ko-KR" sz="2400" dirty="0"/>
              <a:t>ETA</a:t>
            </a:r>
            <a:r>
              <a:rPr lang="ko-KR" altLang="en-US" sz="2400" dirty="0"/>
              <a:t>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3B78E771-EE67-3363-74CE-5BE8E45F6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FD3ED5F-E52C-6E1E-18C6-4EA0C353BD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898F2F0-CC39-74ED-80ED-E23DAD371D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7D0BFC78-6815-BA56-8807-14DEC7ADF327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7FBD724-7228-D223-79FB-EFEB07DE1A2B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0191FC9B-E8A5-68EF-9398-31D4A3C50A1D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BD663C2-9854-34FD-F767-6871330083C9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2B948421-4C78-98EB-A0AC-3C003F7B53F2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E12CEDD-C58F-EC6A-549C-826EDF1DEB0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64B63E48-8A05-28BB-0BCB-19308FCBABC3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내용 개체 틀 6">
            <a:extLst>
              <a:ext uri="{FF2B5EF4-FFF2-40B4-BE49-F238E27FC236}">
                <a16:creationId xmlns:a16="http://schemas.microsoft.com/office/drawing/2014/main" id="{72C29E85-E90A-BBE0-C3C0-3179A06A3B1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9C4484A7-671A-39EC-B37A-AFD550787ED4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B0D325B3-8964-CAC4-0780-DD8DD3C2DD3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DF5E16A-3FB0-AD14-247B-102E5D75A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383706A-193E-9558-FF1F-9A5797D3F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cxnSp>
        <p:nvCxnSpPr>
          <p:cNvPr id="23" name="연결선: 구부러짐 22">
            <a:extLst>
              <a:ext uri="{FF2B5EF4-FFF2-40B4-BE49-F238E27FC236}">
                <a16:creationId xmlns:a16="http://schemas.microsoft.com/office/drawing/2014/main" id="{DE3AD1BD-AA24-1CD3-A770-563CE89E1A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DBBF072-4508-D5D8-AA7E-D8868AEDC1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513A0B68-C4F4-388C-4777-65CC94EC0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BDD48D8-B92D-C076-AAC9-57F1B38C95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FE72806D-1A11-37AF-20C1-74207BF8C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FC23F6-ED54-37B8-C73C-F085538C10A7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</p:spTree>
    <p:extLst>
      <p:ext uri="{BB962C8B-B14F-4D97-AF65-F5344CB8AC3E}">
        <p14:creationId xmlns:p14="http://schemas.microsoft.com/office/powerpoint/2010/main" val="2114983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2CB84-7D7C-7272-F7CC-82EE699DA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A810EE0-3DF7-3084-1B3D-09BE12FAE06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6EC6DF-1315-50B6-E307-28CBC027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3B8B1E-D78A-B339-80D2-8B0684D43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62DC3-8AEA-4835-11C5-255059929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BF21618-E877-9AB7-CDF8-6B5A59FED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1EFDDEA-14B3-452E-5C8F-EA66A787C2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8483C77-BA93-65EA-1A35-59E29B05AE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42D80B9-D327-B5D3-DC49-5B3110FB84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25BA8BB-ECB9-AFA1-64F6-6F356FF1B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3C071AE-1094-3F49-E5CE-51D6E0794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72B3299-6310-C77A-C328-81F54074E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D16DCA6A-E4C2-C18D-570B-D0133FCFC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D954EC8-6F33-35A6-3E5C-A788D38989A9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최적 경로로 이동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FBEED702-4FD5-14D0-3F20-803CA3F979ED}"/>
              </a:ext>
            </a:extLst>
          </p:cNvPr>
          <p:cNvGrpSpPr/>
          <p:nvPr/>
        </p:nvGrpSpPr>
        <p:grpSpPr>
          <a:xfrm>
            <a:off x="5291176" y="2775371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22E3AB1-6E5C-6C43-6D99-4621F32F737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6BA5F0C3-A617-68C5-EA6A-B55612CB1C0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897D2E8-9E8B-5E30-CA51-394557251B1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B9CEAB0E-6EBA-A5DB-2479-2CBD802FDB4E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3" name="연결선: 구부러짐 2">
            <a:extLst>
              <a:ext uri="{FF2B5EF4-FFF2-40B4-BE49-F238E27FC236}">
                <a16:creationId xmlns:a16="http://schemas.microsoft.com/office/drawing/2014/main" id="{13B3773D-F6E9-0828-809D-44930DA436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F405A9-9058-7DE6-A4CC-DF0B8A354233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A92E2A3B-1F54-FC68-B1E3-3C230B62CC66}"/>
              </a:ext>
            </a:extLst>
          </p:cNvPr>
          <p:cNvGrpSpPr/>
          <p:nvPr/>
        </p:nvGrpSpPr>
        <p:grpSpPr>
          <a:xfrm>
            <a:off x="4624249" y="3076149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B1CF3CF-D771-3C1E-F8E0-9135BD87E0F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DF22E62-914B-6F05-9103-8416D08B416A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0904A0D8-3A78-8BA4-CF16-1205612778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51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지형 비용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벌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방해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EB222D-2353-B17A-801D-3A4A72DC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의 핵심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F3659E-D04F-C0CE-73F7-1D512F9090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행동트리</a:t>
            </a:r>
            <a:r>
              <a:rPr lang="en-US" altLang="ko-KR" dirty="0"/>
              <a:t>X</a:t>
            </a:r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핵심 </a:t>
            </a:r>
            <a:r>
              <a:rPr lang="en-US" altLang="ko-KR" dirty="0"/>
              <a:t>= </a:t>
            </a:r>
            <a:br>
              <a:rPr lang="en-US" altLang="ko-KR" dirty="0"/>
            </a:br>
            <a:r>
              <a:rPr lang="en-US" altLang="ko-KR" dirty="0"/>
              <a:t>AI </a:t>
            </a:r>
            <a:r>
              <a:rPr lang="ko-KR" altLang="en-US" dirty="0"/>
              <a:t>매니저 </a:t>
            </a:r>
            <a:r>
              <a:rPr lang="en-US" altLang="ko-KR" dirty="0"/>
              <a:t>+ (</a:t>
            </a:r>
            <a:r>
              <a:rPr lang="ko-KR" altLang="en-US" dirty="0"/>
              <a:t>경로</a:t>
            </a:r>
            <a:r>
              <a:rPr lang="en-US" altLang="ko-KR" dirty="0"/>
              <a:t>)</a:t>
            </a:r>
            <a:r>
              <a:rPr lang="ko-KR" altLang="en-US" dirty="0"/>
              <a:t>그래프 </a:t>
            </a:r>
            <a:r>
              <a:rPr lang="en-US" altLang="ko-KR" dirty="0"/>
              <a:t>+ </a:t>
            </a:r>
            <a:r>
              <a:rPr lang="ko-KR" altLang="en-US" dirty="0"/>
              <a:t>동적 비용평가 알고리즘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55AAD6-47D7-C4D1-D7C1-504BF468C1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A3DA03-D272-1221-5D3E-686E815D1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4166A3-266B-A327-FD7E-1E933923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3A843C7-A6EA-F261-B8A7-AA9701689B6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89537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908718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881972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908718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5035685" y="4299938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비동기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매니저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((</a:t>
            </a:r>
            <a:r>
              <a:rPr lang="ko-KR" altLang="en-US" dirty="0">
                <a:solidFill>
                  <a:schemeClr val="tx1"/>
                </a:solidFill>
              </a:rPr>
              <a:t>반드시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5035685" y="5611946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3336587" y="7174839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6219217" y="7174839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4925408" y="2519579"/>
            <a:ext cx="2827564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5416622" y="-803697"/>
            <a:ext cx="1845138" cy="9441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시작지점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16200000" flipH="1">
            <a:off x="5968442" y="511222"/>
            <a:ext cx="74149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099519" y="-1330954"/>
            <a:ext cx="76824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7810620" y="-1330956"/>
            <a:ext cx="76824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5987315" y="2167702"/>
            <a:ext cx="703752" cy="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2"/>
            <a:endCxn id="15" idx="0"/>
          </p:cNvCxnSpPr>
          <p:nvPr/>
        </p:nvCxnSpPr>
        <p:spPr>
          <a:xfrm rot="16200000" flipH="1">
            <a:off x="6024672" y="3985418"/>
            <a:ext cx="629038" cy="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 rot="5400000">
            <a:off x="6150116" y="5422869"/>
            <a:ext cx="378153" cy="1270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2"/>
            <a:endCxn id="21" idx="0"/>
          </p:cNvCxnSpPr>
          <p:nvPr/>
        </p:nvCxnSpPr>
        <p:spPr>
          <a:xfrm rot="16200000" flipH="1">
            <a:off x="6654539" y="6230454"/>
            <a:ext cx="629038" cy="12597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rot="5400000">
            <a:off x="5213224" y="6048871"/>
            <a:ext cx="629038" cy="162289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7856239" y="325524"/>
            <a:ext cx="677006" cy="371110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16200000" flipH="1">
            <a:off x="4145137" y="325526"/>
            <a:ext cx="677006" cy="371110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8A86-A4AE-41AE-2C62-21D9B42E4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비동기 </a:t>
            </a:r>
            <a:r>
              <a:rPr lang="en-US" altLang="ko-KR" dirty="0"/>
              <a:t>ETA </a:t>
            </a:r>
            <a:r>
              <a:rPr lang="ko-KR" altLang="en-US" dirty="0"/>
              <a:t>계산하는</a:t>
            </a:r>
            <a:br>
              <a:rPr lang="en-US" altLang="ko-KR" dirty="0"/>
            </a:br>
            <a:r>
              <a:rPr lang="en-US" altLang="ko-KR" dirty="0"/>
              <a:t>AI </a:t>
            </a:r>
            <a:r>
              <a:rPr lang="ko-KR" altLang="en-US" dirty="0"/>
              <a:t>매니저</a:t>
            </a:r>
            <a:r>
              <a:rPr lang="en-US" altLang="ko-KR" dirty="0"/>
              <a:t>(</a:t>
            </a:r>
            <a:r>
              <a:rPr lang="ko-KR" altLang="en-US" dirty="0"/>
              <a:t>서버에서 실행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2275BB-7254-7E7D-ED7C-AF710286BF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역할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ko-KR" altLang="en-US" dirty="0"/>
              <a:t>현재 </a:t>
            </a:r>
            <a:r>
              <a:rPr lang="ko-KR" altLang="en-US" dirty="0" err="1"/>
              <a:t>배달품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ko-KR" altLang="en-US" dirty="0"/>
              <a:t>각 경로별 지형 확인</a:t>
            </a:r>
            <a:br>
              <a:rPr lang="en-US" altLang="ko-KR" dirty="0"/>
            </a:br>
            <a:r>
              <a:rPr lang="ko-KR" altLang="en-US" dirty="0"/>
              <a:t>경로별</a:t>
            </a:r>
            <a:r>
              <a:rPr lang="en-US" altLang="ko-KR" dirty="0"/>
              <a:t>/</a:t>
            </a:r>
            <a:r>
              <a:rPr lang="ko-KR" altLang="en-US" dirty="0"/>
              <a:t>주변 생물 확인</a:t>
            </a:r>
            <a:br>
              <a:rPr lang="en-US" altLang="ko-KR" dirty="0"/>
            </a:br>
            <a:r>
              <a:rPr lang="ko-KR" altLang="en-US" dirty="0"/>
              <a:t>각 경로별 예상 소요시간 계산</a:t>
            </a:r>
            <a:br>
              <a:rPr lang="en-US" altLang="ko-KR" dirty="0"/>
            </a:br>
            <a:r>
              <a:rPr lang="ko-KR" altLang="en-US" dirty="0"/>
              <a:t>경로 순위가 아니라 평가 결과 생성</a:t>
            </a:r>
            <a:br>
              <a:rPr lang="en-US" altLang="ko-KR" dirty="0"/>
            </a:br>
            <a:r>
              <a:rPr lang="ko-KR" altLang="en-US" dirty="0"/>
              <a:t>플레이어 </a:t>
            </a:r>
            <a:r>
              <a:rPr lang="en-US" altLang="ko-KR" dirty="0"/>
              <a:t>UI</a:t>
            </a:r>
            <a:r>
              <a:rPr lang="ko-KR" altLang="en-US" dirty="0"/>
              <a:t>에 전달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환경 변화가 발생하면 재계산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AA815-1CFD-008F-675B-5EA554C88C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dirty="0"/>
              <a:t>Behavior Tree </a:t>
            </a:r>
            <a:r>
              <a:rPr lang="ko-KR" altLang="en-US" dirty="0"/>
              <a:t>사용 </a:t>
            </a:r>
            <a:r>
              <a:rPr lang="en-US" altLang="ko-KR" dirty="0"/>
              <a:t>X(Behavior Tree</a:t>
            </a:r>
            <a:r>
              <a:rPr lang="ko-KR" altLang="en-US" dirty="0"/>
              <a:t>는 생물 행동에 사용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NavMesh</a:t>
            </a:r>
            <a:r>
              <a:rPr lang="en-US" altLang="ko-KR" dirty="0"/>
              <a:t> </a:t>
            </a:r>
            <a:r>
              <a:rPr lang="ko-KR" altLang="en-US" dirty="0"/>
              <a:t>일부 사용</a:t>
            </a:r>
            <a:r>
              <a:rPr lang="en-US" altLang="ko-KR" dirty="0"/>
              <a:t>(</a:t>
            </a:r>
            <a:r>
              <a:rPr lang="ko-KR" altLang="en-US" dirty="0"/>
              <a:t>실제로 이동이 가능한지</a:t>
            </a:r>
            <a:r>
              <a:rPr lang="en-US" altLang="ko-KR" dirty="0"/>
              <a:t>, </a:t>
            </a:r>
            <a:r>
              <a:rPr lang="ko-KR" altLang="en-US" dirty="0"/>
              <a:t>실제 이동 거리는 </a:t>
            </a:r>
            <a:r>
              <a:rPr lang="ko-KR" altLang="en-US" dirty="0" err="1"/>
              <a:t>얼만큼인지</a:t>
            </a:r>
            <a:r>
              <a:rPr lang="en-US" altLang="ko-KR" dirty="0"/>
              <a:t>, </a:t>
            </a:r>
            <a:r>
              <a:rPr lang="ko-KR" altLang="en-US" dirty="0"/>
              <a:t>어떤 지형을 지나가는지 확인의 역할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경로는 경로 후보가 존재하므로 </a:t>
            </a:r>
            <a:r>
              <a:rPr lang="en-US" altLang="ko-KR" dirty="0"/>
              <a:t>Graph </a:t>
            </a:r>
            <a:r>
              <a:rPr lang="ko-KR" altLang="en-US" dirty="0"/>
              <a:t>구조로 관리</a:t>
            </a:r>
            <a:endParaRPr lang="en-US" altLang="ko-KR" dirty="0"/>
          </a:p>
          <a:p>
            <a:r>
              <a:rPr lang="en-US" altLang="ko-KR" dirty="0"/>
              <a:t>EQS</a:t>
            </a:r>
            <a:r>
              <a:rPr lang="ko-KR" altLang="en-US" dirty="0"/>
              <a:t>는 프로토타입에는 적용하지 </a:t>
            </a:r>
            <a:r>
              <a:rPr lang="en-US" altLang="ko-KR" dirty="0"/>
              <a:t>X(</a:t>
            </a:r>
            <a:r>
              <a:rPr lang="ko-KR" altLang="en-US" dirty="0"/>
              <a:t>프로토타입 검토 후</a:t>
            </a:r>
            <a:r>
              <a:rPr lang="en-US" altLang="ko-KR" dirty="0"/>
              <a:t>,</a:t>
            </a:r>
            <a:r>
              <a:rPr lang="ko-KR" altLang="en-US" dirty="0"/>
              <a:t> 사용 여부 판단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58E476-81EA-479B-A1AA-FE8FCF7BC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0FD53A-C6EC-996C-A464-6BCFE560C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E34AB8D-AACD-F16C-0142-31777AB22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713423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만드는 예시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D2E19D-BD40-235C-45DD-A422FE7868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838200" y="92104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3382926" y="937265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3226095" y="198784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5849547" y="1084079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2153356" y="1244203"/>
            <a:ext cx="1072739" cy="106680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2153356" y="1244203"/>
            <a:ext cx="1229570" cy="1621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2261249" y="929209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4093535" y="1260422"/>
            <a:ext cx="1756012" cy="14681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093535" y="1407236"/>
            <a:ext cx="1756012" cy="90376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5452524" y="106764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838200" y="3254646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3365557" y="3022807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A428D53-ED24-37AD-761D-E7874D78850B}"/>
              </a:ext>
            </a:extLst>
          </p:cNvPr>
          <p:cNvSpPr/>
          <p:nvPr/>
        </p:nvSpPr>
        <p:spPr>
          <a:xfrm>
            <a:off x="7497402" y="196073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39D2FD80-9266-4DA2-2434-02A15EE3B11F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8071777" y="263587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B99E33E-201D-03E9-64AB-DC37A6370764}"/>
              </a:ext>
            </a:extLst>
          </p:cNvPr>
          <p:cNvSpPr/>
          <p:nvPr/>
        </p:nvSpPr>
        <p:spPr>
          <a:xfrm>
            <a:off x="7729147" y="277524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8057088-C2D8-9C71-7E39-76ED2321BB74}"/>
              </a:ext>
            </a:extLst>
          </p:cNvPr>
          <p:cNvSpPr/>
          <p:nvPr/>
        </p:nvSpPr>
        <p:spPr>
          <a:xfrm>
            <a:off x="7230671" y="3556892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6850A36-3290-2FEC-5466-DBA5A005F41B}"/>
              </a:ext>
            </a:extLst>
          </p:cNvPr>
          <p:cNvSpPr/>
          <p:nvPr/>
        </p:nvSpPr>
        <p:spPr>
          <a:xfrm>
            <a:off x="7230670" y="4890790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A218BD0C-F856-CB08-7242-3AC934D4D977}"/>
              </a:ext>
            </a:extLst>
          </p:cNvPr>
          <p:cNvSpPr/>
          <p:nvPr/>
        </p:nvSpPr>
        <p:spPr>
          <a:xfrm>
            <a:off x="7230669" y="577687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6AAB067-2FD8-3D01-4611-853719068891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8036078" y="3381821"/>
            <a:ext cx="350142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40936B66-5311-8C72-CFA1-BCAD6A546241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7988601" y="4668242"/>
            <a:ext cx="445095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F6184F30-941D-8E2F-70BB-2B608527F281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8012998" y="5578723"/>
            <a:ext cx="39629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63E0CDA3-CFC3-BABD-CC4A-B41058520153}"/>
              </a:ext>
            </a:extLst>
          </p:cNvPr>
          <p:cNvSpPr/>
          <p:nvPr/>
        </p:nvSpPr>
        <p:spPr>
          <a:xfrm>
            <a:off x="9673627" y="1960736"/>
            <a:ext cx="2397694" cy="32399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 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62733BD7-1D75-1BA7-8553-1F9074002A4D}"/>
              </a:ext>
            </a:extLst>
          </p:cNvPr>
          <p:cNvSpPr/>
          <p:nvPr/>
        </p:nvSpPr>
        <p:spPr>
          <a:xfrm>
            <a:off x="1818677" y="5664804"/>
            <a:ext cx="2743200" cy="19072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 따른 비용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3BC4B-BBC0-DF24-91CF-0E93A96D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2800" dirty="0"/>
              <a:t>AI</a:t>
            </a:r>
            <a:r>
              <a:rPr lang="ko-KR" altLang="en-US" sz="2800" dirty="0"/>
              <a:t> 구현을 위한 종 반응 테이블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B523747-21AE-CF68-A3AA-CCBD8C58B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FE0632-40AF-9192-9080-F3CDE5661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7002FD3-7EDD-0B46-CAED-2D63290A2EF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373DF5BD-D26B-B093-4206-DAF91EB728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6970103"/>
              </p:ext>
            </p:extLst>
          </p:nvPr>
        </p:nvGraphicFramePr>
        <p:xfrm>
          <a:off x="838198" y="1121076"/>
          <a:ext cx="2609852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4926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04926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5896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3225674" y="2822210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393639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E9131-CA6A-73EF-8786-50169C02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B4582-482D-F94F-9CBE-3759C4EC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endParaRPr lang="ko-KR" altLang="en-US" dirty="0"/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353D2E58-196B-F7C9-3A8B-B55E207FBB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6473664"/>
              </p:ext>
            </p:extLst>
          </p:nvPr>
        </p:nvGraphicFramePr>
        <p:xfrm>
          <a:off x="838198" y="1121076"/>
          <a:ext cx="1071544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75E976-EB64-DB06-491D-7C5882E5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6A861-B6CD-2296-EC28-22768509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3FEC3E9A-A97C-A4ED-D4DF-7BDBCDDFABB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CA774AC-46E6-0BB1-188D-8B7BBAA88D45}"/>
              </a:ext>
            </a:extLst>
          </p:cNvPr>
          <p:cNvCxnSpPr>
            <a:cxnSpLocks/>
          </p:cNvCxnSpPr>
          <p:nvPr/>
        </p:nvCxnSpPr>
        <p:spPr>
          <a:xfrm>
            <a:off x="2036755" y="1857608"/>
            <a:ext cx="2368172" cy="13978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3282333-3E19-221B-490A-A52A3A39611E}"/>
              </a:ext>
            </a:extLst>
          </p:cNvPr>
          <p:cNvCxnSpPr>
            <a:cxnSpLocks/>
          </p:cNvCxnSpPr>
          <p:nvPr/>
        </p:nvCxnSpPr>
        <p:spPr>
          <a:xfrm>
            <a:off x="3204391" y="1857608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3DC11C70-6540-54D7-14D7-6FFBEEC703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709336"/>
              </p:ext>
            </p:extLst>
          </p:nvPr>
        </p:nvGraphicFramePr>
        <p:xfrm>
          <a:off x="841037" y="3457546"/>
          <a:ext cx="594838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8D4E3C5-2CF0-4BAC-84E8-5A72D288969A}"/>
              </a:ext>
            </a:extLst>
          </p:cNvPr>
          <p:cNvCxnSpPr>
            <a:cxnSpLocks/>
          </p:cNvCxnSpPr>
          <p:nvPr/>
        </p:nvCxnSpPr>
        <p:spPr>
          <a:xfrm>
            <a:off x="2003855" y="2570889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83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5221</TotalTime>
  <Words>2069</Words>
  <Application>Microsoft Office PowerPoint</Application>
  <PresentationFormat>와이드스크린</PresentationFormat>
  <Paragraphs>519</Paragraphs>
  <Slides>47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47</vt:i4>
      </vt:variant>
    </vt:vector>
  </HeadingPairs>
  <TitlesOfParts>
    <vt:vector size="52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게임 내 모든 객체</vt:lpstr>
      <vt:lpstr>배달품_벌꿀</vt:lpstr>
      <vt:lpstr>맵</vt:lpstr>
      <vt:lpstr>맵_지형</vt:lpstr>
      <vt:lpstr>데이터 테이블_맵</vt:lpstr>
      <vt:lpstr>플레이어블 캐릭터</vt:lpstr>
      <vt:lpstr>NPC_주민</vt:lpstr>
      <vt:lpstr>NPC_생물_벌</vt:lpstr>
      <vt:lpstr>상호작용_생물_벌</vt:lpstr>
      <vt:lpstr>NPC_생물_벌 행동트리</vt:lpstr>
      <vt:lpstr>데이터 테이블_NPC,플레이어</vt:lpstr>
      <vt:lpstr>경로 예측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상호작용_배달품</vt:lpstr>
      <vt:lpstr>도우미 AI 구현 계획</vt:lpstr>
      <vt:lpstr>AI의 핵심</vt:lpstr>
      <vt:lpstr>도우미 AI 구현 아키텍쳐</vt:lpstr>
      <vt:lpstr>비동기 ETA 계산하는 AI 매니저(서버에서 실행)</vt:lpstr>
      <vt:lpstr>경로 후보 만드는 예시</vt:lpstr>
      <vt:lpstr>AI 구현을 위한 종 반응 테이블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부록</vt:lpstr>
      <vt:lpstr>데이터 테이블_</vt:lpstr>
      <vt:lpstr>상호작용_배달품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209</cp:revision>
  <dcterms:created xsi:type="dcterms:W3CDTF">2026-09-16T19:24:55Z</dcterms:created>
  <dcterms:modified xsi:type="dcterms:W3CDTF">2026-10-02T07:09:58Z</dcterms:modified>
</cp:coreProperties>
</file>