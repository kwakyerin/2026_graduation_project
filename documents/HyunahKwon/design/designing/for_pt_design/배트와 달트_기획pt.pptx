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6" r:id="rId3"/>
    <p:sldId id="281" r:id="rId4"/>
    <p:sldId id="257" r:id="rId5"/>
    <p:sldId id="258" r:id="rId6"/>
    <p:sldId id="259" r:id="rId7"/>
    <p:sldId id="261" r:id="rId8"/>
    <p:sldId id="265" r:id="rId9"/>
    <p:sldId id="260" r:id="rId10"/>
    <p:sldId id="271" r:id="rId11"/>
    <p:sldId id="268" r:id="rId12"/>
    <p:sldId id="272" r:id="rId13"/>
    <p:sldId id="273" r:id="rId14"/>
    <p:sldId id="278" r:id="rId15"/>
    <p:sldId id="286" r:id="rId16"/>
    <p:sldId id="280" r:id="rId17"/>
    <p:sldId id="277" r:id="rId18"/>
    <p:sldId id="279" r:id="rId19"/>
    <p:sldId id="262" r:id="rId20"/>
    <p:sldId id="269" r:id="rId21"/>
    <p:sldId id="274" r:id="rId22"/>
    <p:sldId id="289" r:id="rId23"/>
    <p:sldId id="294" r:id="rId24"/>
    <p:sldId id="291" r:id="rId25"/>
    <p:sldId id="288" r:id="rId26"/>
    <p:sldId id="290" r:id="rId27"/>
    <p:sldId id="276" r:id="rId28"/>
    <p:sldId id="263" r:id="rId29"/>
    <p:sldId id="270" r:id="rId30"/>
    <p:sldId id="285" r:id="rId31"/>
    <p:sldId id="295" r:id="rId32"/>
    <p:sldId id="284" r:id="rId33"/>
    <p:sldId id="287" r:id="rId34"/>
    <p:sldId id="275" r:id="rId35"/>
    <p:sldId id="282" r:id="rId36"/>
    <p:sldId id="28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kor.pngtree.com/so/%EB%A7%88%EC%9A%B0%EC%8A%A4" TargetMode="External"/><Relationship Id="rId3" Type="http://schemas.openxmlformats.org/officeDocument/2006/relationships/hyperlink" Target="https://www.reddit.com/r/PartyAnimalsGame/comments/1b0dmqw/how_to_get_a_new_exclusive_tiagra_skin/" TargetMode="External"/><Relationship Id="rId7" Type="http://schemas.openxmlformats.org/officeDocument/2006/relationships/hyperlink" Target="https://creatorjoseph.com/268#google_vignette" TargetMode="External"/><Relationship Id="rId2" Type="http://schemas.openxmlformats.org/officeDocument/2006/relationships/hyperlink" Target="https://namu.wiki/w/%EB%8F%99%EB%AC%BC%EC%9D%98%20%EC%88%B2%20%EC%8B%9C%EB%A6%AC%EC%A6%88/%EC%9D%BC%EB%B0%98%20%EC%A3%BC%EB%AF%BC/%EA%B3%B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elog.io/@dev_sensational/Unity-3%EC%9D%B8%EC%B9%AD-Back-view-%EC%8A%88%ED%8C%85%EA%B2%8C%EC%9E%84TPS-%ED%94%84%EB%A1%9C%EC%A0%9D%ED%8A%B8-%EC%8B%9C%EC%9E%91" TargetMode="External"/><Relationship Id="rId5" Type="http://schemas.openxmlformats.org/officeDocument/2006/relationships/hyperlink" Target="https://www.youtube.com/watch?v=eNRvtvpl1Io&amp;t=872s" TargetMode="External"/><Relationship Id="rId4" Type="http://schemas.openxmlformats.org/officeDocument/2006/relationships/hyperlink" Target="https://page.onstove.com/indie/global/view/9597749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arca.live/b/fallout76/19323367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hyperlink" Target="https://gameuidatabase.com/index.php?&amp;scrn=71&amp;set=1&amp;plat=1&amp;tag=131&amp;series=106&amp;sort=2&amp;r=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constante.tistory.com/entry/%EA%B7%B8%EB%A6%B0-%ED%97%ACGreen-Hell-%EC%B4%88%EB%B3%B4%EA%B0%80%EC%9D%B4%EB%93%9C-%ED%8A%9C%ED%86%A0%EB%A6%AC%EC%96%BC-%ED%95%B4%EC%95%BC-%ED%95%98%EB%8A%94-%EC%9D%B4%EC%9C%A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기획서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D08547-37A1-E3B2-6FAD-B80A2923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 정리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84E81B8-0B77-EDAD-6246-69BCE7BA2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0"/>
            <a:ext cx="10515600" cy="4811713"/>
          </a:xfrm>
        </p:spPr>
        <p:txBody>
          <a:bodyPr>
            <a:normAutofit/>
          </a:bodyPr>
          <a:lstStyle/>
          <a:p>
            <a:r>
              <a:rPr lang="ko-KR" altLang="en-US" sz="2400" dirty="0" err="1"/>
              <a:t>배송품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배달품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모두 동일한 의미로 사용됨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플레이어가 배달을 </a:t>
            </a:r>
            <a:br>
              <a:rPr lang="en-US" altLang="ko-KR" sz="2400" dirty="0"/>
            </a:br>
            <a:r>
              <a:rPr lang="ko-KR" altLang="en-US" sz="2400" dirty="0"/>
              <a:t>진행해야 하는 아이템</a:t>
            </a:r>
            <a:endParaRPr lang="en-US" altLang="ko-KR" sz="2400" dirty="0"/>
          </a:p>
          <a:p>
            <a:r>
              <a:rPr lang="ko-KR" altLang="en-US" sz="2400" dirty="0"/>
              <a:t>방향전환율</a:t>
            </a:r>
            <a:r>
              <a:rPr lang="en-US" altLang="ko-KR" sz="2400" dirty="0"/>
              <a:t>, </a:t>
            </a:r>
            <a:r>
              <a:rPr lang="ko-KR" altLang="en-US" sz="2400" dirty="0"/>
              <a:t>방향회전율 </a:t>
            </a:r>
            <a:r>
              <a:rPr lang="en-US" altLang="ko-KR" sz="2400" dirty="0"/>
              <a:t>: </a:t>
            </a:r>
            <a:r>
              <a:rPr lang="ko-KR" altLang="en-US" sz="2400" dirty="0"/>
              <a:t>모두 동일한 의미로 사용됨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플레이어가 </a:t>
            </a:r>
            <a:br>
              <a:rPr lang="en-US" altLang="ko-KR" sz="2400" dirty="0"/>
            </a:br>
            <a:r>
              <a:rPr lang="ko-KR" altLang="en-US" sz="2400" dirty="0"/>
              <a:t>회전하는 정도</a:t>
            </a:r>
            <a:endParaRPr lang="en-US" altLang="ko-KR" sz="2400" dirty="0"/>
          </a:p>
          <a:p>
            <a:r>
              <a:rPr lang="ko-KR" altLang="en-US" sz="2400" dirty="0"/>
              <a:t>도우미 </a:t>
            </a:r>
            <a:r>
              <a:rPr lang="en-US" altLang="ko-KR" sz="2400" dirty="0"/>
              <a:t>AI : </a:t>
            </a:r>
            <a:r>
              <a:rPr lang="ko-KR" altLang="en-US" sz="2400" dirty="0"/>
              <a:t>경로를 보여주고 배달 예상 시간을 예측해 알려주는 </a:t>
            </a:r>
            <a:r>
              <a:rPr lang="en-US" altLang="ko-KR" sz="2400" dirty="0"/>
              <a:t>AI</a:t>
            </a:r>
            <a:endParaRPr lang="ko-KR" altLang="en-US" sz="24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7E5AFA-7451-4018-1D9E-19765E590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해당 문서에서 자주 사용되는 단어들</a:t>
            </a:r>
          </a:p>
        </p:txBody>
      </p:sp>
    </p:spTree>
    <p:extLst>
      <p:ext uri="{BB962C8B-B14F-4D97-AF65-F5344CB8AC3E}">
        <p14:creationId xmlns:p14="http://schemas.microsoft.com/office/powerpoint/2010/main" val="244943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BA673A-9754-955E-E2BE-50FEE622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2144712" cy="1600200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A3521E-F03E-CCD2-5860-75445C05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1" y="987425"/>
            <a:ext cx="7977188" cy="4873625"/>
          </a:xfrm>
        </p:spPr>
        <p:txBody>
          <a:bodyPr numCol="2"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게임 소개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정보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기획 목표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플로우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컨텐츠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스토리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 err="1"/>
              <a:t>플레이어블</a:t>
            </a:r>
            <a:r>
              <a:rPr lang="ko-KR" altLang="en-US" sz="2400" dirty="0"/>
              <a:t> 캐릭터</a:t>
            </a:r>
            <a:br>
              <a:rPr lang="en-US" altLang="ko-KR" sz="2400" dirty="0"/>
            </a:br>
            <a:r>
              <a:rPr lang="en-US" altLang="ko-KR" sz="2400" dirty="0"/>
              <a:t>&gt; NPC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반응 생물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주민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맵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상호작용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지형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 err="1"/>
              <a:t>배달품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생물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시스템</a:t>
            </a:r>
            <a:br>
              <a:rPr lang="en-US" altLang="ko-KR" sz="2400" dirty="0"/>
            </a:br>
            <a:r>
              <a:rPr lang="en-US" altLang="ko-KR" sz="2400" dirty="0"/>
              <a:t>&gt; UI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세부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컨트롤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참고문헌 및 출처</a:t>
            </a:r>
            <a:endParaRPr lang="en-US" altLang="ko-KR" sz="2400" b="1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부록</a:t>
            </a:r>
          </a:p>
        </p:txBody>
      </p:sp>
    </p:spTree>
    <p:extLst>
      <p:ext uri="{BB962C8B-B14F-4D97-AF65-F5344CB8AC3E}">
        <p14:creationId xmlns:p14="http://schemas.microsoft.com/office/powerpoint/2010/main" val="145431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650F7EC-D74B-E9B7-50BF-6581D245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69F915-976F-6F2C-D6C5-17B19A21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4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410909"/>
              </p:ext>
            </p:extLst>
          </p:nvPr>
        </p:nvGraphicFramePr>
        <p:xfrm>
          <a:off x="838200" y="1825625"/>
          <a:ext cx="10515600" cy="38472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7458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918142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인칭 2인 협동 FPS 배달 전략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strike="noStrike" dirty="0"/>
                        <a:t>도우미 </a:t>
                      </a:r>
                      <a:r>
                        <a:rPr lang="en-US" altLang="ko-KR" sz="1800" strike="noStrike" dirty="0"/>
                        <a:t>ai</a:t>
                      </a:r>
                      <a:r>
                        <a:rPr lang="ko-KR" altLang="en-US" sz="1800" strike="noStrike" dirty="0"/>
                        <a:t>의 안내를 능동적으로 판단하고 주위의 적들과 변하는 생태계를 견제하며 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클리어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000000"/>
                          </a:solidFill>
                        </a:rPr>
                        <a:t>시간 안에 배달을 성공적으로 완료하고 보수를 충분히 받아 떠나는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757B4-D983-2D61-C39C-50D61C9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8C2045-45F9-E24E-D52C-0E759A4040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0" name="설명선: 아래쪽 화살표 9">
            <a:extLst>
              <a:ext uri="{FF2B5EF4-FFF2-40B4-BE49-F238E27FC236}">
                <a16:creationId xmlns:a16="http://schemas.microsoft.com/office/drawing/2014/main" id="{A4C07938-75C4-DE26-9294-60E25770CCFC}"/>
              </a:ext>
            </a:extLst>
          </p:cNvPr>
          <p:cNvSpPr/>
          <p:nvPr/>
        </p:nvSpPr>
        <p:spPr>
          <a:xfrm>
            <a:off x="5167222" y="1680712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>
                <a:solidFill>
                  <a:sysClr val="windowText" lastClr="000000"/>
                </a:solidFill>
              </a:rPr>
              <a:t>배달과 FPS의</a:t>
            </a:r>
            <a:br>
              <a:rPr lang="en-US" altLang="ko-KR">
                <a:solidFill>
                  <a:sysClr val="windowText" lastClr="000000"/>
                </a:solidFill>
              </a:rPr>
            </a:br>
            <a:r>
              <a:rPr lang="ko-KR" altLang="ko-KR">
                <a:solidFill>
                  <a:sysClr val="windowText" lastClr="000000"/>
                </a:solidFill>
              </a:rPr>
              <a:t>결합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B5EC5924-72B1-84C9-1D16-C4C50C418DF0}"/>
              </a:ext>
            </a:extLst>
          </p:cNvPr>
          <p:cNvSpPr/>
          <p:nvPr/>
        </p:nvSpPr>
        <p:spPr>
          <a:xfrm>
            <a:off x="1629365" y="1680711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귀여움과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유쾌함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97DD45C7-29FA-5479-D86C-595907BB3A60}"/>
              </a:ext>
            </a:extLst>
          </p:cNvPr>
          <p:cNvSpPr/>
          <p:nvPr/>
        </p:nvSpPr>
        <p:spPr>
          <a:xfrm>
            <a:off x="8705079" y="1680710"/>
            <a:ext cx="1857555" cy="1748287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긴장감과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자율성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C605-483C-5B04-7AB1-4462287A507F}"/>
              </a:ext>
            </a:extLst>
          </p:cNvPr>
          <p:cNvSpPr txBox="1"/>
          <p:nvPr/>
        </p:nvSpPr>
        <p:spPr>
          <a:xfrm>
            <a:off x="1146289" y="3428997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돌발 상황과</a:t>
            </a:r>
            <a:endParaRPr lang="en-US" altLang="ko-KR" dirty="0"/>
          </a:p>
          <a:p>
            <a:pPr algn="ctr"/>
            <a:r>
              <a:rPr lang="ko-KR" altLang="ko-KR" dirty="0"/>
              <a:t>귀여운 캐릭터를 통해</a:t>
            </a:r>
            <a:br>
              <a:rPr lang="en-US" altLang="ko-KR" dirty="0"/>
            </a:br>
            <a:r>
              <a:rPr lang="ko-KR" altLang="en-US" dirty="0"/>
              <a:t>유쾌하고 </a:t>
            </a:r>
            <a:r>
              <a:rPr lang="ko-KR" altLang="ko-KR" dirty="0"/>
              <a:t>즐거운 플레이 경험 제공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CC909-81B5-6FE4-D3FE-574030106179}"/>
              </a:ext>
            </a:extLst>
          </p:cNvPr>
          <p:cNvSpPr txBox="1"/>
          <p:nvPr/>
        </p:nvSpPr>
        <p:spPr>
          <a:xfrm>
            <a:off x="8221999" y="3496892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실시간 변화와 </a:t>
            </a:r>
            <a:br>
              <a:rPr lang="en-US" altLang="ko-KR" dirty="0"/>
            </a:br>
            <a:r>
              <a:rPr lang="ko-KR" altLang="ko-KR" dirty="0"/>
              <a:t>예상 시간 정보를 </a:t>
            </a:r>
            <a:br>
              <a:rPr lang="en-US" altLang="ko-KR" dirty="0"/>
            </a:br>
            <a:r>
              <a:rPr lang="ko-KR" altLang="ko-KR" dirty="0"/>
              <a:t>바탕으로 플레이어의 </a:t>
            </a:r>
            <a:br>
              <a:rPr lang="en-US" altLang="ko-KR" dirty="0"/>
            </a:br>
            <a:r>
              <a:rPr lang="ko-KR" altLang="ko-KR" dirty="0"/>
              <a:t>판단과 행동 유도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AE55-8E3C-2011-4161-75B651D4D74C}"/>
              </a:ext>
            </a:extLst>
          </p:cNvPr>
          <p:cNvSpPr txBox="1"/>
          <p:nvPr/>
        </p:nvSpPr>
        <p:spPr>
          <a:xfrm>
            <a:off x="4607944" y="3549126"/>
            <a:ext cx="297611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배달 목표에</a:t>
            </a:r>
            <a:br>
              <a:rPr lang="en-US" altLang="ko-KR" dirty="0"/>
            </a:br>
            <a:r>
              <a:rPr lang="ko-KR" altLang="ko-KR" dirty="0"/>
              <a:t>전투와 경로 전략을 결합한</a:t>
            </a:r>
            <a:br>
              <a:rPr lang="en-US" altLang="ko-KR" dirty="0"/>
            </a:br>
            <a:r>
              <a:rPr lang="ko-KR" altLang="ko-KR" dirty="0"/>
              <a:t>새로운 협동 경험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91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150976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 결정됨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49552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78359" y="1520070"/>
            <a:ext cx="653426" cy="6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263560" y="1526836"/>
            <a:ext cx="809864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 flipV="1">
            <a:off x="1855419" y="1520070"/>
            <a:ext cx="518003" cy="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311423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145718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플로우 진행 중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810B-8A0E-AB8E-012B-5A3B3929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5A7B401-3726-3058-8321-23D9614CDA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82488"/>
            <a:ext cx="5181600" cy="3370502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458BC6-D69C-A1A2-A6B1-13DF8BEF77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 당신들은 자부심 넘치는 </a:t>
            </a:r>
            <a:br>
              <a:rPr lang="en-US" altLang="ko-KR" dirty="0"/>
            </a:br>
            <a:r>
              <a:rPr lang="ko-KR" altLang="en-US" dirty="0"/>
              <a:t>우주배달부입니다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오늘은 이 행성에 배달을 왔군요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이런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여러분의 배달 품목에는 조금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위험한</a:t>
            </a:r>
            <a:r>
              <a:rPr lang="en-US" altLang="ko-KR" dirty="0"/>
              <a:t>”</a:t>
            </a:r>
            <a:r>
              <a:rPr lang="ko-KR" altLang="en-US" dirty="0"/>
              <a:t>것들이 있네요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하지만 걱정할 것 없죠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여러분은 전문 </a:t>
            </a:r>
            <a:r>
              <a:rPr lang="ko-KR" altLang="en-US" dirty="0" err="1"/>
              <a:t>배달부니까요</a:t>
            </a:r>
            <a:r>
              <a:rPr lang="en-US" altLang="ko-KR" dirty="0"/>
              <a:t>!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과연 오늘도 제한 시간 안에 모든 배달을 마치고 귀환할 수 있을까요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48225F-E085-E798-1354-AE4ED835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67C09-42E5-89D8-6707-AA2602E1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AEE668E-625C-3F6B-736B-BACF027D5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CDC9D-F3E2-685F-9CA3-3259AAF33DA1}"/>
              </a:ext>
            </a:extLst>
          </p:cNvPr>
          <p:cNvSpPr txBox="1"/>
          <p:nvPr/>
        </p:nvSpPr>
        <p:spPr>
          <a:xfrm>
            <a:off x="838199" y="5352990"/>
            <a:ext cx="29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1]</a:t>
            </a:r>
            <a:r>
              <a:rPr lang="ko-KR" altLang="en-US" sz="1200" dirty="0"/>
              <a:t>게임</a:t>
            </a:r>
            <a:r>
              <a:rPr lang="en-US" altLang="ko-KR" sz="1200" dirty="0"/>
              <a:t>”run pizza run”</a:t>
            </a:r>
            <a:r>
              <a:rPr lang="ko-KR" altLang="en-US" sz="1200" dirty="0"/>
              <a:t> 플레이화면</a:t>
            </a:r>
          </a:p>
        </p:txBody>
      </p:sp>
    </p:spTree>
    <p:extLst>
      <p:ext uri="{BB962C8B-B14F-4D97-AF65-F5344CB8AC3E}">
        <p14:creationId xmlns:p14="http://schemas.microsoft.com/office/powerpoint/2010/main" val="90164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5C9215-8215-D4B2-FF11-B22CEE31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플레이어블</a:t>
            </a:r>
            <a:r>
              <a:rPr lang="ko-KR" altLang="en-US" dirty="0"/>
              <a:t> 캐릭터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D2AE0A-0A6D-FA31-4890-32CBA0C9D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디자인 컨셉 </a:t>
            </a:r>
            <a:r>
              <a:rPr lang="en-US" altLang="ko-KR" sz="2400" dirty="0"/>
              <a:t>: </a:t>
            </a:r>
            <a:r>
              <a:rPr lang="ko-KR" altLang="en-US" sz="2400" dirty="0"/>
              <a:t>자료 이미지처럼 </a:t>
            </a:r>
            <a:br>
              <a:rPr lang="en-US" altLang="ko-KR" sz="2400" dirty="0"/>
            </a:br>
            <a:r>
              <a:rPr lang="ko-KR" altLang="en-US" sz="2400" dirty="0"/>
              <a:t>동글동글한 이족보행 동물 캐릭터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가능한 동작 </a:t>
            </a:r>
            <a:r>
              <a:rPr lang="en-US" altLang="ko-KR" sz="2400" dirty="0"/>
              <a:t>:</a:t>
            </a:r>
            <a:br>
              <a:rPr lang="en-US" altLang="ko-KR" sz="2400" dirty="0"/>
            </a:br>
            <a:r>
              <a:rPr lang="ko-KR" altLang="en-US" sz="2400" dirty="0"/>
              <a:t>걷기</a:t>
            </a:r>
            <a:r>
              <a:rPr lang="en-US" altLang="ko-KR" sz="2400" dirty="0"/>
              <a:t>, </a:t>
            </a:r>
            <a:r>
              <a:rPr lang="ko-KR" altLang="en-US" sz="2400" dirty="0"/>
              <a:t>달리기</a:t>
            </a:r>
            <a:r>
              <a:rPr lang="en-US" altLang="ko-KR" sz="2400" dirty="0"/>
              <a:t>, </a:t>
            </a:r>
            <a:r>
              <a:rPr lang="ko-KR" altLang="en-US" sz="2400" dirty="0"/>
              <a:t>상호작용</a:t>
            </a:r>
            <a:r>
              <a:rPr lang="en-US" altLang="ko-KR" sz="2400" dirty="0"/>
              <a:t>(</a:t>
            </a:r>
            <a:r>
              <a:rPr lang="ko-KR" altLang="en-US" sz="2400" dirty="0"/>
              <a:t>물품 들기</a:t>
            </a:r>
            <a:r>
              <a:rPr lang="en-US" altLang="ko-KR" sz="2400" dirty="0"/>
              <a:t>), </a:t>
            </a:r>
            <a:r>
              <a:rPr lang="ko-KR" altLang="en-US" sz="2400" dirty="0"/>
              <a:t>총 조준</a:t>
            </a:r>
            <a:r>
              <a:rPr lang="en-US" altLang="ko-KR" sz="2400" dirty="0"/>
              <a:t>, </a:t>
            </a:r>
            <a:r>
              <a:rPr lang="ko-KR" altLang="en-US" sz="2400" dirty="0"/>
              <a:t>총 발사</a:t>
            </a:r>
            <a:r>
              <a:rPr lang="en-US" altLang="ko-KR" sz="2400" dirty="0"/>
              <a:t>, </a:t>
            </a:r>
            <a:r>
              <a:rPr lang="ko-KR" altLang="en-US" sz="2400" dirty="0"/>
              <a:t>점프 등 기본적인 동작들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B22C15-86A3-F2D5-9514-7E238DE9E2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3F6286-6394-F0E6-3780-8AA2C10C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64" y="1825625"/>
            <a:ext cx="1809575" cy="2575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FF547D-36F8-6D92-DD89-2ABCCA50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629" y="1660362"/>
            <a:ext cx="2324463" cy="2892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A06497-C397-ADAA-3DA5-1A99263FA041}"/>
              </a:ext>
            </a:extLst>
          </p:cNvPr>
          <p:cNvSpPr txBox="1"/>
          <p:nvPr/>
        </p:nvSpPr>
        <p:spPr>
          <a:xfrm>
            <a:off x="3365020" y="4584972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3]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 err="1"/>
              <a:t>파티애니멀즈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BF9A6-4880-3185-2CC3-6B9E831CD0CB}"/>
              </a:ext>
            </a:extLst>
          </p:cNvPr>
          <p:cNvSpPr txBox="1"/>
          <p:nvPr/>
        </p:nvSpPr>
        <p:spPr>
          <a:xfrm>
            <a:off x="1000664" y="4553190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2]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/>
              <a:t>동물의 숲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</p:spTree>
    <p:extLst>
      <p:ext uri="{BB962C8B-B14F-4D97-AF65-F5344CB8AC3E}">
        <p14:creationId xmlns:p14="http://schemas.microsoft.com/office/powerpoint/2010/main" val="78522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1B812-CDBB-9D5A-A6C7-F92F8C0F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반응 생물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01151-47B6-C912-B338-FDB800779E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이미지 추가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6A9D90-F02E-F595-E620-71D0297E2E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배송품에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다른 생물에 반응하거나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플레이어의 행동에 반응해 </a:t>
            </a:r>
            <a:br>
              <a:rPr lang="en-US" altLang="ko-KR" sz="2400" dirty="0"/>
            </a:br>
            <a:r>
              <a:rPr lang="ko-KR" altLang="en-US" sz="2400" dirty="0"/>
              <a:t>배송 시간에 영향을 주는 모든 </a:t>
            </a:r>
            <a:br>
              <a:rPr lang="en-US" altLang="ko-KR" sz="2400" dirty="0"/>
            </a:br>
            <a:r>
              <a:rPr lang="ko-KR" altLang="en-US" sz="2400" dirty="0"/>
              <a:t>생물들을 통틀어 부르는 말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특이사항 </a:t>
            </a:r>
            <a:r>
              <a:rPr lang="en-US" altLang="ko-KR" sz="2400" dirty="0"/>
              <a:t>: </a:t>
            </a:r>
            <a:r>
              <a:rPr lang="ko-KR" altLang="en-US" sz="2400" dirty="0"/>
              <a:t>상황에 따라</a:t>
            </a:r>
            <a:r>
              <a:rPr lang="en-US" altLang="ko-KR" sz="2400" dirty="0"/>
              <a:t> </a:t>
            </a:r>
            <a:r>
              <a:rPr lang="ko-KR" altLang="en-US" sz="2400" dirty="0"/>
              <a:t>행동반경이</a:t>
            </a:r>
            <a:br>
              <a:rPr lang="en-US" altLang="ko-KR" sz="2400" dirty="0"/>
            </a:br>
            <a:r>
              <a:rPr lang="ko-KR" altLang="en-US" sz="2400" dirty="0"/>
              <a:t>서식지에서 크게 벗어날 수 있음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260F7-3325-2433-9A2E-9ADBDA86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1B074-D4F3-9E87-21AC-400E1D7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19D52D-25D6-D3FB-B5F8-0C1637DFE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96436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4EEE1-7513-70FD-A7D8-685ADD62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주민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4275D-3DDE-E1B9-C73E-BF0F2457C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이미지 추가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5E10D-98DC-8DAC-4F62-6C32F0F5A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배달품을 주문해 전달받는 행성 주민</a:t>
            </a:r>
            <a:br>
              <a:rPr lang="en-US" altLang="ko-KR" sz="2400" dirty="0"/>
            </a:br>
            <a:endParaRPr lang="en-US" altLang="ko-KR" sz="2400" dirty="0"/>
          </a:p>
          <a:p>
            <a:r>
              <a:rPr lang="ko-KR" altLang="en-US" sz="2400" dirty="0"/>
              <a:t>특징 </a:t>
            </a:r>
            <a:r>
              <a:rPr lang="en-US" altLang="ko-KR" sz="2400" dirty="0"/>
              <a:t>: </a:t>
            </a:r>
            <a:r>
              <a:rPr lang="ko-KR" altLang="en-US" sz="2400" dirty="0"/>
              <a:t>반응 생물들과는 달리 직접 플레이어가 방문하지</a:t>
            </a:r>
            <a:r>
              <a:rPr lang="en-US" altLang="ko-KR" sz="2400" dirty="0"/>
              <a:t> </a:t>
            </a:r>
            <a:r>
              <a:rPr lang="ko-KR" altLang="en-US" sz="2400" dirty="0"/>
              <a:t>않는 이상 </a:t>
            </a:r>
            <a:br>
              <a:rPr lang="en-US" altLang="ko-KR" sz="2400" dirty="0"/>
            </a:br>
            <a:r>
              <a:rPr lang="ko-KR" altLang="en-US" sz="2400" dirty="0"/>
              <a:t>주거지에서 나오지 않음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A206D-048B-30A6-A29E-89FB4AC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ECEE5D-A882-C018-91BC-370AA20C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7E42B92-E8FB-2528-B25F-EE8DC6E90A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68560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8174C-9B5D-792B-E720-012AFFC73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주거지 </a:t>
            </a:r>
            <a:r>
              <a:rPr lang="en-US" altLang="ko-KR" dirty="0"/>
              <a:t>: 5 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숲</a:t>
            </a:r>
            <a:r>
              <a:rPr lang="en-US" altLang="ko-KR" dirty="0"/>
              <a:t>, </a:t>
            </a:r>
            <a:r>
              <a:rPr lang="ko-KR" altLang="en-US" dirty="0"/>
              <a:t>산</a:t>
            </a:r>
            <a:r>
              <a:rPr lang="en-US" altLang="ko-KR" dirty="0"/>
              <a:t>, </a:t>
            </a:r>
            <a:r>
              <a:rPr lang="ko-KR" altLang="en-US" dirty="0"/>
              <a:t>강</a:t>
            </a:r>
            <a:r>
              <a:rPr lang="en-US" altLang="ko-KR" dirty="0"/>
              <a:t>, </a:t>
            </a:r>
            <a:r>
              <a:rPr lang="ko-KR" altLang="en-US" dirty="0"/>
              <a:t>모래언덕</a:t>
            </a:r>
            <a:r>
              <a:rPr lang="en-US" altLang="ko-KR" dirty="0"/>
              <a:t>, </a:t>
            </a:r>
            <a:r>
              <a:rPr lang="ko-KR" altLang="en-US" dirty="0"/>
              <a:t>늪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숲 </a:t>
            </a:r>
            <a:r>
              <a:rPr lang="en-US" altLang="ko-KR" dirty="0"/>
              <a:t>: </a:t>
            </a:r>
            <a:r>
              <a:rPr lang="ko-KR" altLang="en-US" dirty="0"/>
              <a:t>일반적으로 지나갈 수 없을 정도로 강한 존재가 있음</a:t>
            </a:r>
            <a:endParaRPr lang="en-US" altLang="ko-KR" dirty="0"/>
          </a:p>
          <a:p>
            <a:r>
              <a:rPr lang="ko-KR" altLang="en-US" dirty="0"/>
              <a:t>모래언덕 </a:t>
            </a:r>
            <a:r>
              <a:rPr lang="en-US" altLang="ko-KR" dirty="0"/>
              <a:t>: </a:t>
            </a:r>
            <a:r>
              <a:rPr lang="ko-KR" altLang="en-US" dirty="0"/>
              <a:t>몬스터 없음</a:t>
            </a:r>
            <a:endParaRPr lang="en-US" altLang="ko-KR"/>
          </a:p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B0FA1-82F3-0039-88C7-7C3C72B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E71C-B75F-0B4E-BD40-2F4B4618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3524E-6BB8-B254-BCCB-C33A11AF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배달품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04DF9-B717-6846-00BA-2E0821B3B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5721"/>
            <a:ext cx="5375694" cy="4831242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1800" dirty="0" err="1"/>
              <a:t>배달품</a:t>
            </a:r>
            <a:r>
              <a:rPr lang="ko-KR" altLang="en-US" sz="1800" dirty="0"/>
              <a:t> 품목 </a:t>
            </a:r>
            <a:r>
              <a:rPr lang="en-US" altLang="ko-KR" sz="1800" dirty="0"/>
              <a:t>: </a:t>
            </a:r>
            <a:br>
              <a:rPr lang="en-US" altLang="ko-KR" sz="1800" dirty="0"/>
            </a:br>
            <a:r>
              <a:rPr lang="ko-KR" altLang="en-US" sz="1800" dirty="0"/>
              <a:t>일반 품목</a:t>
            </a:r>
            <a:r>
              <a:rPr lang="en-US" altLang="ko-KR" sz="1800" dirty="0"/>
              <a:t>(</a:t>
            </a:r>
            <a:r>
              <a:rPr lang="ko-KR" altLang="en-US" sz="1800" dirty="0"/>
              <a:t>일반</a:t>
            </a:r>
            <a:r>
              <a:rPr lang="en-US" altLang="ko-KR" sz="1800" dirty="0"/>
              <a:t>), </a:t>
            </a:r>
            <a:r>
              <a:rPr lang="ko-KR" altLang="en-US" sz="1800" dirty="0"/>
              <a:t>파손 주의</a:t>
            </a:r>
            <a:r>
              <a:rPr lang="en-US" altLang="ko-KR" sz="1800" dirty="0"/>
              <a:t>(</a:t>
            </a:r>
            <a:r>
              <a:rPr lang="ko-KR" altLang="en-US" sz="1800" dirty="0"/>
              <a:t>파손 위험</a:t>
            </a:r>
            <a:r>
              <a:rPr lang="en-US" altLang="ko-KR" sz="1800" dirty="0"/>
              <a:t>)</a:t>
            </a:r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상태 </a:t>
            </a:r>
            <a:r>
              <a:rPr lang="en-US" altLang="ko-KR" sz="1800" dirty="0"/>
              <a:t>: </a:t>
            </a:r>
            <a:r>
              <a:rPr lang="ko-KR" altLang="en-US" sz="1800" dirty="0"/>
              <a:t>배달 중</a:t>
            </a:r>
            <a:r>
              <a:rPr lang="en-US" altLang="ko-KR" sz="1800" dirty="0"/>
              <a:t>, </a:t>
            </a:r>
            <a:r>
              <a:rPr lang="ko-KR" altLang="en-US" sz="1800" dirty="0"/>
              <a:t>시간 안에 배달 완료</a:t>
            </a:r>
            <a:r>
              <a:rPr lang="en-US" altLang="ko-KR" sz="1800" dirty="0"/>
              <a:t>, </a:t>
            </a:r>
            <a:br>
              <a:rPr lang="en-US" altLang="ko-KR" sz="1800" dirty="0"/>
            </a:br>
            <a:r>
              <a:rPr lang="ko-KR" altLang="en-US" sz="1800" dirty="0"/>
              <a:t>시간 초과 배달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배달품</a:t>
            </a:r>
            <a:r>
              <a:rPr lang="ko-KR" altLang="en-US" sz="1800" dirty="0"/>
              <a:t> 파손됨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 err="1"/>
              <a:t>배달품</a:t>
            </a:r>
            <a:r>
              <a:rPr lang="ko-KR" altLang="en-US" sz="1800" dirty="0"/>
              <a:t> 파손 시 </a:t>
            </a:r>
            <a:r>
              <a:rPr lang="en-US" altLang="ko-KR" sz="1800" dirty="0"/>
              <a:t>: </a:t>
            </a:r>
            <a:r>
              <a:rPr lang="ko-KR" altLang="en-US" sz="1800" dirty="0"/>
              <a:t>기지로 가서 </a:t>
            </a:r>
            <a:r>
              <a:rPr lang="ko-KR" altLang="en-US" sz="1800" dirty="0" err="1"/>
              <a:t>배달품</a:t>
            </a:r>
            <a:r>
              <a:rPr lang="ko-KR" altLang="en-US" sz="1800" dirty="0"/>
              <a:t> 재수령 후 배달 진행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완료 판단 </a:t>
            </a:r>
            <a:r>
              <a:rPr lang="en-US" altLang="ko-KR" sz="1800" dirty="0"/>
              <a:t>: </a:t>
            </a:r>
            <a:r>
              <a:rPr lang="ko-KR" altLang="en-US" sz="1800" dirty="0"/>
              <a:t>제한 시간 안에 배달함</a:t>
            </a:r>
            <a:endParaRPr lang="en-US" altLang="ko-KR" sz="1800" dirty="0"/>
          </a:p>
          <a:p>
            <a:pPr>
              <a:lnSpc>
                <a:spcPct val="120000"/>
              </a:lnSpc>
            </a:pPr>
            <a:r>
              <a:rPr lang="ko-KR" altLang="en-US" sz="1800" dirty="0"/>
              <a:t>배달 실패 판단 </a:t>
            </a:r>
            <a:r>
              <a:rPr lang="en-US" altLang="ko-KR" sz="1800" dirty="0"/>
              <a:t>: </a:t>
            </a:r>
            <a:r>
              <a:rPr lang="ko-KR" altLang="en-US" sz="1800" dirty="0"/>
              <a:t>제한 시간 안에 배달하지 못함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A765DB-1691-E1FE-761E-9A01606F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83321B-53EC-D84C-B29C-799E76AA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6AD1D0E-CF35-ADD7-F184-E5F933660C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25" name="내용 개체 틀 12" descr="열린 포장 상자 윤곽선">
            <a:extLst>
              <a:ext uri="{FF2B5EF4-FFF2-40B4-BE49-F238E27FC236}">
                <a16:creationId xmlns:a16="http://schemas.microsoft.com/office/drawing/2014/main" id="{6D8A6B85-8EA8-28F3-8099-A93F82D5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1804" y="2517475"/>
            <a:ext cx="2152291" cy="215229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431C18C3-CA29-92E9-EE2D-CE518276B2CA}"/>
              </a:ext>
            </a:extLst>
          </p:cNvPr>
          <p:cNvGrpSpPr/>
          <p:nvPr/>
        </p:nvGrpSpPr>
        <p:grpSpPr>
          <a:xfrm>
            <a:off x="1395507" y="2810664"/>
            <a:ext cx="1917724" cy="1859102"/>
            <a:chOff x="4943969" y="2797892"/>
            <a:chExt cx="272824" cy="325698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F3BC8A4-444E-E87F-2107-604BF99AD02A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6D5263D-0067-E788-FA2B-03B43A0D9BBF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25F1B2C2-1338-C4C1-46AB-4AD3C4B34D01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8F80F11B-4E1F-2122-1ABA-3B293C7A5C56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5613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8F8F5-9C4C-79DD-7420-0D1733DB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지형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888EA2-7512-05DB-7F46-4C0E22175F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모래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1/3 </a:t>
            </a:r>
            <a:r>
              <a:rPr lang="ko-KR" altLang="en-US" dirty="0"/>
              <a:t>감소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늪 지형 </a:t>
            </a:r>
            <a:r>
              <a:rPr lang="en-US" altLang="ko-KR" dirty="0"/>
              <a:t>: </a:t>
            </a:r>
            <a:r>
              <a:rPr lang="ko-KR" altLang="en-US" dirty="0"/>
              <a:t>플레이어 이동속도 </a:t>
            </a:r>
            <a:r>
              <a:rPr lang="en-US" altLang="ko-KR" dirty="0"/>
              <a:t>1/2 </a:t>
            </a:r>
            <a:r>
              <a:rPr lang="ko-KR" altLang="en-US" dirty="0"/>
              <a:t>감소</a:t>
            </a:r>
            <a:r>
              <a:rPr lang="en-US" altLang="ko-KR" dirty="0"/>
              <a:t>, </a:t>
            </a:r>
            <a:r>
              <a:rPr lang="ko-KR" altLang="en-US" dirty="0"/>
              <a:t>방향전환율 </a:t>
            </a:r>
            <a:r>
              <a:rPr lang="en-US" altLang="ko-KR" dirty="0"/>
              <a:t>1/4 </a:t>
            </a:r>
            <a:r>
              <a:rPr lang="ko-KR" altLang="en-US" dirty="0"/>
              <a:t>감소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수중 지형 </a:t>
            </a:r>
            <a:r>
              <a:rPr lang="en-US" altLang="ko-KR" dirty="0"/>
              <a:t>: </a:t>
            </a:r>
            <a:r>
              <a:rPr lang="ko-KR" altLang="en-US" dirty="0"/>
              <a:t>플레이어에게 묻은 냄새 제거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955F8-9FAA-C941-AFEE-CCD6E5FB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7C073-3C7C-4ABC-39B1-77D96778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041A52-4D25-29A6-20D2-B902585E72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7CC0537B-2D9C-E857-41CC-0A210225D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419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예시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965E803D-03E1-AABC-C5D7-6F77D3F2729E}"/>
              </a:ext>
            </a:extLst>
          </p:cNvPr>
          <p:cNvSpPr/>
          <p:nvPr/>
        </p:nvSpPr>
        <p:spPr>
          <a:xfrm>
            <a:off x="4624535" y="2343962"/>
            <a:ext cx="2190204" cy="13007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강탈 시도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[20T]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3" y="802178"/>
            <a:ext cx="4046434" cy="1754326"/>
            <a:chOff x="9079016" y="0"/>
            <a:chExt cx="4046434" cy="17543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046434" cy="17543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</a:t>
              </a:r>
              <a:r>
                <a:rPr lang="en-US" altLang="ko-KR" dirty="0">
                  <a:solidFill>
                    <a:schemeClr val="accent3"/>
                  </a:solidFill>
                </a:rPr>
                <a:t>4</a:t>
              </a:r>
              <a:r>
                <a:rPr lang="ko-KR" altLang="en-US" dirty="0">
                  <a:solidFill>
                    <a:schemeClr val="accent3"/>
                  </a:solidFill>
                </a:rPr>
                <a:t>차 요소</a:t>
              </a:r>
              <a:r>
                <a:rPr lang="en-US" altLang="ko-KR" dirty="0">
                  <a:solidFill>
                    <a:schemeClr val="accent3"/>
                  </a:solidFill>
                </a:rPr>
                <a:t>(</a:t>
              </a:r>
              <a:r>
                <a:rPr lang="ko-KR" altLang="en-US" dirty="0">
                  <a:solidFill>
                    <a:schemeClr val="accent3"/>
                  </a:solidFill>
                </a:rPr>
                <a:t>이전 </a:t>
              </a:r>
              <a:r>
                <a:rPr lang="ko-KR" altLang="en-US" dirty="0" err="1">
                  <a:solidFill>
                    <a:schemeClr val="accent3"/>
                  </a:solidFill>
                </a:rPr>
                <a:t>배달품</a:t>
              </a:r>
              <a:r>
                <a:rPr lang="ko-KR" altLang="en-US" dirty="0">
                  <a:solidFill>
                    <a:schemeClr val="accent3"/>
                  </a:solidFill>
                </a:rPr>
                <a:t> 결과 기반</a:t>
              </a:r>
              <a:r>
                <a:rPr lang="en-US" altLang="ko-KR" dirty="0">
                  <a:solidFill>
                    <a:schemeClr val="accent3"/>
                  </a:solidFill>
                </a:rPr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화살표: 오각형 106">
              <a:extLst>
                <a:ext uri="{FF2B5EF4-FFF2-40B4-BE49-F238E27FC236}">
                  <a16:creationId xmlns:a16="http://schemas.microsoft.com/office/drawing/2014/main" id="{7B7CE380-9A89-F522-64BF-395A3A4E5C83}"/>
                </a:ext>
              </a:extLst>
            </p:cNvPr>
            <p:cNvSpPr/>
            <p:nvPr/>
          </p:nvSpPr>
          <p:spPr>
            <a:xfrm>
              <a:off x="9158812" y="1501064"/>
              <a:ext cx="360815" cy="178894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0F576-7438-39F6-8BE1-E837398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DF2F7-73D5-1737-BFAE-4E9778FE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7058821" y="2029088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6438FF-507B-870C-936B-BE08A6DB07CD}"/>
              </a:ext>
            </a:extLst>
          </p:cNvPr>
          <p:cNvSpPr/>
          <p:nvPr/>
        </p:nvSpPr>
        <p:spPr>
          <a:xfrm>
            <a:off x="6815969" y="2999054"/>
            <a:ext cx="213825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꺾인 양쪽 화살표 연결선 18">
            <a:extLst>
              <a:ext uri="{FF2B5EF4-FFF2-40B4-BE49-F238E27FC236}">
                <a16:creationId xmlns:a16="http://schemas.microsoft.com/office/drawing/2014/main" id="{EA5EE0CD-6DE1-F1E1-9FA4-953AA954B678}"/>
              </a:ext>
            </a:extLst>
          </p:cNvPr>
          <p:cNvCxnSpPr>
            <a:cxnSpLocks/>
            <a:stCxn id="53" idx="0"/>
            <a:endCxn id="32" idx="1"/>
          </p:cNvCxnSpPr>
          <p:nvPr/>
        </p:nvCxnSpPr>
        <p:spPr>
          <a:xfrm>
            <a:off x="5952226" y="3097413"/>
            <a:ext cx="863743" cy="2273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606871" cy="3450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7" y="814353"/>
            <a:ext cx="295474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r>
              <a:rPr lang="en-US" altLang="ko-KR" dirty="0">
                <a:solidFill>
                  <a:schemeClr val="accent3"/>
                </a:solidFill>
              </a:rPr>
              <a:t>***</a:t>
            </a:r>
            <a:r>
              <a:rPr lang="ko-KR" altLang="en-US" dirty="0">
                <a:solidFill>
                  <a:schemeClr val="accent3"/>
                </a:solidFill>
              </a:rPr>
              <a:t>방해를 진행할지 방해보다 조금 더 </a:t>
            </a:r>
            <a:r>
              <a:rPr lang="ko-KR" altLang="en-US" dirty="0" err="1">
                <a:solidFill>
                  <a:schemeClr val="accent3"/>
                </a:solidFill>
              </a:rPr>
              <a:t>역동적인걸</a:t>
            </a:r>
            <a:r>
              <a:rPr lang="ko-KR" altLang="en-US" dirty="0">
                <a:solidFill>
                  <a:schemeClr val="accent3"/>
                </a:solidFill>
              </a:rPr>
              <a:t> 진행할지 고민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en-US" altLang="ko-KR" dirty="0">
              <a:solidFill>
                <a:schemeClr val="accent3"/>
              </a:solidFill>
            </a:endParaRPr>
          </a:p>
          <a:p>
            <a:r>
              <a:rPr lang="en-US" altLang="ko-KR" dirty="0">
                <a:solidFill>
                  <a:schemeClr val="accent3"/>
                </a:solidFill>
              </a:rPr>
              <a:t>**</a:t>
            </a:r>
            <a:r>
              <a:rPr lang="ko-KR" altLang="en-US" dirty="0">
                <a:solidFill>
                  <a:schemeClr val="accent3"/>
                </a:solidFill>
              </a:rPr>
              <a:t>인식범위</a:t>
            </a:r>
            <a:r>
              <a:rPr lang="en-US" altLang="ko-KR" dirty="0">
                <a:solidFill>
                  <a:schemeClr val="accent3"/>
                </a:solidFill>
              </a:rPr>
              <a:t> </a:t>
            </a:r>
            <a:r>
              <a:rPr lang="ko-KR" altLang="en-US" dirty="0">
                <a:solidFill>
                  <a:schemeClr val="accent3"/>
                </a:solidFill>
              </a:rPr>
              <a:t>지정</a:t>
            </a: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389864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32" idx="3"/>
            <a:endCxn id="125" idx="1"/>
          </p:cNvCxnSpPr>
          <p:nvPr/>
        </p:nvCxnSpPr>
        <p:spPr>
          <a:xfrm>
            <a:off x="8954219" y="3324739"/>
            <a:ext cx="435645" cy="11777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7058821" y="2256211"/>
            <a:ext cx="3425149" cy="1186301"/>
          </a:xfrm>
          <a:prstGeom prst="bentConnector5">
            <a:avLst>
              <a:gd name="adj1" fmla="val -6674"/>
              <a:gd name="adj2" fmla="val 54395"/>
              <a:gd name="adj3" fmla="val 10667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239516" y="4936242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15144" y="4936242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5</a:t>
            </a:r>
            <a:r>
              <a:rPr lang="ko-KR" altLang="en-US" dirty="0">
                <a:solidFill>
                  <a:srgbClr val="000000"/>
                </a:solidFill>
              </a:rPr>
              <a:t>초 지속</a:t>
            </a: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757E-1FD6-215F-E156-3C3139CE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1E79F0F-FDFC-E817-C0AE-BB5090B86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6" r="8893"/>
          <a:stretch>
            <a:fillRect/>
          </a:stretch>
        </p:blipFill>
        <p:spPr>
          <a:xfrm>
            <a:off x="838200" y="3056121"/>
            <a:ext cx="5746630" cy="3229714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C8D78D-3ED4-2311-EA63-537F5F77C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8034" y="1825625"/>
            <a:ext cx="4505766" cy="4351338"/>
          </a:xfrm>
        </p:spPr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레퍼런스 게임의 이미지 </a:t>
            </a:r>
            <a:br>
              <a:rPr lang="en-US" altLang="ko-KR" sz="2400" dirty="0"/>
            </a:br>
            <a:r>
              <a:rPr lang="ko-KR" altLang="en-US" sz="2400" dirty="0"/>
              <a:t>플레이 화면 참고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CE34-8468-8FBD-5332-DFDBCB87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FD26-AF90-A1CC-A66F-C817032E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B089F7A-7CA1-E010-5F87-17E27A8029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A101FB-C5F7-D7BA-BAFB-2BFC8BEA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30227"/>
            <a:ext cx="3781977" cy="21258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9ABD2-5C85-6EFE-9E9C-6A167D27F917}"/>
              </a:ext>
            </a:extLst>
          </p:cNvPr>
          <p:cNvSpPr/>
          <p:nvPr/>
        </p:nvSpPr>
        <p:spPr>
          <a:xfrm>
            <a:off x="801999" y="930227"/>
            <a:ext cx="857926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7288D5-F1CD-1A04-BDA2-2AD330634E91}"/>
              </a:ext>
            </a:extLst>
          </p:cNvPr>
          <p:cNvSpPr/>
          <p:nvPr/>
        </p:nvSpPr>
        <p:spPr>
          <a:xfrm>
            <a:off x="878492" y="3056121"/>
            <a:ext cx="3119350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88704E-B783-8AA9-FEC9-3C32AF5BFA10}"/>
              </a:ext>
            </a:extLst>
          </p:cNvPr>
          <p:cNvSpPr/>
          <p:nvPr/>
        </p:nvSpPr>
        <p:spPr>
          <a:xfrm>
            <a:off x="3147145" y="4635521"/>
            <a:ext cx="868510" cy="1292252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A4487-800F-DF37-A70B-371D2746D349}"/>
              </a:ext>
            </a:extLst>
          </p:cNvPr>
          <p:cNvSpPr txBox="1"/>
          <p:nvPr/>
        </p:nvSpPr>
        <p:spPr>
          <a:xfrm>
            <a:off x="4564154" y="1477070"/>
            <a:ext cx="206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4] </a:t>
            </a:r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en-US" altLang="ko-KR" sz="1400" dirty="0"/>
              <a:t>“</a:t>
            </a:r>
            <a:r>
              <a:rPr lang="ko-KR" altLang="en-US" sz="1400" dirty="0" err="1"/>
              <a:t>이프선셋</a:t>
            </a:r>
            <a:r>
              <a:rPr lang="en-US" altLang="ko-KR" sz="1400" dirty="0"/>
              <a:t>” </a:t>
            </a:r>
            <a:r>
              <a:rPr lang="ko-KR" altLang="en-US" sz="1400" dirty="0"/>
              <a:t>플레이 화면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836F7-4B29-DFB0-923C-2D74D5FD2332}"/>
              </a:ext>
            </a:extLst>
          </p:cNvPr>
          <p:cNvSpPr txBox="1"/>
          <p:nvPr/>
        </p:nvSpPr>
        <p:spPr>
          <a:xfrm>
            <a:off x="4564155" y="2345203"/>
            <a:ext cx="2020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5] </a:t>
            </a:r>
            <a:r>
              <a:rPr lang="ko-KR" altLang="en-US" sz="1400" dirty="0"/>
              <a:t>게임 </a:t>
            </a:r>
            <a:r>
              <a:rPr lang="en-US" altLang="ko-KR" sz="1400" dirty="0"/>
              <a:t>“Totally Reliable Delivery Service”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600675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E3C15-BBEC-4ECE-CB07-41C6908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374B0-6F4C-5F64-2FB3-E6BF609F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29E22-E88D-853E-E3FD-2364677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4DCC80B-B0BB-1B28-1AB1-A7B61EA62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1D0332-8E04-2446-FB53-C87E8DBEDF0B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D61393-884B-D75C-0494-2B6F87B4171C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32568F-08C5-1D22-F143-FDB7924344F6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래픽 19" descr="남자 단색으로 채워진">
            <a:extLst>
              <a:ext uri="{FF2B5EF4-FFF2-40B4-BE49-F238E27FC236}">
                <a16:creationId xmlns:a16="http://schemas.microsoft.com/office/drawing/2014/main" id="{F1303222-194A-EA7E-8200-B9B86AA82950}"/>
              </a:ext>
            </a:extLst>
          </p:cNvPr>
          <p:cNvGrpSpPr/>
          <p:nvPr/>
        </p:nvGrpSpPr>
        <p:grpSpPr>
          <a:xfrm>
            <a:off x="3722238" y="3759837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BEC900-CC8D-593E-678C-0C9B54124023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B6DFC1B-9094-BBE7-637A-A57A4A903F46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4751DBFC-D2CE-EA5B-C23B-B0A18C6F9C73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022E8-84C2-1229-D77E-969FA7EF1836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3C3912-C901-B9CF-518E-47D127032416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그래픽 34" descr="배지 1 단색으로 채워진">
            <a:extLst>
              <a:ext uri="{FF2B5EF4-FFF2-40B4-BE49-F238E27FC236}">
                <a16:creationId xmlns:a16="http://schemas.microsoft.com/office/drawing/2014/main" id="{5B026F9F-61F3-E3E4-0375-432C034CBE51}"/>
              </a:ext>
            </a:extLst>
          </p:cNvPr>
          <p:cNvSpPr/>
          <p:nvPr/>
        </p:nvSpPr>
        <p:spPr>
          <a:xfrm>
            <a:off x="948785" y="1974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래픽 36" descr="배지 단색으로 채워진">
            <a:extLst>
              <a:ext uri="{FF2B5EF4-FFF2-40B4-BE49-F238E27FC236}">
                <a16:creationId xmlns:a16="http://schemas.microsoft.com/office/drawing/2014/main" id="{33B29038-5D73-6585-F525-3B64DD91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468" y="4920457"/>
            <a:ext cx="445606" cy="445606"/>
          </a:xfrm>
          <a:prstGeom prst="rect">
            <a:avLst/>
          </a:prstGeom>
        </p:spPr>
      </p:pic>
      <p:pic>
        <p:nvPicPr>
          <p:cNvPr id="39" name="그래픽 38" descr="배지 3 단색으로 채워진">
            <a:extLst>
              <a:ext uri="{FF2B5EF4-FFF2-40B4-BE49-F238E27FC236}">
                <a16:creationId xmlns:a16="http://schemas.microsoft.com/office/drawing/2014/main" id="{9DFCB7BC-DE19-2F6B-FE9F-EABB6AD03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988" y="4858185"/>
            <a:ext cx="445605" cy="4456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DC34-E6D6-8E1D-BC69-E60E98909A7D}"/>
              </a:ext>
            </a:extLst>
          </p:cNvPr>
          <p:cNvSpPr txBox="1"/>
          <p:nvPr/>
        </p:nvSpPr>
        <p:spPr>
          <a:xfrm>
            <a:off x="7779486" y="2069339"/>
            <a:ext cx="3273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남은 배달 시간 표시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</a:t>
            </a:r>
            <a:r>
              <a:rPr lang="en-US" altLang="ko-KR" sz="2000" dirty="0"/>
              <a:t>HP</a:t>
            </a:r>
            <a:r>
              <a:rPr lang="ko-KR" altLang="en-US" sz="2000" dirty="0"/>
              <a:t>와 달리기 </a:t>
            </a:r>
            <a:br>
              <a:rPr lang="en-US" altLang="ko-KR" sz="2000" dirty="0"/>
            </a:br>
            <a:r>
              <a:rPr lang="ko-KR" altLang="en-US" sz="2000" dirty="0" err="1"/>
              <a:t>스테미너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비율</a:t>
            </a:r>
          </a:p>
        </p:txBody>
      </p:sp>
      <p:sp>
        <p:nvSpPr>
          <p:cNvPr id="45" name="그래픽 34" descr="배지 1 단색으로 채워진">
            <a:extLst>
              <a:ext uri="{FF2B5EF4-FFF2-40B4-BE49-F238E27FC236}">
                <a16:creationId xmlns:a16="http://schemas.microsoft.com/office/drawing/2014/main" id="{061E99F2-BB46-9E1A-A1CC-4803574FA569}"/>
              </a:ext>
            </a:extLst>
          </p:cNvPr>
          <p:cNvSpPr/>
          <p:nvPr/>
        </p:nvSpPr>
        <p:spPr>
          <a:xfrm>
            <a:off x="7276371" y="2069339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 descr="배지 단색으로 채워진">
            <a:extLst>
              <a:ext uri="{FF2B5EF4-FFF2-40B4-BE49-F238E27FC236}">
                <a16:creationId xmlns:a16="http://schemas.microsoft.com/office/drawing/2014/main" id="{14F20FBB-AA7F-AC81-07D1-9FF7290BF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9118" y="2703470"/>
            <a:ext cx="445606" cy="445606"/>
          </a:xfrm>
          <a:prstGeom prst="rect">
            <a:avLst/>
          </a:prstGeom>
        </p:spPr>
      </p:pic>
      <p:pic>
        <p:nvPicPr>
          <p:cNvPr id="49" name="그래픽 48" descr="배지 3 단색으로 채워진">
            <a:extLst>
              <a:ext uri="{FF2B5EF4-FFF2-40B4-BE49-F238E27FC236}">
                <a16:creationId xmlns:a16="http://schemas.microsoft.com/office/drawing/2014/main" id="{101F10A2-B72E-5179-E165-2D6B7AC3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550" y="3601142"/>
            <a:ext cx="445605" cy="445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DBB38-6B09-F311-9B07-7D08411440D9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플레이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393A4A-5D77-A41B-95CB-C7AE8A21AA6C}"/>
              </a:ext>
            </a:extLst>
          </p:cNvPr>
          <p:cNvGrpSpPr/>
          <p:nvPr/>
        </p:nvGrpSpPr>
        <p:grpSpPr>
          <a:xfrm>
            <a:off x="3149075" y="4046747"/>
            <a:ext cx="659514" cy="768648"/>
            <a:chOff x="4943969" y="2797892"/>
            <a:chExt cx="272824" cy="325698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EA4E559-DD3B-AE7E-B7D9-A812B23FF7F4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4D9629-ED3A-F1AB-BAA2-31E66B815B81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AA24659-7180-61A9-E7B5-07F0F2DB0228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960F396A-E20D-32F1-D647-2E237622E48F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268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7050F-272A-1BB2-9BE6-83E8B056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사격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7DFD3B-7CC6-EEC0-D5A6-B946E851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C69C3-C52D-227B-06D8-382BC809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58D6E8A-9505-F016-5B35-DCE1AF3E51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BB53B-6F9C-16BF-6FF7-32399AA469C0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사격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148455-48BD-A905-0749-713FFC12B82A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5AA8159-B17C-E156-E650-AD732A462218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AB653A8-4D11-93F9-C84D-49288B248979}"/>
              </a:ext>
            </a:extLst>
          </p:cNvPr>
          <p:cNvCxnSpPr>
            <a:cxnSpLocks/>
            <a:stCxn id="10" idx="0"/>
            <a:endCxn id="10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B2E506-D2E6-2921-7B09-B2D13DC73988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그래픽 34" descr="배지 1 단색으로 채워진">
            <a:extLst>
              <a:ext uri="{FF2B5EF4-FFF2-40B4-BE49-F238E27FC236}">
                <a16:creationId xmlns:a16="http://schemas.microsoft.com/office/drawing/2014/main" id="{5870A0CF-B239-2368-0BEE-F56D86E9977B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DDAB14-CD89-AFA7-C7D6-81D044756CE2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DE3EBD-8171-1A15-FDF2-3034FC420713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0887347-8032-1FB2-4AB0-285D50DC644F}"/>
              </a:ext>
            </a:extLst>
          </p:cNvPr>
          <p:cNvGrpSpPr/>
          <p:nvPr/>
        </p:nvGrpSpPr>
        <p:grpSpPr>
          <a:xfrm rot="166083" flipH="1">
            <a:off x="3608027" y="3685770"/>
            <a:ext cx="1024736" cy="1370857"/>
            <a:chOff x="6014111" y="1090488"/>
            <a:chExt cx="1024736" cy="1413781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CC4E4A5-20C3-37D0-40D6-FD90C061B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051800" y="1265209"/>
              <a:ext cx="987047" cy="1239060"/>
            </a:xfrm>
            <a:prstGeom prst="rect">
              <a:avLst/>
            </a:prstGeom>
          </p:spPr>
        </p:pic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A09D9BF-2BA3-F305-1CC9-86C9443253B9}"/>
                </a:ext>
              </a:extLst>
            </p:cNvPr>
            <p:cNvSpPr/>
            <p:nvPr/>
          </p:nvSpPr>
          <p:spPr>
            <a:xfrm>
              <a:off x="6014111" y="1090488"/>
              <a:ext cx="499967" cy="465443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35" name="내용 개체 틀 34" descr="벌집 단색으로 채워진">
            <a:extLst>
              <a:ext uri="{FF2B5EF4-FFF2-40B4-BE49-F238E27FC236}">
                <a16:creationId xmlns:a16="http://schemas.microsoft.com/office/drawing/2014/main" id="{4721B731-4DD9-DC69-8697-2DA5E64FBB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524" y="2916644"/>
            <a:ext cx="914400" cy="914400"/>
          </a:xfrm>
        </p:spPr>
      </p:pic>
      <p:sp>
        <p:nvSpPr>
          <p:cNvPr id="16" name="부분 원형 15">
            <a:extLst>
              <a:ext uri="{FF2B5EF4-FFF2-40B4-BE49-F238E27FC236}">
                <a16:creationId xmlns:a16="http://schemas.microsoft.com/office/drawing/2014/main" id="{C0D4BA13-D904-5DAF-0D68-BC1032A90D2B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원형: 비어 있음 47">
            <a:extLst>
              <a:ext uri="{FF2B5EF4-FFF2-40B4-BE49-F238E27FC236}">
                <a16:creationId xmlns:a16="http://schemas.microsoft.com/office/drawing/2014/main" id="{9C93C1C8-3C08-A636-5812-3906D5AFD3DC}"/>
              </a:ext>
            </a:extLst>
          </p:cNvPr>
          <p:cNvSpPr/>
          <p:nvPr/>
        </p:nvSpPr>
        <p:spPr>
          <a:xfrm>
            <a:off x="1266064" y="2873197"/>
            <a:ext cx="1126104" cy="1065007"/>
          </a:xfrm>
          <a:prstGeom prst="donut">
            <a:avLst>
              <a:gd name="adj" fmla="val 648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그래픽 34" descr="배지 1 단색으로 채워진">
            <a:extLst>
              <a:ext uri="{FF2B5EF4-FFF2-40B4-BE49-F238E27FC236}">
                <a16:creationId xmlns:a16="http://schemas.microsoft.com/office/drawing/2014/main" id="{940FE48E-AAC5-FC6D-1CE1-92B80000E344}"/>
              </a:ext>
            </a:extLst>
          </p:cNvPr>
          <p:cNvSpPr/>
          <p:nvPr/>
        </p:nvSpPr>
        <p:spPr>
          <a:xfrm>
            <a:off x="1177248" y="282075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1A35C7-29E2-C7A1-829E-DDE315676049}"/>
              </a:ext>
            </a:extLst>
          </p:cNvPr>
          <p:cNvSpPr txBox="1"/>
          <p:nvPr/>
        </p:nvSpPr>
        <p:spPr>
          <a:xfrm>
            <a:off x="7802490" y="1884865"/>
            <a:ext cx="327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타겟 자동 조준</a:t>
            </a:r>
          </a:p>
        </p:txBody>
      </p:sp>
    </p:spTree>
    <p:extLst>
      <p:ext uri="{BB962C8B-B14F-4D97-AF65-F5344CB8AC3E}">
        <p14:creationId xmlns:p14="http://schemas.microsoft.com/office/powerpoint/2010/main" val="3743535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D9AE434-40A3-45F4-5B24-312B8AF82B6E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D4224F-91CE-0FFB-3CE5-3E951280736C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BFFD6C-5952-495B-EDB1-16342967D3FF}"/>
              </a:ext>
            </a:extLst>
          </p:cNvPr>
          <p:cNvCxnSpPr>
            <a:cxnSpLocks/>
          </p:cNvCxnSpPr>
          <p:nvPr/>
        </p:nvCxnSpPr>
        <p:spPr>
          <a:xfrm>
            <a:off x="1418464" y="37424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36B1C07E-F7EC-59D8-EF91-47071F83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ko-KR" altLang="en-US" dirty="0"/>
              <a:t> 전달 대화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716E03-C66C-9577-17B4-22F5FA7AD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9725" y="1825625"/>
            <a:ext cx="36840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남은 배달 시간 표시 </a:t>
            </a:r>
            <a:r>
              <a:rPr lang="en-US" altLang="ko-KR" sz="2400" dirty="0"/>
              <a:t>UI</a:t>
            </a:r>
            <a:r>
              <a:rPr lang="ko-KR" altLang="en-US" sz="2400" dirty="0"/>
              <a:t>는 </a:t>
            </a:r>
            <a:br>
              <a:rPr lang="en-US" altLang="ko-KR" sz="2400" dirty="0"/>
            </a:br>
            <a:r>
              <a:rPr lang="ko-KR" altLang="en-US" sz="2400" dirty="0"/>
              <a:t>이때 보이지 </a:t>
            </a:r>
            <a:r>
              <a:rPr lang="en-US" altLang="ko-KR" sz="2400" dirty="0"/>
              <a:t>X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배달 수령 시 주민과의 </a:t>
            </a:r>
            <a:br>
              <a:rPr lang="en-US" altLang="ko-KR" sz="2400" dirty="0"/>
            </a:br>
            <a:r>
              <a:rPr lang="ko-KR" altLang="en-US" sz="2400" dirty="0" err="1"/>
              <a:t>대화창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주민과 카메라 방향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6E54E-956F-E70A-5CC5-4B1DB22A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49402-68B7-30F1-6A41-33D219C4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7FEE13-7745-206C-1D5C-507DFDE670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13" name="그래픽 19" descr="남자 단색으로 채워진">
            <a:extLst>
              <a:ext uri="{FF2B5EF4-FFF2-40B4-BE49-F238E27FC236}">
                <a16:creationId xmlns:a16="http://schemas.microsoft.com/office/drawing/2014/main" id="{CE324FDF-8776-CEE9-FF7F-7995DF4B102B}"/>
              </a:ext>
            </a:extLst>
          </p:cNvPr>
          <p:cNvGrpSpPr/>
          <p:nvPr/>
        </p:nvGrpSpPr>
        <p:grpSpPr>
          <a:xfrm>
            <a:off x="3416756" y="3429000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400903F-45C1-78A3-3ACC-2669A2B1C302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C04E9A1-0554-1CF6-B10E-E2F46AB4279F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DC1EAA-421A-ADA7-C901-B1CF0B947D22}"/>
              </a:ext>
            </a:extLst>
          </p:cNvPr>
          <p:cNvSpPr/>
          <p:nvPr/>
        </p:nvSpPr>
        <p:spPr>
          <a:xfrm>
            <a:off x="1266064" y="4263051"/>
            <a:ext cx="5578413" cy="8947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테스트가 적히는 곳</a:t>
            </a:r>
          </a:p>
        </p:txBody>
      </p:sp>
      <p:grpSp>
        <p:nvGrpSpPr>
          <p:cNvPr id="31" name="그래픽 16" descr="천사 같은 얼굴(윤곽선) 윤곽선">
            <a:extLst>
              <a:ext uri="{FF2B5EF4-FFF2-40B4-BE49-F238E27FC236}">
                <a16:creationId xmlns:a16="http://schemas.microsoft.com/office/drawing/2014/main" id="{056A0A10-C7F1-2AE6-2301-ACAF635FFAE2}"/>
              </a:ext>
            </a:extLst>
          </p:cNvPr>
          <p:cNvGrpSpPr/>
          <p:nvPr/>
        </p:nvGrpSpPr>
        <p:grpSpPr>
          <a:xfrm>
            <a:off x="4216848" y="3080941"/>
            <a:ext cx="723900" cy="790575"/>
            <a:chOff x="4216848" y="3080941"/>
            <a:chExt cx="723900" cy="790575"/>
          </a:xfrm>
          <a:solidFill>
            <a:srgbClr val="00B050"/>
          </a:solidFill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F2C7783B-08E7-527A-1026-2A77FDF559E0}"/>
                </a:ext>
              </a:extLst>
            </p:cNvPr>
            <p:cNvSpPr/>
            <p:nvPr/>
          </p:nvSpPr>
          <p:spPr>
            <a:xfrm>
              <a:off x="4264473" y="3080941"/>
              <a:ext cx="628650" cy="140969"/>
            </a:xfrm>
            <a:custGeom>
              <a:avLst/>
              <a:gdLst>
                <a:gd name="csX0" fmla="*/ 561975 w 628650"/>
                <a:gd name="csY0" fmla="*/ 126682 h 140969"/>
                <a:gd name="csX1" fmla="*/ 578168 w 628650"/>
                <a:gd name="csY1" fmla="*/ 140970 h 140969"/>
                <a:gd name="csX2" fmla="*/ 628650 w 628650"/>
                <a:gd name="csY2" fmla="*/ 90488 h 140969"/>
                <a:gd name="csX3" fmla="*/ 314325 w 628650"/>
                <a:gd name="csY3" fmla="*/ 0 h 140969"/>
                <a:gd name="csX4" fmla="*/ 0 w 628650"/>
                <a:gd name="csY4" fmla="*/ 90488 h 140969"/>
                <a:gd name="csX5" fmla="*/ 50482 w 628650"/>
                <a:gd name="csY5" fmla="*/ 140970 h 140969"/>
                <a:gd name="csX6" fmla="*/ 66675 w 628650"/>
                <a:gd name="csY6" fmla="*/ 126682 h 140969"/>
                <a:gd name="csX7" fmla="*/ 19050 w 628650"/>
                <a:gd name="csY7" fmla="*/ 90488 h 140969"/>
                <a:gd name="csX8" fmla="*/ 314325 w 628650"/>
                <a:gd name="csY8" fmla="*/ 19050 h 140969"/>
                <a:gd name="csX9" fmla="*/ 609600 w 628650"/>
                <a:gd name="csY9" fmla="*/ 90488 h 140969"/>
                <a:gd name="csX10" fmla="*/ 561975 w 628650"/>
                <a:gd name="csY10" fmla="*/ 126682 h 140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28650" h="140969">
                  <a:moveTo>
                    <a:pt x="561975" y="126682"/>
                  </a:moveTo>
                  <a:cubicBezTo>
                    <a:pt x="567690" y="131445"/>
                    <a:pt x="572453" y="136208"/>
                    <a:pt x="578168" y="140970"/>
                  </a:cubicBezTo>
                  <a:cubicBezTo>
                    <a:pt x="609600" y="127635"/>
                    <a:pt x="628650" y="110490"/>
                    <a:pt x="628650" y="90488"/>
                  </a:cubicBezTo>
                  <a:cubicBezTo>
                    <a:pt x="628650" y="31433"/>
                    <a:pt x="466725" y="0"/>
                    <a:pt x="314325" y="0"/>
                  </a:cubicBezTo>
                  <a:cubicBezTo>
                    <a:pt x="161925" y="0"/>
                    <a:pt x="0" y="31433"/>
                    <a:pt x="0" y="90488"/>
                  </a:cubicBezTo>
                  <a:cubicBezTo>
                    <a:pt x="0" y="110490"/>
                    <a:pt x="19050" y="127635"/>
                    <a:pt x="50482" y="140970"/>
                  </a:cubicBezTo>
                  <a:cubicBezTo>
                    <a:pt x="56197" y="136208"/>
                    <a:pt x="60960" y="131445"/>
                    <a:pt x="66675" y="126682"/>
                  </a:cubicBezTo>
                  <a:cubicBezTo>
                    <a:pt x="36195" y="114300"/>
                    <a:pt x="19050" y="101918"/>
                    <a:pt x="19050" y="90488"/>
                  </a:cubicBezTo>
                  <a:cubicBezTo>
                    <a:pt x="19050" y="60960"/>
                    <a:pt x="131445" y="19050"/>
                    <a:pt x="314325" y="19050"/>
                  </a:cubicBezTo>
                  <a:cubicBezTo>
                    <a:pt x="497205" y="19050"/>
                    <a:pt x="609600" y="60960"/>
                    <a:pt x="609600" y="90488"/>
                  </a:cubicBezTo>
                  <a:cubicBezTo>
                    <a:pt x="609600" y="101918"/>
                    <a:pt x="593408" y="115253"/>
                    <a:pt x="561975" y="1266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D77AB37-181B-925D-1078-3B5366CC313B}"/>
                </a:ext>
              </a:extLst>
            </p:cNvPr>
            <p:cNvSpPr/>
            <p:nvPr/>
          </p:nvSpPr>
          <p:spPr>
            <a:xfrm>
              <a:off x="4216848" y="3147616"/>
              <a:ext cx="723900" cy="723900"/>
            </a:xfrm>
            <a:custGeom>
              <a:avLst/>
              <a:gdLst>
                <a:gd name="csX0" fmla="*/ 361950 w 723900"/>
                <a:gd name="csY0" fmla="*/ 723900 h 723900"/>
                <a:gd name="csX1" fmla="*/ 723900 w 723900"/>
                <a:gd name="csY1" fmla="*/ 361950 h 723900"/>
                <a:gd name="csX2" fmla="*/ 361950 w 723900"/>
                <a:gd name="csY2" fmla="*/ 0 h 723900"/>
                <a:gd name="csX3" fmla="*/ 0 w 723900"/>
                <a:gd name="csY3" fmla="*/ 361950 h 723900"/>
                <a:gd name="csX4" fmla="*/ 361950 w 723900"/>
                <a:gd name="csY4" fmla="*/ 723900 h 723900"/>
                <a:gd name="csX5" fmla="*/ 361950 w 723900"/>
                <a:gd name="csY5" fmla="*/ 19050 h 723900"/>
                <a:gd name="csX6" fmla="*/ 704850 w 723900"/>
                <a:gd name="csY6" fmla="*/ 361950 h 723900"/>
                <a:gd name="csX7" fmla="*/ 361950 w 723900"/>
                <a:gd name="csY7" fmla="*/ 704850 h 723900"/>
                <a:gd name="csX8" fmla="*/ 19050 w 723900"/>
                <a:gd name="csY8" fmla="*/ 361950 h 723900"/>
                <a:gd name="csX9" fmla="*/ 361950 w 723900"/>
                <a:gd name="csY9" fmla="*/ 1905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23900" h="723900">
                  <a:moveTo>
                    <a:pt x="361950" y="723900"/>
                  </a:move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lose/>
                  <a:moveTo>
                    <a:pt x="361950" y="19050"/>
                  </a:moveTo>
                  <a:cubicBezTo>
                    <a:pt x="551498" y="19050"/>
                    <a:pt x="704850" y="172403"/>
                    <a:pt x="704850" y="361950"/>
                  </a:cubicBezTo>
                  <a:cubicBezTo>
                    <a:pt x="704850" y="551498"/>
                    <a:pt x="551498" y="704850"/>
                    <a:pt x="361950" y="704850"/>
                  </a:cubicBezTo>
                  <a:cubicBezTo>
                    <a:pt x="172403" y="704850"/>
                    <a:pt x="19050" y="551498"/>
                    <a:pt x="19050" y="361950"/>
                  </a:cubicBezTo>
                  <a:cubicBezTo>
                    <a:pt x="19050" y="172403"/>
                    <a:pt x="172403" y="19050"/>
                    <a:pt x="36195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0642FA02-F4D2-B1AB-857E-9DBE99C98C09}"/>
                </a:ext>
              </a:extLst>
            </p:cNvPr>
            <p:cNvSpPr/>
            <p:nvPr/>
          </p:nvSpPr>
          <p:spPr>
            <a:xfrm>
              <a:off x="4391399" y="3643348"/>
              <a:ext cx="375086" cy="105067"/>
            </a:xfrm>
            <a:custGeom>
              <a:avLst/>
              <a:gdLst>
                <a:gd name="csX0" fmla="*/ 16901 w 375086"/>
                <a:gd name="csY0" fmla="*/ 3378 h 105067"/>
                <a:gd name="csX1" fmla="*/ 3566 w 375086"/>
                <a:gd name="csY1" fmla="*/ 2425 h 105067"/>
                <a:gd name="csX2" fmla="*/ 1661 w 375086"/>
                <a:gd name="csY2" fmla="*/ 15760 h 105067"/>
                <a:gd name="csX3" fmla="*/ 335989 w 375086"/>
                <a:gd name="csY3" fmla="*/ 52908 h 105067"/>
                <a:gd name="csX4" fmla="*/ 373136 w 375086"/>
                <a:gd name="csY4" fmla="*/ 15760 h 105067"/>
                <a:gd name="csX5" fmla="*/ 371232 w 375086"/>
                <a:gd name="csY5" fmla="*/ 2425 h 105067"/>
                <a:gd name="csX6" fmla="*/ 357897 w 375086"/>
                <a:gd name="csY6" fmla="*/ 4330 h 105067"/>
                <a:gd name="csX7" fmla="*/ 51191 w 375086"/>
                <a:gd name="csY7" fmla="*/ 37668 h 105067"/>
                <a:gd name="csX8" fmla="*/ 16901 w 375086"/>
                <a:gd name="csY8" fmla="*/ 3378 h 105067"/>
                <a:gd name="csX9" fmla="*/ 16901 w 375086"/>
                <a:gd name="csY9" fmla="*/ 3378 h 105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5086" h="105067">
                  <a:moveTo>
                    <a:pt x="16901" y="3378"/>
                  </a:moveTo>
                  <a:cubicBezTo>
                    <a:pt x="13091" y="-432"/>
                    <a:pt x="7376" y="-1385"/>
                    <a:pt x="3566" y="2425"/>
                  </a:cubicBezTo>
                  <a:cubicBezTo>
                    <a:pt x="-244" y="5283"/>
                    <a:pt x="-1196" y="10998"/>
                    <a:pt x="1661" y="15760"/>
                  </a:cubicBezTo>
                  <a:cubicBezTo>
                    <a:pt x="83576" y="118630"/>
                    <a:pt x="233119" y="134823"/>
                    <a:pt x="335989" y="52908"/>
                  </a:cubicBezTo>
                  <a:cubicBezTo>
                    <a:pt x="349324" y="41478"/>
                    <a:pt x="361707" y="29095"/>
                    <a:pt x="373136" y="15760"/>
                  </a:cubicBezTo>
                  <a:cubicBezTo>
                    <a:pt x="375994" y="11950"/>
                    <a:pt x="375994" y="5283"/>
                    <a:pt x="371232" y="2425"/>
                  </a:cubicBezTo>
                  <a:cubicBezTo>
                    <a:pt x="367422" y="-432"/>
                    <a:pt x="360754" y="-432"/>
                    <a:pt x="357897" y="4330"/>
                  </a:cubicBezTo>
                  <a:cubicBezTo>
                    <a:pt x="282649" y="97675"/>
                    <a:pt x="145489" y="112915"/>
                    <a:pt x="51191" y="37668"/>
                  </a:cubicBezTo>
                  <a:cubicBezTo>
                    <a:pt x="37856" y="27190"/>
                    <a:pt x="26426" y="15760"/>
                    <a:pt x="16901" y="3378"/>
                  </a:cubicBezTo>
                  <a:lnTo>
                    <a:pt x="16901" y="33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451B6FF8-54F0-94CF-57A1-28FCFA9D8C45}"/>
                </a:ext>
              </a:extLst>
            </p:cNvPr>
            <p:cNvSpPr/>
            <p:nvPr/>
          </p:nvSpPr>
          <p:spPr>
            <a:xfrm>
              <a:off x="4353825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3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4337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8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14C10B6-57D5-CFF6-6467-0D212F76AC8B}"/>
                </a:ext>
              </a:extLst>
            </p:cNvPr>
            <p:cNvSpPr/>
            <p:nvPr/>
          </p:nvSpPr>
          <p:spPr>
            <a:xfrm>
              <a:off x="4630050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2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3384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7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그래픽 34" descr="배지 1 단색으로 채워진">
            <a:extLst>
              <a:ext uri="{FF2B5EF4-FFF2-40B4-BE49-F238E27FC236}">
                <a16:creationId xmlns:a16="http://schemas.microsoft.com/office/drawing/2014/main" id="{A8B00338-DFF6-D6FF-213C-09D601B1642B}"/>
              </a:ext>
            </a:extLst>
          </p:cNvPr>
          <p:cNvSpPr/>
          <p:nvPr/>
        </p:nvSpPr>
        <p:spPr>
          <a:xfrm>
            <a:off x="1134646" y="2079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그래픽 22" descr="배지 단색으로 채워진">
            <a:extLst>
              <a:ext uri="{FF2B5EF4-FFF2-40B4-BE49-F238E27FC236}">
                <a16:creationId xmlns:a16="http://schemas.microsoft.com/office/drawing/2014/main" id="{300DF055-558F-0015-5F5E-E83AEC078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261" y="4263051"/>
            <a:ext cx="445606" cy="445606"/>
          </a:xfrm>
          <a:prstGeom prst="rect">
            <a:avLst/>
          </a:prstGeom>
        </p:spPr>
      </p:pic>
      <p:pic>
        <p:nvPicPr>
          <p:cNvPr id="25" name="그래픽 24" descr="배지 3 단색으로 채워진">
            <a:extLst>
              <a:ext uri="{FF2B5EF4-FFF2-40B4-BE49-F238E27FC236}">
                <a16:creationId xmlns:a16="http://schemas.microsoft.com/office/drawing/2014/main" id="{3E7B92E4-E0DC-1C20-6500-F5C79F08E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1753" y="2917333"/>
            <a:ext cx="445605" cy="445605"/>
          </a:xfrm>
          <a:prstGeom prst="rect">
            <a:avLst/>
          </a:prstGeom>
        </p:spPr>
      </p:pic>
      <p:sp>
        <p:nvSpPr>
          <p:cNvPr id="38" name="그래픽 34" descr="배지 1 단색으로 채워진">
            <a:extLst>
              <a:ext uri="{FF2B5EF4-FFF2-40B4-BE49-F238E27FC236}">
                <a16:creationId xmlns:a16="http://schemas.microsoft.com/office/drawing/2014/main" id="{6926DFA0-38F3-D148-8E9D-0B2A994372AE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39" descr="배지 단색으로 채워진">
            <a:extLst>
              <a:ext uri="{FF2B5EF4-FFF2-40B4-BE49-F238E27FC236}">
                <a16:creationId xmlns:a16="http://schemas.microsoft.com/office/drawing/2014/main" id="{C59B779A-98FE-7563-D8FE-33B93524BFEF}"/>
              </a:ext>
            </a:extLst>
          </p:cNvPr>
          <p:cNvSpPr/>
          <p:nvPr/>
        </p:nvSpPr>
        <p:spPr>
          <a:xfrm>
            <a:off x="7280694" y="3210719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그래픽 42" descr="배지 3 단색으로 채워진">
            <a:extLst>
              <a:ext uri="{FF2B5EF4-FFF2-40B4-BE49-F238E27FC236}">
                <a16:creationId xmlns:a16="http://schemas.microsoft.com/office/drawing/2014/main" id="{D5B52964-A1F1-1B2C-3714-89A36C476AA3}"/>
              </a:ext>
            </a:extLst>
          </p:cNvPr>
          <p:cNvSpPr/>
          <p:nvPr/>
        </p:nvSpPr>
        <p:spPr>
          <a:xfrm>
            <a:off x="7280695" y="456347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E291D-4206-099A-29B9-4D6E47F0B05E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배달품</a:t>
            </a:r>
            <a:r>
              <a:rPr lang="ko-KR" altLang="en-US" sz="1400" dirty="0"/>
              <a:t> 전달 시 대화 화면</a:t>
            </a:r>
          </a:p>
        </p:txBody>
      </p:sp>
    </p:spTree>
    <p:extLst>
      <p:ext uri="{BB962C8B-B14F-4D97-AF65-F5344CB8AC3E}">
        <p14:creationId xmlns:p14="http://schemas.microsoft.com/office/powerpoint/2010/main" val="110498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0D5B3-5D67-15C9-B0E9-9B7C4B41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032B7D5-375E-F1B5-D4A7-27FCCFE236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r="9047"/>
          <a:stretch>
            <a:fillRect/>
          </a:stretch>
        </p:blipFill>
        <p:spPr>
          <a:xfrm>
            <a:off x="550653" y="2053138"/>
            <a:ext cx="5621547" cy="3174919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294A18-7686-FCDB-7105-CC5F8EC2D6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경로 안내 </a:t>
            </a:r>
            <a:r>
              <a:rPr lang="en-US" altLang="ko-KR" dirty="0"/>
              <a:t>UI </a:t>
            </a:r>
            <a:r>
              <a:rPr lang="ko-KR" altLang="en-US" dirty="0"/>
              <a:t>레퍼런스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BE60CC-7223-D6EA-9600-7DC2EB56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CC933-EDE8-A29F-F92B-67644A9C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32D19E2-2D28-A6E5-8058-B27390643B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CF7DDC-A34A-0C76-59AD-05080944D4A4}"/>
              </a:ext>
            </a:extLst>
          </p:cNvPr>
          <p:cNvSpPr/>
          <p:nvPr/>
        </p:nvSpPr>
        <p:spPr>
          <a:xfrm>
            <a:off x="3036498" y="2053138"/>
            <a:ext cx="1610264" cy="3174919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738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64202EDC-FB4F-B79D-BD56-71164F81DCF1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16A2302-8830-5D06-A849-65DCD9F0814B}"/>
              </a:ext>
            </a:extLst>
          </p:cNvPr>
          <p:cNvCxnSpPr>
            <a:cxnSpLocks/>
            <a:stCxn id="54" idx="1"/>
            <a:endCxn id="54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0232E01-5058-202E-D8A2-C08332F67E3D}"/>
              </a:ext>
            </a:extLst>
          </p:cNvPr>
          <p:cNvCxnSpPr>
            <a:cxnSpLocks/>
            <a:stCxn id="54" idx="0"/>
            <a:endCxn id="54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1F2DA9E-3344-F20D-3477-CD8E697ACEAC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3D87680-7510-7C67-21F2-CEAC4C23FE87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8DB08D8-AC9C-4716-35D2-652661986615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부분 원형 59">
            <a:extLst>
              <a:ext uri="{FF2B5EF4-FFF2-40B4-BE49-F238E27FC236}">
                <a16:creationId xmlns:a16="http://schemas.microsoft.com/office/drawing/2014/main" id="{740685EC-8C71-6AED-CCCC-44427AC4F0AA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233B79-3571-3AB6-91FE-211A8F4C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BE03F-2F45-B0C5-93CF-316A7A40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6520" y="1825625"/>
            <a:ext cx="3917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목적지까지의 경로 방향 </a:t>
            </a:r>
            <a:br>
              <a:rPr lang="en-US" altLang="ko-KR" sz="2400" dirty="0"/>
            </a:br>
            <a:r>
              <a:rPr lang="ko-KR" altLang="en-US" sz="2400" dirty="0"/>
              <a:t>일시 시각화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E0A3A-E10C-A6C2-176D-3E1058CC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FB634-331A-7B57-6CCB-2F5E3691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05E5B4-B73C-F543-A5FD-32620B57F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1C72B69-D0F5-4887-5087-5B0DFE1A2220}"/>
              </a:ext>
            </a:extLst>
          </p:cNvPr>
          <p:cNvGrpSpPr/>
          <p:nvPr/>
        </p:nvGrpSpPr>
        <p:grpSpPr>
          <a:xfrm rot="2011594">
            <a:off x="4767883" y="2383006"/>
            <a:ext cx="1599830" cy="3098573"/>
            <a:chOff x="4349276" y="1987776"/>
            <a:chExt cx="1599830" cy="2710430"/>
          </a:xfrm>
          <a:scene3d>
            <a:camera prst="perspectiveHeroicExtremeRightFacing"/>
            <a:lightRig rig="threePt" dir="t"/>
          </a:scene3d>
        </p:grpSpPr>
        <p:sp>
          <p:nvSpPr>
            <p:cNvPr id="17" name="화살표: 갈매기형 수장 16">
              <a:extLst>
                <a:ext uri="{FF2B5EF4-FFF2-40B4-BE49-F238E27FC236}">
                  <a16:creationId xmlns:a16="http://schemas.microsoft.com/office/drawing/2014/main" id="{1C600838-F09A-95ED-EEAD-796AD4280FA1}"/>
                </a:ext>
              </a:extLst>
            </p:cNvPr>
            <p:cNvSpPr/>
            <p:nvPr/>
          </p:nvSpPr>
          <p:spPr>
            <a:xfrm rot="17792637">
              <a:off x="4346353" y="426112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화살표: 갈매기형 수장 17">
              <a:extLst>
                <a:ext uri="{FF2B5EF4-FFF2-40B4-BE49-F238E27FC236}">
                  <a16:creationId xmlns:a16="http://schemas.microsoft.com/office/drawing/2014/main" id="{ABAC1FCB-0398-F3CE-8596-B67EEC74333C}"/>
                </a:ext>
              </a:extLst>
            </p:cNvPr>
            <p:cNvSpPr/>
            <p:nvPr/>
          </p:nvSpPr>
          <p:spPr>
            <a:xfrm rot="17792637">
              <a:off x="4525540" y="3913884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화살표: 갈매기형 수장 19">
              <a:extLst>
                <a:ext uri="{FF2B5EF4-FFF2-40B4-BE49-F238E27FC236}">
                  <a16:creationId xmlns:a16="http://schemas.microsoft.com/office/drawing/2014/main" id="{5C4B1B59-6170-E321-CAC0-13D5931044C5}"/>
                </a:ext>
              </a:extLst>
            </p:cNvPr>
            <p:cNvSpPr/>
            <p:nvPr/>
          </p:nvSpPr>
          <p:spPr>
            <a:xfrm rot="17792637">
              <a:off x="4696317" y="3566646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갈매기형 수장 21">
              <a:extLst>
                <a:ext uri="{FF2B5EF4-FFF2-40B4-BE49-F238E27FC236}">
                  <a16:creationId xmlns:a16="http://schemas.microsoft.com/office/drawing/2014/main" id="{D8A912EC-CD4D-4CD0-2B3F-B391A339D9CD}"/>
                </a:ext>
              </a:extLst>
            </p:cNvPr>
            <p:cNvSpPr/>
            <p:nvPr/>
          </p:nvSpPr>
          <p:spPr>
            <a:xfrm rot="17792637">
              <a:off x="4850391" y="3272822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화살표: 갈매기형 수장 23">
              <a:extLst>
                <a:ext uri="{FF2B5EF4-FFF2-40B4-BE49-F238E27FC236}">
                  <a16:creationId xmlns:a16="http://schemas.microsoft.com/office/drawing/2014/main" id="{BC64848D-6168-E26B-CA63-33D02FCDDF5E}"/>
                </a:ext>
              </a:extLst>
            </p:cNvPr>
            <p:cNvSpPr/>
            <p:nvPr/>
          </p:nvSpPr>
          <p:spPr>
            <a:xfrm rot="17792637">
              <a:off x="5007984" y="2978998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화살표: 갈매기형 수장 25">
              <a:extLst>
                <a:ext uri="{FF2B5EF4-FFF2-40B4-BE49-F238E27FC236}">
                  <a16:creationId xmlns:a16="http://schemas.microsoft.com/office/drawing/2014/main" id="{0FAB07D7-92DA-D4EC-23BC-25F90BC8D5C8}"/>
                </a:ext>
              </a:extLst>
            </p:cNvPr>
            <p:cNvSpPr/>
            <p:nvPr/>
          </p:nvSpPr>
          <p:spPr>
            <a:xfrm rot="17792637">
              <a:off x="5187171" y="263176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화살표: 갈매기형 수장 27">
              <a:extLst>
                <a:ext uri="{FF2B5EF4-FFF2-40B4-BE49-F238E27FC236}">
                  <a16:creationId xmlns:a16="http://schemas.microsoft.com/office/drawing/2014/main" id="{634EDDA6-0E49-8F7B-6922-63ECF6476522}"/>
                </a:ext>
              </a:extLst>
            </p:cNvPr>
            <p:cNvSpPr/>
            <p:nvPr/>
          </p:nvSpPr>
          <p:spPr>
            <a:xfrm rot="17792637">
              <a:off x="5357948" y="2284523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화살표: 갈매기형 수장 29">
              <a:extLst>
                <a:ext uri="{FF2B5EF4-FFF2-40B4-BE49-F238E27FC236}">
                  <a16:creationId xmlns:a16="http://schemas.microsoft.com/office/drawing/2014/main" id="{1B79BC3C-CD8F-2171-6102-2FCB059F49F1}"/>
                </a:ext>
              </a:extLst>
            </p:cNvPr>
            <p:cNvSpPr/>
            <p:nvPr/>
          </p:nvSpPr>
          <p:spPr>
            <a:xfrm rot="17792637">
              <a:off x="5512022" y="1990699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DC0DB6F9-B69D-3B3F-10BB-D34BA435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6921">
            <a:off x="2154168" y="3174343"/>
            <a:ext cx="1059360" cy="2665916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grpSp>
        <p:nvGrpSpPr>
          <p:cNvPr id="11" name="그래픽 19" descr="남자 단색으로 채워진">
            <a:extLst>
              <a:ext uri="{FF2B5EF4-FFF2-40B4-BE49-F238E27FC236}">
                <a16:creationId xmlns:a16="http://schemas.microsoft.com/office/drawing/2014/main" id="{6E684945-ADDA-B1F0-98C7-0C8C62D4770C}"/>
              </a:ext>
            </a:extLst>
          </p:cNvPr>
          <p:cNvGrpSpPr/>
          <p:nvPr/>
        </p:nvGrpSpPr>
        <p:grpSpPr>
          <a:xfrm>
            <a:off x="3773997" y="3774083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AC29847-424C-C9AA-A5BC-638798F7B1BA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389F2E70-F258-2C72-52B6-F25087B04F89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2" name="그래픽 34" descr="배지 1 단색으로 채워진">
            <a:extLst>
              <a:ext uri="{FF2B5EF4-FFF2-40B4-BE49-F238E27FC236}">
                <a16:creationId xmlns:a16="http://schemas.microsoft.com/office/drawing/2014/main" id="{2A6F3223-63E8-0C00-311D-67874CC60E0E}"/>
              </a:ext>
            </a:extLst>
          </p:cNvPr>
          <p:cNvSpPr/>
          <p:nvPr/>
        </p:nvSpPr>
        <p:spPr>
          <a:xfrm>
            <a:off x="3233328" y="4265312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그래픽 34" descr="배지 1 단색으로 채워진">
            <a:extLst>
              <a:ext uri="{FF2B5EF4-FFF2-40B4-BE49-F238E27FC236}">
                <a16:creationId xmlns:a16="http://schemas.microsoft.com/office/drawing/2014/main" id="{7E51C534-C5A8-4AFC-7653-A3120C9A7FF9}"/>
              </a:ext>
            </a:extLst>
          </p:cNvPr>
          <p:cNvSpPr/>
          <p:nvPr/>
        </p:nvSpPr>
        <p:spPr>
          <a:xfrm>
            <a:off x="6968412" y="188733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93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333BD40-EB3C-F125-C0D7-3AAE9CB0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132867"/>
            <a:ext cx="10248975" cy="32670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E1F475-5B50-81EF-0BF8-C560EC3E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F930E-0FCE-98B8-C18D-FD71745D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665B5-D155-106B-9932-0B5F391F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C7A1E43-FD2C-0569-0801-ACD96B5205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E81E2-7069-3A85-302B-DD8B8E805CA9}"/>
              </a:ext>
            </a:extLst>
          </p:cNvPr>
          <p:cNvSpPr txBox="1"/>
          <p:nvPr/>
        </p:nvSpPr>
        <p:spPr>
          <a:xfrm>
            <a:off x="914399" y="829386"/>
            <a:ext cx="359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키보드 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F7D3B37-9922-FA4D-C1D6-952C9C98416A}"/>
              </a:ext>
            </a:extLst>
          </p:cNvPr>
          <p:cNvSpPr/>
          <p:nvPr/>
        </p:nvSpPr>
        <p:spPr>
          <a:xfrm>
            <a:off x="1130291" y="3223458"/>
            <a:ext cx="102235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E8921969-C1B1-A917-3B99-E3440B3EC178}"/>
              </a:ext>
            </a:extLst>
          </p:cNvPr>
          <p:cNvSpPr/>
          <p:nvPr/>
        </p:nvSpPr>
        <p:spPr>
          <a:xfrm>
            <a:off x="1932668" y="2386592"/>
            <a:ext cx="1250950" cy="825500"/>
          </a:xfrm>
          <a:custGeom>
            <a:avLst/>
            <a:gdLst>
              <a:gd name="csX0" fmla="*/ 3175 w 1250950"/>
              <a:gd name="csY0" fmla="*/ 793750 h 825500"/>
              <a:gd name="csX1" fmla="*/ 0 w 1250950"/>
              <a:gd name="csY1" fmla="*/ 422275 h 825500"/>
              <a:gd name="csX2" fmla="*/ 384175 w 1250950"/>
              <a:gd name="csY2" fmla="*/ 420687 h 825500"/>
              <a:gd name="csX3" fmla="*/ 376237 w 1250950"/>
              <a:gd name="csY3" fmla="*/ 52387 h 825500"/>
              <a:gd name="csX4" fmla="*/ 392112 w 1250950"/>
              <a:gd name="csY4" fmla="*/ 1587 h 825500"/>
              <a:gd name="csX5" fmla="*/ 746125 w 1250950"/>
              <a:gd name="csY5" fmla="*/ 0 h 825500"/>
              <a:gd name="csX6" fmla="*/ 763587 w 1250950"/>
              <a:gd name="csY6" fmla="*/ 34925 h 825500"/>
              <a:gd name="csX7" fmla="*/ 766762 w 1250950"/>
              <a:gd name="csY7" fmla="*/ 406400 h 825500"/>
              <a:gd name="csX8" fmla="*/ 1225550 w 1250950"/>
              <a:gd name="csY8" fmla="*/ 409575 h 825500"/>
              <a:gd name="csX9" fmla="*/ 1250950 w 1250950"/>
              <a:gd name="csY9" fmla="*/ 442912 h 825500"/>
              <a:gd name="csX10" fmla="*/ 1250950 w 1250950"/>
              <a:gd name="csY10" fmla="*/ 825500 h 825500"/>
              <a:gd name="csX11" fmla="*/ 3175 w 1250950"/>
              <a:gd name="csY11" fmla="*/ 793750 h 82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50950" h="825500">
                <a:moveTo>
                  <a:pt x="3175" y="793750"/>
                </a:moveTo>
                <a:cubicBezTo>
                  <a:pt x="2117" y="669925"/>
                  <a:pt x="1058" y="546100"/>
                  <a:pt x="0" y="422275"/>
                </a:cubicBezTo>
                <a:lnTo>
                  <a:pt x="384175" y="420687"/>
                </a:lnTo>
                <a:lnTo>
                  <a:pt x="376237" y="52387"/>
                </a:lnTo>
                <a:lnTo>
                  <a:pt x="392112" y="1587"/>
                </a:lnTo>
                <a:lnTo>
                  <a:pt x="746125" y="0"/>
                </a:lnTo>
                <a:lnTo>
                  <a:pt x="763587" y="34925"/>
                </a:lnTo>
                <a:cubicBezTo>
                  <a:pt x="764645" y="158750"/>
                  <a:pt x="765704" y="282575"/>
                  <a:pt x="766762" y="406400"/>
                </a:cubicBezTo>
                <a:lnTo>
                  <a:pt x="1225550" y="409575"/>
                </a:lnTo>
                <a:lnTo>
                  <a:pt x="1250950" y="442912"/>
                </a:lnTo>
                <a:lnTo>
                  <a:pt x="1250950" y="825500"/>
                </a:lnTo>
                <a:lnTo>
                  <a:pt x="3175" y="793750"/>
                </a:lnTo>
                <a:close/>
              </a:path>
            </a:pathLst>
          </a:custGeom>
          <a:solidFill>
            <a:srgbClr val="00B0F0">
              <a:alpha val="10000"/>
            </a:srgb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7AB85A-A0C8-478E-EC10-D48FDA6884AA}"/>
              </a:ext>
            </a:extLst>
          </p:cNvPr>
          <p:cNvSpPr/>
          <p:nvPr/>
        </p:nvSpPr>
        <p:spPr>
          <a:xfrm>
            <a:off x="2731697" y="2395538"/>
            <a:ext cx="385314" cy="401248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1BF91F3-EA1B-0448-3869-385EB7C2C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0" t="2892" r="9749" b="6038"/>
          <a:stretch>
            <a:fillRect/>
          </a:stretch>
        </p:blipFill>
        <p:spPr>
          <a:xfrm>
            <a:off x="8206594" y="3893389"/>
            <a:ext cx="1390510" cy="2237206"/>
          </a:xfrm>
          <a:prstGeom prst="rect">
            <a:avLst/>
          </a:prstGeom>
        </p:spPr>
      </p:pic>
      <p:sp>
        <p:nvSpPr>
          <p:cNvPr id="37" name="화살표: 원형 36">
            <a:extLst>
              <a:ext uri="{FF2B5EF4-FFF2-40B4-BE49-F238E27FC236}">
                <a16:creationId xmlns:a16="http://schemas.microsoft.com/office/drawing/2014/main" id="{7D3EFD1A-46A5-80C5-0981-E03920FB202C}"/>
              </a:ext>
            </a:extLst>
          </p:cNvPr>
          <p:cNvSpPr/>
          <p:nvPr/>
        </p:nvSpPr>
        <p:spPr>
          <a:xfrm>
            <a:off x="8014729" y="3151130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206914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화살표: 원형 38">
            <a:extLst>
              <a:ext uri="{FF2B5EF4-FFF2-40B4-BE49-F238E27FC236}">
                <a16:creationId xmlns:a16="http://schemas.microsoft.com/office/drawing/2014/main" id="{24CD729B-A746-3626-939D-76DBCB9606BC}"/>
              </a:ext>
            </a:extLst>
          </p:cNvPr>
          <p:cNvSpPr/>
          <p:nvPr/>
        </p:nvSpPr>
        <p:spPr>
          <a:xfrm flipH="1">
            <a:off x="8014729" y="3151130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2437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E61092D-CA78-4AD5-ADDD-2FC61FB7D9A6}"/>
              </a:ext>
            </a:extLst>
          </p:cNvPr>
          <p:cNvSpPr/>
          <p:nvPr/>
        </p:nvSpPr>
        <p:spPr>
          <a:xfrm>
            <a:off x="8248650" y="3957638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내용 개체 틀 46">
            <a:extLst>
              <a:ext uri="{FF2B5EF4-FFF2-40B4-BE49-F238E27FC236}">
                <a16:creationId xmlns:a16="http://schemas.microsoft.com/office/drawing/2014/main" id="{61E8C7A1-E3C6-696C-EA1C-AC3FC83E9A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65430189"/>
              </p:ext>
            </p:extLst>
          </p:nvPr>
        </p:nvGraphicFramePr>
        <p:xfrm>
          <a:off x="999461" y="4359709"/>
          <a:ext cx="4235101" cy="2043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652">
                  <a:extLst>
                    <a:ext uri="{9D8B030D-6E8A-4147-A177-3AD203B41FA5}">
                      <a16:colId xmlns:a16="http://schemas.microsoft.com/office/drawing/2014/main" val="1309999356"/>
                    </a:ext>
                  </a:extLst>
                </a:gridCol>
                <a:gridCol w="2506449">
                  <a:extLst>
                    <a:ext uri="{9D8B030D-6E8A-4147-A177-3AD203B41FA5}">
                      <a16:colId xmlns:a16="http://schemas.microsoft.com/office/drawing/2014/main" val="4288692516"/>
                    </a:ext>
                  </a:extLst>
                </a:gridCol>
              </a:tblGrid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wasd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644082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달리기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168936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상호작용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925836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회전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좌우 움직임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204424"/>
                  </a:ext>
                </a:extLst>
              </a:tr>
              <a:tr h="3348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</a:t>
                      </a:r>
                      <a:r>
                        <a:rPr lang="ko-KR" altLang="en-US" sz="1600" dirty="0" err="1"/>
                        <a:t>좌클릭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78254"/>
                  </a:ext>
                </a:extLst>
              </a:tr>
              <a:tr h="3667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3"/>
                          </a:solidFill>
                        </a:rPr>
                        <a:t>**</a:t>
                      </a:r>
                      <a:r>
                        <a:rPr lang="ko-KR" altLang="en-US" sz="1600" dirty="0">
                          <a:solidFill>
                            <a:schemeClr val="accent3"/>
                          </a:solidFill>
                        </a:rPr>
                        <a:t>총 조준</a:t>
                      </a:r>
                      <a:r>
                        <a:rPr lang="en-US" altLang="ko-KR" sz="1600" dirty="0">
                          <a:solidFill>
                            <a:schemeClr val="accent3"/>
                          </a:solidFill>
                        </a:rPr>
                        <a:t>??</a:t>
                      </a:r>
                      <a:endParaRPr lang="ko-KR" alt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389162"/>
                  </a:ext>
                </a:extLst>
              </a:tr>
            </a:tbl>
          </a:graphicData>
        </a:graphic>
      </p:graphicFrame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66DFFCD-665A-9180-2324-D7660BE4778B}"/>
              </a:ext>
            </a:extLst>
          </p:cNvPr>
          <p:cNvSpPr/>
          <p:nvPr/>
        </p:nvSpPr>
        <p:spPr>
          <a:xfrm>
            <a:off x="8768426" y="4177627"/>
            <a:ext cx="276927" cy="525820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34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DB22-F445-1C8F-61D8-CBB7CD53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및 출처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B7D82-5A93-A32E-08C0-ED202AF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60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396"/>
            <a:ext cx="10515600" cy="5285567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자료</a:t>
            </a:r>
            <a:r>
              <a:rPr lang="en-US" altLang="ko-KR" sz="1600" dirty="0"/>
              <a:t>1 </a:t>
            </a:r>
            <a:r>
              <a:rPr lang="ko-KR" altLang="en-US" sz="1600" dirty="0" err="1"/>
              <a:t>플레임</a:t>
            </a:r>
            <a:r>
              <a:rPr lang="en-US" altLang="ko-KR" sz="1600" dirty="0"/>
              <a:t>&lt;</a:t>
            </a:r>
            <a:r>
              <a:rPr lang="ko-KR" altLang="en-US" sz="1600" dirty="0"/>
              <a:t>나 배달 </a:t>
            </a:r>
            <a:r>
              <a:rPr lang="ko-KR" altLang="en-US" sz="1600" dirty="0" err="1"/>
              <a:t>안해</a:t>
            </a:r>
            <a:r>
              <a:rPr lang="en-US" altLang="ko-KR" sz="1600" dirty="0"/>
              <a:t>&gt;</a:t>
            </a:r>
            <a:r>
              <a:rPr lang="ko-KR" altLang="en-US" sz="1600" dirty="0"/>
              <a:t>영상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2  </a:t>
            </a:r>
            <a:r>
              <a:rPr lang="en-US" altLang="ko-KR" sz="1600" dirty="0">
                <a:hlinkClick r:id="rId2"/>
              </a:rPr>
              <a:t>https://namu.wiki/w/%EB%8F%99%EB%AC%BC%EC%9D%98%20%EC%88%B2%20%EC%8B%9C%EB%A6%AC%EC%A6%88/%EC%9D%BC%EB%B0%98%20%EC%A3%BC%EB%AF%BC/%EA%B3%B0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3 </a:t>
            </a:r>
            <a:r>
              <a:rPr lang="en-US" altLang="ko-KR" sz="1600" dirty="0">
                <a:hlinkClick r:id="rId3"/>
              </a:rPr>
              <a:t>https://www.reddit.com/r/PartyAnimalsGame/comments/1b0dmqw/how_to_get_a_new_exclusive_tiagra_skin/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4 </a:t>
            </a:r>
            <a:r>
              <a:rPr lang="en-US" altLang="ko-KR" sz="1600" dirty="0">
                <a:hlinkClick r:id="rId4"/>
              </a:rPr>
              <a:t>https://page.onstove.com/indie/global/view/9597749</a:t>
            </a:r>
            <a:r>
              <a:rPr lang="en-US" altLang="ko-KR" sz="1600" dirty="0"/>
              <a:t> </a:t>
            </a:r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5 </a:t>
            </a:r>
            <a:r>
              <a:rPr lang="en-US" altLang="ko-KR" sz="1600" dirty="0">
                <a:hlinkClick r:id="rId5"/>
              </a:rPr>
              <a:t>https://www.youtube.com/watch?v=eNRvtvpl1Io&amp;t=872s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 err="1"/>
              <a:t>어떤느낌</a:t>
            </a:r>
            <a:r>
              <a:rPr lang="ko-KR" altLang="en-US" sz="1600" dirty="0"/>
              <a:t> 이미지</a:t>
            </a:r>
            <a:r>
              <a:rPr lang="en-US" altLang="ko-KR" sz="1600" dirty="0"/>
              <a:t> </a:t>
            </a:r>
            <a:r>
              <a:rPr lang="ko-KR" altLang="en-US" sz="1600" dirty="0"/>
              <a:t>베틀그라운드 </a:t>
            </a:r>
            <a:r>
              <a:rPr lang="en-US" altLang="ko-KR" sz="1600" dirty="0">
                <a:hlinkClick r:id="rId6"/>
              </a:rPr>
              <a:t>%EC%9D%B8%EC%B9%AD-Back-view-%EC%8A%88%ED%8C%85%EA%B2%8C%EC%9E%84TPS-%ED%94%84%EB%A1%9C%EC%A0%9D%ED%8A%B8-%EC%8B%9C%EC%9E%91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키보드 이미지 </a:t>
            </a:r>
            <a:r>
              <a:rPr lang="en-US" altLang="ko-KR" sz="1600" dirty="0">
                <a:hlinkClick r:id="rId7"/>
              </a:rPr>
              <a:t>https://creatorjoseph.com/268#google_vignette</a:t>
            </a:r>
            <a:endParaRPr lang="en-US" altLang="ko-KR" sz="1600" dirty="0"/>
          </a:p>
          <a:p>
            <a:r>
              <a:rPr lang="ko-KR" altLang="en-US" sz="1600" dirty="0"/>
              <a:t>마우스 이미지 </a:t>
            </a:r>
            <a:r>
              <a:rPr lang="en-US" altLang="ko-KR" sz="1600" dirty="0">
                <a:hlinkClick r:id="rId8"/>
              </a:rPr>
              <a:t>https://kor.pngtree.com/so/%EB%A7%88%EC%9A%B0%EC%8A%A4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26ECB-2B1C-B2A7-4CB5-00358793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F74C-0F26-5025-9369-77AED66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907003B-E921-5E38-C139-5AE6158C74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7DE-7DC4-1DA0-74CB-001BCA1C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0C2E3-6320-9489-4E68-947F5A32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FD4BF-BA8A-6F73-F997-07EC85AC1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 설명란과 폐기된 아이디어</a:t>
            </a:r>
          </a:p>
        </p:txBody>
      </p:sp>
    </p:spTree>
    <p:extLst>
      <p:ext uri="{BB962C8B-B14F-4D97-AF65-F5344CB8AC3E}">
        <p14:creationId xmlns:p14="http://schemas.microsoft.com/office/powerpoint/2010/main" val="3612021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93ED8D-A4DF-5611-FF36-58D5EAA1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D48AEC-BAAE-C0EE-7E52-1E48A848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기획발표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의도</a:t>
            </a:r>
            <a:r>
              <a:rPr lang="en-US" altLang="ko-KR" dirty="0"/>
              <a:t>(2</a:t>
            </a:r>
            <a:r>
              <a:rPr lang="ko-KR" altLang="en-US" dirty="0"/>
              <a:t>인 협동의 이유가 있나</a:t>
            </a:r>
            <a:r>
              <a:rPr lang="en-US" altLang="ko-KR" dirty="0"/>
              <a:t>?? </a:t>
            </a:r>
            <a:r>
              <a:rPr lang="ko-KR" altLang="en-US" dirty="0"/>
              <a:t>굳이 </a:t>
            </a:r>
            <a:r>
              <a:rPr lang="en-US" altLang="ko-KR" dirty="0"/>
              <a:t>2</a:t>
            </a:r>
            <a:r>
              <a:rPr lang="ko-KR" altLang="en-US" dirty="0" err="1"/>
              <a:t>인이어야하나</a:t>
            </a:r>
            <a:r>
              <a:rPr lang="en-US" altLang="ko-KR" dirty="0"/>
              <a:t>?)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기획자를 향한 기획서</a:t>
            </a:r>
            <a:endParaRPr lang="en-US" altLang="ko-KR" dirty="0"/>
          </a:p>
          <a:p>
            <a:r>
              <a:rPr lang="ko-KR" altLang="en-US" dirty="0"/>
              <a:t>연구주제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연구 주제 추가</a:t>
            </a:r>
            <a:r>
              <a:rPr lang="en-US" altLang="ko-KR" dirty="0"/>
              <a:t>, </a:t>
            </a:r>
            <a:r>
              <a:rPr lang="ko-KR" altLang="en-US" dirty="0"/>
              <a:t>어떻게 </a:t>
            </a:r>
            <a:r>
              <a:rPr lang="ko-KR" altLang="en-US" dirty="0" err="1"/>
              <a:t>구현하겠다에</a:t>
            </a:r>
            <a:r>
              <a:rPr lang="ko-KR" altLang="en-US" dirty="0"/>
              <a:t> 대한 계획과 기획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프로그래머를 향한 기획서</a:t>
            </a:r>
            <a:endParaRPr lang="en-US" altLang="ko-KR" dirty="0"/>
          </a:p>
          <a:p>
            <a:r>
              <a:rPr lang="ko-KR" altLang="en-US" dirty="0"/>
              <a:t>팀원 공유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세부 내용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AEC38E-F7F5-111A-9006-FE8FD05119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48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E68E-C719-1ACF-9826-B291D554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DE472-1214-16BA-71F1-766245EA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/>
          </a:bodyPr>
          <a:lstStyle/>
          <a:p>
            <a:r>
              <a:rPr lang="en-US" altLang="ko-KR" dirty="0"/>
              <a:t>*********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9C683-C725-7210-ABF7-877B5B0F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905555"/>
            <a:ext cx="5181600" cy="1271408"/>
          </a:xfrm>
        </p:spPr>
        <p:txBody>
          <a:bodyPr>
            <a:normAutofit/>
          </a:bodyPr>
          <a:lstStyle/>
          <a:p>
            <a:r>
              <a:rPr lang="en-US" altLang="ko-KR" dirty="0"/>
              <a:t>? </a:t>
            </a:r>
            <a:r>
              <a:rPr lang="ko-KR" altLang="en-US" dirty="0"/>
              <a:t>어떤 느낌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584383-40AF-56A3-6982-0581FD8FAE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8CC5F9-B0BB-DA99-2ECA-D46F7BC5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2BDE3-9CB6-BFB2-575E-45C33E9A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250EA01-64C0-D50C-89E7-38DCDF819C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13DB8EA-95D8-90E1-DF6A-B9B0FA23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96" y="1020800"/>
            <a:ext cx="4904862" cy="2758985"/>
          </a:xfrm>
          <a:prstGeom prst="rect">
            <a:avLst/>
          </a:prstGeom>
        </p:spPr>
      </p:pic>
      <p:pic>
        <p:nvPicPr>
          <p:cNvPr id="22" name="그림 21" descr="4">
            <a:extLst>
              <a:ext uri="{FF2B5EF4-FFF2-40B4-BE49-F238E27FC236}">
                <a16:creationId xmlns:a16="http://schemas.microsoft.com/office/drawing/2014/main" id="{904EB6A6-D9F2-1BFC-4313-8113377B9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950" y="729216"/>
            <a:ext cx="4654911" cy="261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14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7D7EE-3DE5-1BD9-35E5-37F9E1FF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이후 사용 가능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DD9361-CC15-4C39-F844-0B591E49D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b="1" dirty="0"/>
              <a:t>**</a:t>
            </a:r>
            <a:r>
              <a:rPr lang="ko-KR" altLang="en-US" b="1" dirty="0"/>
              <a:t>화면에 필요한 것</a:t>
            </a:r>
            <a:br>
              <a:rPr lang="en-US" altLang="ko-KR" b="1" dirty="0"/>
            </a:br>
            <a:r>
              <a:rPr lang="ko-KR" altLang="en-US" b="1" dirty="0"/>
              <a:t>어디 경로 선택지 표시</a:t>
            </a:r>
            <a:r>
              <a:rPr lang="en-US" altLang="ko-KR" b="1" dirty="0"/>
              <a:t>, </a:t>
            </a:r>
            <a:r>
              <a:rPr lang="ko-KR" altLang="en-US" b="1" dirty="0"/>
              <a:t>경로 선택 후 경로를 안내하는 화살표</a:t>
            </a:r>
            <a:endParaRPr lang="en-US" altLang="ko-KR" b="1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D26FB4-7390-2550-A4C9-67000541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215FE-1961-73FF-95E9-3D78003F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A0D3D40-2BD2-2885-B7A9-E532CC149B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택배 상태</a:t>
            </a:r>
          </a:p>
        </p:txBody>
      </p:sp>
      <p:pic>
        <p:nvPicPr>
          <p:cNvPr id="15" name="그래픽 14" descr="청각 장애인 단색으로 채워진">
            <a:extLst>
              <a:ext uri="{FF2B5EF4-FFF2-40B4-BE49-F238E27FC236}">
                <a16:creationId xmlns:a16="http://schemas.microsoft.com/office/drawing/2014/main" id="{FD64F41E-05E6-1601-577E-8956F652A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9992" y="4105763"/>
            <a:ext cx="914400" cy="914400"/>
          </a:xfrm>
          <a:prstGeom prst="rect">
            <a:avLst/>
          </a:prstGeom>
        </p:spPr>
      </p:pic>
      <p:pic>
        <p:nvPicPr>
          <p:cNvPr id="17" name="그래픽 16" descr="폭발 단색으로 채워진">
            <a:extLst>
              <a:ext uri="{FF2B5EF4-FFF2-40B4-BE49-F238E27FC236}">
                <a16:creationId xmlns:a16="http://schemas.microsoft.com/office/drawing/2014/main" id="{14D3EE94-1ED3-E171-7945-1C1392F11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786" y="4056527"/>
            <a:ext cx="914400" cy="914400"/>
          </a:xfrm>
          <a:prstGeom prst="rect">
            <a:avLst/>
          </a:prstGeom>
        </p:spPr>
      </p:pic>
      <p:pic>
        <p:nvPicPr>
          <p:cNvPr id="19" name="그래픽 18" descr="가연성 단색으로 채워진">
            <a:extLst>
              <a:ext uri="{FF2B5EF4-FFF2-40B4-BE49-F238E27FC236}">
                <a16:creationId xmlns:a16="http://schemas.microsoft.com/office/drawing/2014/main" id="{B1DBA925-63AD-7FD2-9A28-1987D39BC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5773" y="4056527"/>
            <a:ext cx="914400" cy="914400"/>
          </a:xfrm>
          <a:prstGeom prst="rect">
            <a:avLst/>
          </a:prstGeom>
        </p:spPr>
      </p:pic>
      <p:pic>
        <p:nvPicPr>
          <p:cNvPr id="21" name="그래픽 20" descr="고전압 단색으로 채워진">
            <a:extLst>
              <a:ext uri="{FF2B5EF4-FFF2-40B4-BE49-F238E27FC236}">
                <a16:creationId xmlns:a16="http://schemas.microsoft.com/office/drawing/2014/main" id="{5D1196DC-A71A-F175-C042-5E7D62781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9732" y="4056527"/>
            <a:ext cx="914400" cy="914400"/>
          </a:xfrm>
          <a:prstGeom prst="rect">
            <a:avLst/>
          </a:prstGeom>
        </p:spPr>
      </p:pic>
      <p:pic>
        <p:nvPicPr>
          <p:cNvPr id="8" name="그래픽 7" descr="지속적인 개선 단색으로 채워진">
            <a:extLst>
              <a:ext uri="{FF2B5EF4-FFF2-40B4-BE49-F238E27FC236}">
                <a16:creationId xmlns:a16="http://schemas.microsoft.com/office/drawing/2014/main" id="{0D0E0612-78ED-BF89-4FAD-ED1F15947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0814" y="1735771"/>
            <a:ext cx="914400" cy="914400"/>
          </a:xfrm>
          <a:prstGeom prst="rect">
            <a:avLst/>
          </a:prstGeom>
        </p:spPr>
      </p:pic>
      <p:pic>
        <p:nvPicPr>
          <p:cNvPr id="10" name="그래픽 9" descr="지속적인 개선 윤곽선">
            <a:extLst>
              <a:ext uri="{FF2B5EF4-FFF2-40B4-BE49-F238E27FC236}">
                <a16:creationId xmlns:a16="http://schemas.microsoft.com/office/drawing/2014/main" id="{178B322E-84E1-38DE-6ABE-A6F9F929F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67000" y="1890819"/>
            <a:ext cx="914400" cy="914400"/>
          </a:xfrm>
          <a:prstGeom prst="rect">
            <a:avLst/>
          </a:prstGeom>
        </p:spPr>
      </p:pic>
      <p:pic>
        <p:nvPicPr>
          <p:cNvPr id="12" name="그래픽 11" descr="하비 공 65% 단색으로 채워진">
            <a:extLst>
              <a:ext uri="{FF2B5EF4-FFF2-40B4-BE49-F238E27FC236}">
                <a16:creationId xmlns:a16="http://schemas.microsoft.com/office/drawing/2014/main" id="{BEC253AC-A8B5-43B5-33A3-D60E27397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5400" y="2344273"/>
            <a:ext cx="914400" cy="9144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CAE25721-75DD-A818-1577-BD7F5AA4DB91}"/>
              </a:ext>
            </a:extLst>
          </p:cNvPr>
          <p:cNvGrpSpPr/>
          <p:nvPr/>
        </p:nvGrpSpPr>
        <p:grpSpPr>
          <a:xfrm>
            <a:off x="4943969" y="2797892"/>
            <a:ext cx="272824" cy="325698"/>
            <a:chOff x="4943969" y="2797892"/>
            <a:chExt cx="272824" cy="325698"/>
          </a:xfrm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B4EA4EFC-B3DA-A1A0-6037-816F577E7241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A83F4BE3-02DD-7710-1820-3CCCE3B09F79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B469D8E0-7094-8CEB-0C16-1AF87B1D7277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BA16980F-5E58-138A-2B7B-D8120F2D87A9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23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4D51-F217-67D8-15C1-2C657497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UI_</a:t>
            </a:r>
            <a:r>
              <a:rPr lang="ko-KR" altLang="en-US"/>
              <a:t>세부</a:t>
            </a:r>
            <a:r>
              <a:rPr lang="en-US" altLang="ko-KR"/>
              <a:t>_</a:t>
            </a:r>
            <a:r>
              <a:rPr lang="ko-KR" altLang="en-US"/>
              <a:t>시간예측분석</a:t>
            </a:r>
            <a:r>
              <a:rPr lang="en-US" altLang="ko-KR"/>
              <a:t>UI</a:t>
            </a:r>
            <a:r>
              <a:rPr lang="en-US" altLang="ko-KR">
                <a:solidFill>
                  <a:schemeClr val="accent3"/>
                </a:solidFill>
              </a:rPr>
              <a:t>_</a:t>
            </a:r>
            <a:r>
              <a:rPr lang="ko-KR" altLang="en-US">
                <a:solidFill>
                  <a:schemeClr val="accent3"/>
                </a:solidFill>
              </a:rPr>
              <a:t>후보</a:t>
            </a:r>
            <a:r>
              <a:rPr lang="en-US" altLang="ko-KR">
                <a:solidFill>
                  <a:schemeClr val="accent3"/>
                </a:solidFill>
              </a:rPr>
              <a:t>1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7975F-8ACE-F4FA-8AB0-07475DFB4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5F8528-CD96-16F4-2F05-6811FC9837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결과 </a:t>
            </a:r>
            <a:r>
              <a:rPr lang="en-US" altLang="ko-KR" sz="2400" dirty="0"/>
              <a:t>: </a:t>
            </a:r>
            <a:r>
              <a:rPr lang="ko-KR" altLang="en-US" sz="2400" dirty="0"/>
              <a:t>폐기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까닭 </a:t>
            </a:r>
            <a:r>
              <a:rPr lang="en-US" altLang="ko-KR" sz="2400" dirty="0"/>
              <a:t>: </a:t>
            </a:r>
            <a:r>
              <a:rPr lang="ko-KR" altLang="en-US" sz="2400" dirty="0"/>
              <a:t>다른 후보들에 비해 가장 쉽게 </a:t>
            </a:r>
            <a:r>
              <a:rPr lang="en-US" altLang="ko-KR" sz="2400" dirty="0"/>
              <a:t>3</a:t>
            </a:r>
            <a:r>
              <a:rPr lang="ko-KR" altLang="en-US" sz="2400" dirty="0"/>
              <a:t>인칭에 녹여낼 있으나</a:t>
            </a:r>
            <a:r>
              <a:rPr lang="en-US" altLang="ko-KR" sz="2400" dirty="0"/>
              <a:t>, </a:t>
            </a:r>
            <a:r>
              <a:rPr lang="ko-KR" altLang="en-US" sz="2400" dirty="0"/>
              <a:t>마찬가지로 다른 </a:t>
            </a:r>
            <a:r>
              <a:rPr lang="en-US" altLang="ko-KR" sz="2400" dirty="0"/>
              <a:t>3</a:t>
            </a:r>
            <a:r>
              <a:rPr lang="ko-KR" altLang="en-US" sz="2400" dirty="0"/>
              <a:t>인칭 </a:t>
            </a:r>
            <a:r>
              <a:rPr lang="en-US" altLang="ko-KR" sz="2400" dirty="0"/>
              <a:t>UI</a:t>
            </a:r>
            <a:r>
              <a:rPr lang="ko-KR" altLang="en-US" sz="2400" dirty="0"/>
              <a:t>에서 아이디어를 얻거나 통합하는 것이 더 나은 방안이라 판단함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 err="1"/>
              <a:t>핍보이</a:t>
            </a:r>
            <a:r>
              <a:rPr lang="ko-KR" altLang="en-US" sz="2400" dirty="0"/>
              <a:t> </a:t>
            </a:r>
            <a:r>
              <a:rPr lang="en-US" altLang="ko-KR" sz="2400" dirty="0"/>
              <a:t>UI </a:t>
            </a:r>
            <a:r>
              <a:rPr lang="ko-KR" altLang="en-US" sz="2400" dirty="0"/>
              <a:t>이미지 </a:t>
            </a:r>
            <a:r>
              <a:rPr lang="en-US" altLang="ko-KR" sz="2400" dirty="0">
                <a:hlinkClick r:id="rId2"/>
              </a:rPr>
              <a:t>https://arca.live/b/fallout76/19323367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EFC82-39C1-37D5-A2C1-BD71091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AC843-7DC9-A361-45FE-6B5FA433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7C3D725-686D-219D-E3F9-FCDBA59832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C82763-7EB2-6DBD-BD2A-89C2169C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2060"/>
            <a:ext cx="5266640" cy="29624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BB6AC-574F-23F8-798C-FE5AED8C901E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3066405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ED21-0446-B325-480B-8AEDED03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B022-CC93-5BD3-2FB3-7C520F27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2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0B2E1-7D68-E4DC-0EA7-BE29AF19F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FF18E-C4C2-7C23-480E-50C0007526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 err="1"/>
              <a:t>테블릿</a:t>
            </a:r>
            <a:r>
              <a:rPr lang="ko-KR" altLang="en-US" sz="1600" dirty="0"/>
              <a:t>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 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화면을 덮을 크기</a:t>
            </a:r>
            <a:r>
              <a:rPr lang="en-US" altLang="ko-KR" sz="1600" dirty="0"/>
              <a:t>, </a:t>
            </a:r>
            <a:r>
              <a:rPr lang="ko-KR" altLang="en-US" sz="1600" dirty="0"/>
              <a:t>투명도는 방식에 따라 필요가 </a:t>
            </a:r>
            <a:r>
              <a:rPr lang="ko-KR" altLang="en-US" sz="1600" dirty="0" err="1"/>
              <a:t>정해짐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ko-KR" altLang="en-US" sz="1600" dirty="0" err="1"/>
              <a:t>미니맵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탑뷰로</a:t>
            </a:r>
            <a:r>
              <a:rPr lang="ko-KR" altLang="en-US" sz="1600" dirty="0"/>
              <a:t> 경로를 알려준다면 투명도 필요 없음</a:t>
            </a:r>
            <a:r>
              <a:rPr lang="en-US" altLang="ko-KR" sz="1600" dirty="0"/>
              <a:t>, </a:t>
            </a:r>
            <a:r>
              <a:rPr lang="ko-KR" altLang="en-US" sz="1600" dirty="0"/>
              <a:t>눈 앞의 경로를 알려준다면 투명도 필요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3</a:t>
            </a:r>
            <a:r>
              <a:rPr lang="ko-KR" altLang="en-US" sz="1600" dirty="0"/>
              <a:t>인칭 진행에서 자연스럽게 디자인할 방안을 찾지 못함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서브노티카</a:t>
            </a:r>
            <a:r>
              <a:rPr lang="en-US" altLang="ko-KR" sz="1600" dirty="0"/>
              <a:t> 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https://gameuidatabase.com/index.php?&amp;scrn=71&amp;set=1&amp;plat=1&amp;tag=131&amp;series=106&amp;sort=2&amp;r=4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EB7CD-9D5E-B089-9D35-D9AF354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F2533-7743-0CAA-E193-5A96F503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20614F1-FB8C-4B4B-8C14-E7CF485B3A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E6418C-1FA6-12EF-E3A5-687928F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4" y="1119112"/>
            <a:ext cx="5197870" cy="292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E254F-D347-9C8F-D15D-BFD13989A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19" y="4065917"/>
            <a:ext cx="5003961" cy="211104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28EEAA-D802-B5E2-4634-5801BDADAFC3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2954105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5E5E-B71B-3E00-C88E-EB1061C3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DB0DB-4DCE-11D7-B365-3F83F678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3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83826-6FD3-BF10-B452-319AE5A86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CC3A1F-E50B-52CB-1E8A-D38165C47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1916"/>
            <a:ext cx="5181600" cy="49950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/>
              <a:t>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</a:t>
            </a:r>
            <a:r>
              <a:rPr lang="en-US" altLang="ko-KR" sz="1600" dirty="0"/>
              <a:t> :</a:t>
            </a:r>
            <a:br>
              <a:rPr lang="en-US" altLang="ko-KR" sz="1600" dirty="0"/>
            </a:br>
            <a:r>
              <a:rPr lang="ko-KR" altLang="en-US" sz="1600" dirty="0"/>
              <a:t>시계는 크기가 </a:t>
            </a:r>
            <a:r>
              <a:rPr lang="ko-KR" altLang="en-US" sz="1600" dirty="0" err="1"/>
              <a:t>커야함</a:t>
            </a:r>
            <a:r>
              <a:rPr lang="en-US" altLang="ko-KR" sz="1600" dirty="0"/>
              <a:t>, </a:t>
            </a:r>
            <a:r>
              <a:rPr lang="ko-KR" altLang="en-US" sz="1600" dirty="0"/>
              <a:t>직관적이고 선명한 색의 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중앙에는 화살표로 경로의 위치를 확인할 수 있도록 해야함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</a:t>
            </a:r>
            <a:r>
              <a:rPr lang="ko-KR" altLang="en-US" sz="1600" dirty="0"/>
              <a:t>실시간 컨셉과 맞지 않다고 판단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배달품</a:t>
            </a:r>
            <a:r>
              <a:rPr lang="ko-KR" altLang="en-US" sz="1600" dirty="0"/>
              <a:t> 소지 시 손목을 볼 수 없거나 구현이 곤란해짐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그린헬</a:t>
            </a:r>
            <a:r>
              <a:rPr lang="ko-KR" altLang="en-US" sz="1600" dirty="0"/>
              <a:t> 손목시계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https://constante.tistory.com/entry/%EA%B7%B8%EB%A6%B0-%ED%97%ACGreen-Hell-%EC%B4%88%EB%B3%B4%EA%B0%80%EC%9D%B4%EB%93%9C-%ED%8A%9C%ED%86%A0%EB%A6%AC%EC%96%BC-%ED%95%B4%EC%95%BC-%ED%95%98%EB%8A%94-%EC%9D%B4%EC%9C%A0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9BB43-0277-F6FA-BBC7-4CA345E2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6AA24-EF56-CAB7-B5BB-9D1F1703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8ECF64-4803-31DC-51AA-50E8624A34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D80CA8-A303-4ECC-BDB8-24B3AFB8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54152"/>
            <a:ext cx="5181600" cy="29322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66009D-C93F-161B-09F5-E69904A8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81916"/>
            <a:ext cx="5181600" cy="29634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60AB15-8ACC-8D8E-F1D0-86A263E9E1FF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75127147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1797</TotalTime>
  <Words>1770</Words>
  <Application>Microsoft Office PowerPoint</Application>
  <PresentationFormat>와이드스크린</PresentationFormat>
  <Paragraphs>285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맑은 고딕</vt:lpstr>
      <vt:lpstr>Arial</vt:lpstr>
      <vt:lpstr>기본_수정</vt:lpstr>
      <vt:lpstr>디자인 사용자 지정</vt:lpstr>
      <vt:lpstr>배트와 달트 기획서</vt:lpstr>
      <vt:lpstr>용어 정리</vt:lpstr>
      <vt:lpstr>목차</vt:lpstr>
      <vt:lpstr>게임 소개</vt:lpstr>
      <vt:lpstr>게임 정보</vt:lpstr>
      <vt:lpstr>기획 목표</vt:lpstr>
      <vt:lpstr>게임 플로우</vt:lpstr>
      <vt:lpstr>컨텐츠</vt:lpstr>
      <vt:lpstr>스토리</vt:lpstr>
      <vt:lpstr>플레이어블 캐릭터</vt:lpstr>
      <vt:lpstr>NPC_반응 생물</vt:lpstr>
      <vt:lpstr>NPC_주민</vt:lpstr>
      <vt:lpstr>맵</vt:lpstr>
      <vt:lpstr>배달품</vt:lpstr>
      <vt:lpstr>상호작용_지형</vt:lpstr>
      <vt:lpstr>상호작용_배달품_예시</vt:lpstr>
      <vt:lpstr>상호작용_생물</vt:lpstr>
      <vt:lpstr>시스템</vt:lpstr>
      <vt:lpstr>UI_플로우</vt:lpstr>
      <vt:lpstr>UI_세부_플레이화면 참고</vt:lpstr>
      <vt:lpstr>UI_세부_플레이화면</vt:lpstr>
      <vt:lpstr>UI_세부_사격</vt:lpstr>
      <vt:lpstr>UI_세부_배달품 전달 대화</vt:lpstr>
      <vt:lpstr>UI_세부_경로 안내 참고</vt:lpstr>
      <vt:lpstr>UI_세부_경로 안내 UI</vt:lpstr>
      <vt:lpstr>컨트롤</vt:lpstr>
      <vt:lpstr>참고문헌 및 출처</vt:lpstr>
      <vt:lpstr>이미지 자료 출처</vt:lpstr>
      <vt:lpstr>부록</vt:lpstr>
      <vt:lpstr>PowerPoint 프레젠테이션</vt:lpstr>
      <vt:lpstr>*********</vt:lpstr>
      <vt:lpstr>이후 사용 가능</vt:lpstr>
      <vt:lpstr>UI_세부_시간예측분석UI_후보1</vt:lpstr>
      <vt:lpstr>UI_세부_시간예측분석UI_후보2</vt:lpstr>
      <vt:lpstr>UI_세부_시간예측분석UI_후보3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119</cp:revision>
  <dcterms:created xsi:type="dcterms:W3CDTF">2026-09-16T19:24:55Z</dcterms:created>
  <dcterms:modified xsi:type="dcterms:W3CDTF">2026-09-22T08:17:46Z</dcterms:modified>
</cp:coreProperties>
</file>