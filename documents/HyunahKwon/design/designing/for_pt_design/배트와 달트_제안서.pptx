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6" r:id="rId2"/>
  </p:sldMasterIdLst>
  <p:notesMasterIdLst>
    <p:notesMasterId r:id="rId14"/>
  </p:notesMasterIdLst>
  <p:sldIdLst>
    <p:sldId id="256" r:id="rId3"/>
    <p:sldId id="259" r:id="rId4"/>
    <p:sldId id="287" r:id="rId5"/>
    <p:sldId id="265" r:id="rId6"/>
    <p:sldId id="271" r:id="rId7"/>
    <p:sldId id="291" r:id="rId8"/>
    <p:sldId id="292" r:id="rId9"/>
    <p:sldId id="288" r:id="rId10"/>
    <p:sldId id="289" r:id="rId11"/>
    <p:sldId id="290" r:id="rId12"/>
    <p:sldId id="270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>
        <p:scale>
          <a:sx n="80" d="100"/>
          <a:sy n="80" d="100"/>
        </p:scale>
        <p:origin x="510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88A0B5-2009-442A-973B-407921661185}" type="datetimeFigureOut">
              <a:rPr lang="ko-KR" altLang="en-US" smtClean="0"/>
              <a:t>2026-09-21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92ECF9-6078-4915-BEE9-40AC2CD6F8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44810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094D01-0EC0-583E-AF02-DDCDEA8D0B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FA9843C-2E0B-D9E6-B5D7-6909186C5A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34646B0-B772-A89B-6DD6-32E649924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D5073-3D75-4506-8C91-5119827B979E}" type="datetimeFigureOut">
              <a:rPr lang="ko-KR" altLang="en-US" smtClean="0"/>
              <a:t>2026-09-21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7AAF6E5-FE5A-F08E-367B-7F725EE78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8BBBE15-E2E0-4779-6B21-BFB77CB3F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13B47-A27B-4FAB-9280-DA2653FDD1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00250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ABB8CD-C4A3-1802-10F5-5B440080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0F547B4-8C2F-A47C-8938-C10B3A083D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3EAB59-3152-0BB2-0ABA-7639B18A5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D5073-3D75-4506-8C91-5119827B979E}" type="datetimeFigureOut">
              <a:rPr lang="ko-KR" altLang="en-US" smtClean="0"/>
              <a:t>2026-09-21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75E4868-DDBD-A97E-E556-D8686D6E6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3ED85D4-B83D-258D-AD10-D91FEA025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13B47-A27B-4FAB-9280-DA2653FDD1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8796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7C4AC8-AB3F-5038-2C5D-ECFD0DFE5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24F8DD8-EBF7-C7CA-A7B3-4DE84D4494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BAD840D-91BA-8969-733C-760C0CC25F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AE8C701-6832-9922-1B55-3528A9A78D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BF3C741-5C5C-4E0D-9516-F82616A88F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1E3BD39-8A43-2222-3ED7-DB6770ABA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D5073-3D75-4506-8C91-5119827B979E}" type="datetimeFigureOut">
              <a:rPr lang="ko-KR" altLang="en-US" smtClean="0"/>
              <a:t>2026-09-21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05E65C6-0631-C506-DCD0-0A1E06164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926683C-E239-4914-EF7F-7026E3333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13B47-A27B-4FAB-9280-DA2653FDD1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35241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BCB2BC-D0E5-D763-5DAF-13D16567F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D581A45-90C6-16CA-2AF2-8E5ED7FC9A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66040AB-764F-3822-9F18-4DF9939C28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73BF953-F401-6B6F-B1F2-05302E425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D5073-3D75-4506-8C91-5119827B979E}" type="datetimeFigureOut">
              <a:rPr lang="ko-KR" altLang="en-US" smtClean="0"/>
              <a:t>2026-09-21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89149C9-6AFC-7EEA-5BCD-1477D94C2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DDAE919-E01F-1035-FAA8-43BFDBE52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13B47-A27B-4FAB-9280-DA2653FDD1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9897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4AB656-48C0-0972-7E76-32CE1D6DE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1A4A784-0DEB-4142-8F8E-8EC7A5B21B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3B73C37-B926-C476-D4EA-AB10FA416A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833CFE-BA4B-AFFC-8407-2909DE310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D5073-3D75-4506-8C91-5119827B979E}" type="datetimeFigureOut">
              <a:rPr lang="ko-KR" altLang="en-US" smtClean="0"/>
              <a:t>2026-09-21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9CD7999-E7B8-52AC-818C-67668266A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C46B130-BCE7-300C-3277-EE150134F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13B47-A27B-4FAB-9280-DA2653FDD1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71061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A09296-21E3-A9FC-A4DB-7B03A6CA7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3506C92-FCD2-1EE5-65CA-960BAD86DB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A85C27E-9FD6-CB00-CDB5-49439619F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850D4-9086-4998-AA40-EC3A5E96598E}" type="datetime1">
              <a:rPr lang="en-US" altLang="ko-KR" smtClean="0"/>
              <a:t>9/21/2026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8FAF181-B144-901E-B753-06600F2EB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D23318B-EB45-18D5-4A5B-0DCED4DA2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내용 개체 틀 9">
            <a:extLst>
              <a:ext uri="{FF2B5EF4-FFF2-40B4-BE49-F238E27FC236}">
                <a16:creationId xmlns:a16="http://schemas.microsoft.com/office/drawing/2014/main" id="{B8A04A8B-D800-31FA-0770-95221831ABE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16286" y="0"/>
            <a:ext cx="7075714" cy="662782"/>
          </a:xfr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942643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3F307C-4412-EB5A-8D2D-EA89E00F0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292B6C-4F9A-BA5C-6E3C-F6E047CAC8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1D6D48A-7F6B-8326-0930-0DE24BF81C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E17B666-EF3E-7582-FF42-000C51D11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4DF-9BBC-4DFC-AB92-EB3DF1902948}" type="datetime1">
              <a:rPr lang="en-US" altLang="ko-KR" smtClean="0"/>
              <a:t>9/21/2026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D96DC83-9D08-7CE4-6BCC-51434ACF3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4DCDA60-E2AC-817E-7561-D9E1121AB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내용 개체 틀 9">
            <a:extLst>
              <a:ext uri="{FF2B5EF4-FFF2-40B4-BE49-F238E27FC236}">
                <a16:creationId xmlns:a16="http://schemas.microsoft.com/office/drawing/2014/main" id="{D8193305-12D2-4DF2-56CE-EB42263E536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16286" y="0"/>
            <a:ext cx="7075714" cy="662782"/>
          </a:xfr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36991987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34CFDA-2672-2E64-250A-F85C4C1EB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8F9F220-64B1-A520-D359-97A2A45A8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680CB-DB40-47CE-A8D2-A12CB1478785}" type="datetime1">
              <a:rPr lang="en-US" altLang="ko-KR" smtClean="0"/>
              <a:t>9/21/2026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3239E46-EEFA-DE87-E99F-562046BD8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5BF63DD-7AC8-650C-4263-EE4C217D3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9BE51-E1DC-4D7D-A982-2D579B03518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내용 개체 틀 9">
            <a:extLst>
              <a:ext uri="{FF2B5EF4-FFF2-40B4-BE49-F238E27FC236}">
                <a16:creationId xmlns:a16="http://schemas.microsoft.com/office/drawing/2014/main" id="{4CF38ABA-E54E-6711-1E63-96557E15BFC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16286" y="0"/>
            <a:ext cx="7075714" cy="662782"/>
          </a:xfr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23188706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ABB8CD-C4A3-1802-10F5-5B440080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0F547B4-8C2F-A47C-8938-C10B3A083D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3EAB59-3152-0BB2-0ABA-7639B18A5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D5073-3D75-4506-8C91-5119827B979E}" type="datetimeFigureOut">
              <a:rPr lang="ko-KR" altLang="en-US" smtClean="0"/>
              <a:t>2026-09-21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75E4868-DDBD-A97E-E556-D8686D6E6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3ED85D4-B83D-258D-AD10-D91FEA025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13B47-A27B-4FAB-9280-DA2653FDD1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60565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9B2A50D-47D3-E02F-D339-3BB790B0B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90D3744-B54A-DCB5-B319-D1D7784B5F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9EF6D5-B8B1-F18C-1A8C-E7CE5CC4D3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FD5073-3D75-4506-8C91-5119827B979E}" type="datetimeFigureOut">
              <a:rPr lang="ko-KR" altLang="en-US" smtClean="0"/>
              <a:t>2026-09-21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F36C4B4-7272-9E1C-45ED-CBAA88D013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BE65CEA-97AE-D52F-4F97-A5C1CFD89F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B13B47-A27B-4FAB-9280-DA2653FDD1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56842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 algn="l" defTabSz="914400" rtl="0" eaLnBrk="1" latinLnBrk="1" hangingPunct="1">
        <a:lnSpc>
          <a:spcPct val="10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3650182-8DBB-2193-E636-2E6C9CD02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5116286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2F94A67-557E-E664-B632-8621D9595C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830F72-E992-E233-953E-48FDE883BB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CA07D7-17C4-4932-A5CB-22BA65F5FC8D}" type="datetime1">
              <a:rPr lang="en-US" altLang="ko-KR" smtClean="0"/>
              <a:t>9/21/2026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BCA9C8A-AB1D-DC51-B767-4B47C5CB48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68B049B-DBEB-F397-5C41-CA1F52FC9E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19BE51-E1DC-4D7D-A982-2D579B035180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23B8842A-CF3B-4DC9-FF99-31C497E908FF}"/>
              </a:ext>
            </a:extLst>
          </p:cNvPr>
          <p:cNvCxnSpPr/>
          <p:nvPr/>
        </p:nvCxnSpPr>
        <p:spPr>
          <a:xfrm>
            <a:off x="0" y="662782"/>
            <a:ext cx="12192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8830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</p:sldLayoutIdLst>
  <p:hf hdr="0" ft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9611B6-C59D-7CE5-FEE2-1D6ED048E7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11858"/>
            <a:ext cx="9144000" cy="2387600"/>
          </a:xfrm>
        </p:spPr>
        <p:txBody>
          <a:bodyPr>
            <a:normAutofit/>
          </a:bodyPr>
          <a:lstStyle/>
          <a:p>
            <a:r>
              <a:rPr lang="ko-KR" altLang="en-US" dirty="0"/>
              <a:t>배트와 </a:t>
            </a:r>
            <a:r>
              <a:rPr lang="ko-KR" altLang="en-US" dirty="0" err="1"/>
              <a:t>달트</a:t>
            </a:r>
            <a:br>
              <a:rPr lang="en-US" altLang="ko-KR" dirty="0"/>
            </a:b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2A18EEF-9CC0-5ACA-83D1-C1A0C24EEF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715376"/>
            <a:ext cx="9144000" cy="2206416"/>
          </a:xfrm>
        </p:spPr>
        <p:txBody>
          <a:bodyPr/>
          <a:lstStyle/>
          <a:p>
            <a:r>
              <a:rPr lang="ko-KR" altLang="en-US" dirty="0">
                <a:solidFill>
                  <a:srgbClr val="000000"/>
                </a:solidFill>
              </a:rPr>
              <a:t>2인 협동 FPS 배달 시뮬레이션 게임</a:t>
            </a:r>
            <a:endParaRPr lang="en-US" altLang="ko-KR" dirty="0">
              <a:solidFill>
                <a:srgbClr val="000000"/>
              </a:solidFill>
            </a:endParaRPr>
          </a:p>
          <a:p>
            <a:endParaRPr lang="en-US" altLang="ko-KR" dirty="0">
              <a:solidFill>
                <a:srgbClr val="000000"/>
              </a:solidFill>
            </a:endParaRPr>
          </a:p>
          <a:p>
            <a:endParaRPr lang="en-US" altLang="ko-KR" dirty="0">
              <a:solidFill>
                <a:srgbClr val="000000"/>
              </a:solidFill>
            </a:endParaRPr>
          </a:p>
          <a:p>
            <a:r>
              <a:rPr lang="ko-KR" altLang="en-US" sz="3200" dirty="0">
                <a:solidFill>
                  <a:srgbClr val="000000"/>
                </a:solidFill>
              </a:rPr>
              <a:t>제안서</a:t>
            </a:r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DB461566-C014-2973-5173-C77323D2AD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2771347"/>
              </p:ext>
            </p:extLst>
          </p:nvPr>
        </p:nvGraphicFramePr>
        <p:xfrm>
          <a:off x="2126890" y="185121"/>
          <a:ext cx="793822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21449">
                  <a:extLst>
                    <a:ext uri="{9D8B030D-6E8A-4147-A177-3AD203B41FA5}">
                      <a16:colId xmlns:a16="http://schemas.microsoft.com/office/drawing/2014/main" val="3291562995"/>
                    </a:ext>
                  </a:extLst>
                </a:gridCol>
                <a:gridCol w="1322717">
                  <a:extLst>
                    <a:ext uri="{9D8B030D-6E8A-4147-A177-3AD203B41FA5}">
                      <a16:colId xmlns:a16="http://schemas.microsoft.com/office/drawing/2014/main" val="3175537405"/>
                    </a:ext>
                  </a:extLst>
                </a:gridCol>
                <a:gridCol w="2731698">
                  <a:extLst>
                    <a:ext uri="{9D8B030D-6E8A-4147-A177-3AD203B41FA5}">
                      <a16:colId xmlns:a16="http://schemas.microsoft.com/office/drawing/2014/main" val="434380848"/>
                    </a:ext>
                  </a:extLst>
                </a:gridCol>
                <a:gridCol w="2162356">
                  <a:extLst>
                    <a:ext uri="{9D8B030D-6E8A-4147-A177-3AD203B41FA5}">
                      <a16:colId xmlns:a16="http://schemas.microsoft.com/office/drawing/2014/main" val="32052366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학번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이름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과제명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제출일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410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2023184004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권현아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제안서 및 학업계획서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2026.09.21.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2498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35184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A03E1773-B3C9-B24D-04A3-63300D288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게임 정보</a:t>
            </a:r>
          </a:p>
        </p:txBody>
      </p:sp>
      <p:graphicFrame>
        <p:nvGraphicFramePr>
          <p:cNvPr id="7" name="내용 개체 틀 6">
            <a:extLst>
              <a:ext uri="{FF2B5EF4-FFF2-40B4-BE49-F238E27FC236}">
                <a16:creationId xmlns:a16="http://schemas.microsoft.com/office/drawing/2014/main" id="{E8E3620E-D6D8-CBB7-2945-88565D4630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88607315"/>
              </p:ext>
            </p:extLst>
          </p:nvPr>
        </p:nvGraphicFramePr>
        <p:xfrm>
          <a:off x="1236093" y="1253707"/>
          <a:ext cx="9719813" cy="444585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40103">
                  <a:extLst>
                    <a:ext uri="{9D8B030D-6E8A-4147-A177-3AD203B41FA5}">
                      <a16:colId xmlns:a16="http://schemas.microsoft.com/office/drawing/2014/main" val="1481076814"/>
                    </a:ext>
                  </a:extLst>
                </a:gridCol>
                <a:gridCol w="7579710">
                  <a:extLst>
                    <a:ext uri="{9D8B030D-6E8A-4147-A177-3AD203B41FA5}">
                      <a16:colId xmlns:a16="http://schemas.microsoft.com/office/drawing/2014/main" val="2932042606"/>
                    </a:ext>
                  </a:extLst>
                </a:gridCol>
              </a:tblGrid>
              <a:tr h="93165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장르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dirty="0">
                          <a:solidFill>
                            <a:srgbClr val="000000"/>
                          </a:solidFill>
                        </a:rPr>
                        <a:t>3</a:t>
                      </a:r>
                      <a:r>
                        <a:rPr lang="ko-KR" altLang="en-US" sz="2000" dirty="0">
                          <a:solidFill>
                            <a:srgbClr val="000000"/>
                          </a:solidFill>
                        </a:rPr>
                        <a:t>인칭</a:t>
                      </a:r>
                      <a:r>
                        <a:rPr lang="en-US" altLang="ko-KR" sz="2000" dirty="0">
                          <a:solidFill>
                            <a:srgbClr val="000000"/>
                          </a:solidFill>
                        </a:rPr>
                        <a:t>,</a:t>
                      </a:r>
                      <a:r>
                        <a:rPr lang="ko-KR" altLang="en-US" sz="2000" dirty="0">
                          <a:solidFill>
                            <a:srgbClr val="000000"/>
                          </a:solidFill>
                        </a:rPr>
                        <a:t> 2인 협동</a:t>
                      </a:r>
                      <a:r>
                        <a:rPr lang="en-US" altLang="ko-KR" sz="2000" dirty="0">
                          <a:solidFill>
                            <a:srgbClr val="000000"/>
                          </a:solidFill>
                        </a:rPr>
                        <a:t>,</a:t>
                      </a:r>
                      <a:r>
                        <a:rPr lang="ko-KR" altLang="en-US" sz="2000" dirty="0">
                          <a:solidFill>
                            <a:srgbClr val="000000"/>
                          </a:solidFill>
                        </a:rPr>
                        <a:t> FPS</a:t>
                      </a:r>
                      <a:r>
                        <a:rPr lang="en-US" altLang="ko-KR" sz="2000" dirty="0">
                          <a:solidFill>
                            <a:srgbClr val="000000"/>
                          </a:solidFill>
                        </a:rPr>
                        <a:t>,</a:t>
                      </a:r>
                      <a:r>
                        <a:rPr lang="ko-KR" altLang="en-US" sz="2000" dirty="0">
                          <a:solidFill>
                            <a:srgbClr val="000000"/>
                          </a:solidFill>
                        </a:rPr>
                        <a:t> 배달 전략 게임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0308725"/>
                  </a:ext>
                </a:extLst>
              </a:tr>
              <a:tr h="153125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컨셉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strike="noStrike" dirty="0"/>
                        <a:t>경로를 보여주고 배달 예상 시간을 예측해 알려주는 도우미 </a:t>
                      </a:r>
                      <a:r>
                        <a:rPr lang="en-US" altLang="ko-KR" sz="2000" strike="noStrike" dirty="0"/>
                        <a:t>ai</a:t>
                      </a:r>
                      <a:r>
                        <a:rPr lang="ko-KR" altLang="en-US" sz="2000" strike="noStrike" dirty="0"/>
                        <a:t>의</a:t>
                      </a:r>
                      <a:br>
                        <a:rPr lang="en-US" altLang="ko-KR" sz="2000" strike="noStrike" dirty="0"/>
                      </a:br>
                      <a:r>
                        <a:rPr lang="ko-KR" altLang="en-US" sz="2000" strike="noStrike" dirty="0"/>
                        <a:t>안내에 따라 판단하고</a:t>
                      </a:r>
                      <a:r>
                        <a:rPr lang="en-US" altLang="ko-KR" sz="2000" strike="noStrike" dirty="0"/>
                        <a:t>,</a:t>
                      </a:r>
                      <a:r>
                        <a:rPr lang="ko-KR" altLang="en-US" sz="2000" strike="noStrike" dirty="0"/>
                        <a:t> 주위의 적들과 배달품에 따라 변하는</a:t>
                      </a:r>
                      <a:br>
                        <a:rPr lang="en-US" altLang="ko-KR" sz="2000" strike="noStrike" dirty="0"/>
                      </a:br>
                      <a:r>
                        <a:rPr lang="ko-KR" altLang="en-US" sz="2000" strike="noStrike" dirty="0"/>
                        <a:t>생태계를 견제하며</a:t>
                      </a:r>
                      <a:r>
                        <a:rPr lang="en-US" altLang="ko-KR" sz="2000" strike="noStrike" dirty="0"/>
                        <a:t>,</a:t>
                      </a:r>
                      <a:r>
                        <a:rPr lang="ko-KR" altLang="en-US" sz="2000" strike="noStrike" dirty="0"/>
                        <a:t> 제한 시간 안에 배달을 완료하는 게임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4467976"/>
                  </a:ext>
                </a:extLst>
              </a:tr>
              <a:tr h="11199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타겟 유저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dirty="0">
                          <a:solidFill>
                            <a:srgbClr val="000000"/>
                          </a:solidFill>
                        </a:rPr>
                        <a:t>귀여운 분위기와 돌발상황을 친구와 함께 재밌게 </a:t>
                      </a:r>
                      <a:br>
                        <a:rPr lang="en-US" altLang="ko-KR" sz="2000" dirty="0">
                          <a:solidFill>
                            <a:srgbClr val="000000"/>
                          </a:solidFill>
                        </a:rPr>
                      </a:br>
                      <a:r>
                        <a:rPr lang="ko-KR" altLang="en-US" sz="2000" dirty="0">
                          <a:solidFill>
                            <a:srgbClr val="000000"/>
                          </a:solidFill>
                        </a:rPr>
                        <a:t>헤쳐 나가며 가볍게 플레이하려는 사람들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0212067"/>
                  </a:ext>
                </a:extLst>
              </a:tr>
              <a:tr h="86301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플랫폼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2000" dirty="0">
                        <a:solidFill>
                          <a:srgbClr val="00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5211022"/>
                  </a:ext>
                </a:extLst>
              </a:tr>
            </a:tbl>
          </a:graphicData>
        </a:graphic>
      </p:graphicFrame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D1BF454-365A-4CEC-2BD8-96FB70A429D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게임 소개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D11A7FE-F906-A49D-F0D7-63DA673956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9" y="5152391"/>
            <a:ext cx="1670449" cy="347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68032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0B5A58-80AC-EBD3-5146-FDD0892D8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게임 소개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016193F1-225B-BAD9-4EB2-890F2E4D117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진행 플로우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157448D-1D5B-0C23-260A-4A04A30B9298}"/>
              </a:ext>
            </a:extLst>
          </p:cNvPr>
          <p:cNvSpPr/>
          <p:nvPr/>
        </p:nvSpPr>
        <p:spPr>
          <a:xfrm>
            <a:off x="999029" y="2929220"/>
            <a:ext cx="1404937" cy="738187"/>
          </a:xfrm>
          <a:prstGeom prst="rect">
            <a:avLst/>
          </a:prstGeom>
          <a:solidFill>
            <a:schemeClr val="l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배달 물품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ko-KR" altLang="en-US" dirty="0">
                <a:solidFill>
                  <a:srgbClr val="000000"/>
                </a:solidFill>
              </a:rPr>
              <a:t>랜덤 결정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FF27F4A-9397-901D-2B91-7F25403DD471}"/>
              </a:ext>
            </a:extLst>
          </p:cNvPr>
          <p:cNvSpPr/>
          <p:nvPr/>
        </p:nvSpPr>
        <p:spPr>
          <a:xfrm>
            <a:off x="6573964" y="2779298"/>
            <a:ext cx="1687574" cy="1038028"/>
          </a:xfrm>
          <a:prstGeom prst="rect">
            <a:avLst/>
          </a:prstGeom>
          <a:solidFill>
            <a:schemeClr val="l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협동하며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ko-KR" altLang="en-US" dirty="0">
                <a:solidFill>
                  <a:srgbClr val="000000"/>
                </a:solidFill>
              </a:rPr>
              <a:t>경로와 안내를 따라 진행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67872B9-EEB5-1C8D-1C3A-F90EA193C91B}"/>
              </a:ext>
            </a:extLst>
          </p:cNvPr>
          <p:cNvSpPr/>
          <p:nvPr/>
        </p:nvSpPr>
        <p:spPr>
          <a:xfrm>
            <a:off x="9031604" y="2869551"/>
            <a:ext cx="2074261" cy="857522"/>
          </a:xfrm>
          <a:prstGeom prst="rect">
            <a:avLst/>
          </a:prstGeom>
          <a:solidFill>
            <a:schemeClr val="l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시간 안에 배달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ko-KR" altLang="en-US" dirty="0">
                <a:solidFill>
                  <a:srgbClr val="000000"/>
                </a:solidFill>
              </a:rPr>
              <a:t>성공 시 보수 지급</a:t>
            </a:r>
          </a:p>
        </p:txBody>
      </p:sp>
      <p:cxnSp>
        <p:nvCxnSpPr>
          <p:cNvPr id="15" name="화살표 12">
            <a:extLst>
              <a:ext uri="{FF2B5EF4-FFF2-40B4-BE49-F238E27FC236}">
                <a16:creationId xmlns:a16="http://schemas.microsoft.com/office/drawing/2014/main" id="{890C9CF8-0659-D5E1-6821-36DC4D0623DE}"/>
              </a:ext>
            </a:extLst>
          </p:cNvPr>
          <p:cNvCxnSpPr>
            <a:cxnSpLocks/>
            <a:stCxn id="8" idx="3"/>
            <a:endCxn id="21" idx="1"/>
          </p:cNvCxnSpPr>
          <p:nvPr/>
        </p:nvCxnSpPr>
        <p:spPr>
          <a:xfrm flipV="1">
            <a:off x="2403966" y="3298313"/>
            <a:ext cx="782145" cy="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4405D8F-5CEF-A44B-0B94-1DE69364EA2A}"/>
              </a:ext>
            </a:extLst>
          </p:cNvPr>
          <p:cNvSpPr/>
          <p:nvPr/>
        </p:nvSpPr>
        <p:spPr>
          <a:xfrm>
            <a:off x="3186111" y="2726639"/>
            <a:ext cx="2541917" cy="1143347"/>
          </a:xfrm>
          <a:prstGeom prst="rect">
            <a:avLst/>
          </a:prstGeom>
          <a:solidFill>
            <a:schemeClr val="l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도우미 </a:t>
            </a:r>
            <a:r>
              <a:rPr lang="en-US" altLang="ko-KR" dirty="0">
                <a:solidFill>
                  <a:srgbClr val="000000"/>
                </a:solidFill>
              </a:rPr>
              <a:t>AI</a:t>
            </a:r>
            <a:r>
              <a:rPr lang="ko-KR" altLang="en-US" dirty="0">
                <a:solidFill>
                  <a:srgbClr val="000000"/>
                </a:solidFill>
              </a:rPr>
              <a:t>가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ko-KR" altLang="en-US" dirty="0">
                <a:solidFill>
                  <a:srgbClr val="000000"/>
                </a:solidFill>
              </a:rPr>
              <a:t>배송지까지의 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ko-KR" altLang="en-US" dirty="0">
                <a:solidFill>
                  <a:srgbClr val="000000"/>
                </a:solidFill>
              </a:rPr>
              <a:t>경로별 예측 시간 계산</a:t>
            </a:r>
          </a:p>
        </p:txBody>
      </p:sp>
      <p:cxnSp>
        <p:nvCxnSpPr>
          <p:cNvPr id="93" name="화살표 12">
            <a:extLst>
              <a:ext uri="{FF2B5EF4-FFF2-40B4-BE49-F238E27FC236}">
                <a16:creationId xmlns:a16="http://schemas.microsoft.com/office/drawing/2014/main" id="{1B1E467F-8A29-E2A2-A3EC-33D2FCCB3D8C}"/>
              </a:ext>
            </a:extLst>
          </p:cNvPr>
          <p:cNvCxnSpPr>
            <a:cxnSpLocks/>
            <a:stCxn id="21" idx="3"/>
            <a:endCxn id="11" idx="1"/>
          </p:cNvCxnSpPr>
          <p:nvPr/>
        </p:nvCxnSpPr>
        <p:spPr>
          <a:xfrm flipV="1">
            <a:off x="5728028" y="3298312"/>
            <a:ext cx="845936" cy="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화살표 12">
            <a:extLst>
              <a:ext uri="{FF2B5EF4-FFF2-40B4-BE49-F238E27FC236}">
                <a16:creationId xmlns:a16="http://schemas.microsoft.com/office/drawing/2014/main" id="{39790F2B-B39F-2523-29CE-1FC8D908B6EB}"/>
              </a:ext>
            </a:extLst>
          </p:cNvPr>
          <p:cNvCxnSpPr>
            <a:cxnSpLocks/>
            <a:stCxn id="11" idx="3"/>
            <a:endCxn id="12" idx="1"/>
          </p:cNvCxnSpPr>
          <p:nvPr/>
        </p:nvCxnSpPr>
        <p:spPr>
          <a:xfrm>
            <a:off x="8261538" y="3298312"/>
            <a:ext cx="770066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11556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DDED9C-A03C-CDA7-4415-B1144A65C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게임 소개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1C997EA9-4378-21C7-ADBE-D0A611CC26F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플로우 세부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7C45B6D-63B9-873F-DBE3-6DC7DABF0988}"/>
              </a:ext>
            </a:extLst>
          </p:cNvPr>
          <p:cNvSpPr/>
          <p:nvPr/>
        </p:nvSpPr>
        <p:spPr>
          <a:xfrm>
            <a:off x="2373422" y="1150976"/>
            <a:ext cx="1404937" cy="738187"/>
          </a:xfrm>
          <a:prstGeom prst="rect">
            <a:avLst/>
          </a:prstGeom>
          <a:solidFill>
            <a:schemeClr val="lt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배달 물품 결정됨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DCC1CAF-576E-1488-11D4-30F676842111}"/>
              </a:ext>
            </a:extLst>
          </p:cNvPr>
          <p:cNvSpPr/>
          <p:nvPr/>
        </p:nvSpPr>
        <p:spPr>
          <a:xfrm>
            <a:off x="4431785" y="1022125"/>
            <a:ext cx="1818245" cy="1009422"/>
          </a:xfrm>
          <a:prstGeom prst="rect">
            <a:avLst/>
          </a:prstGeom>
          <a:solidFill>
            <a:schemeClr val="l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>
                <a:solidFill>
                  <a:srgbClr val="000000"/>
                </a:solidFill>
              </a:rPr>
              <a:t>두 플레이어 중 누가 </a:t>
            </a:r>
            <a:r>
              <a:rPr lang="ko-KR" altLang="en-US" dirty="0">
                <a:solidFill>
                  <a:srgbClr val="000000"/>
                </a:solidFill>
              </a:rPr>
              <a:t>배달품을 </a:t>
            </a:r>
            <a:r>
              <a:rPr lang="ko-KR" altLang="en-US">
                <a:solidFill>
                  <a:srgbClr val="000000"/>
                </a:solidFill>
              </a:rPr>
              <a:t>운반할지 결정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A9FF80D-A8A7-69B1-1782-63B801C66AC9}"/>
              </a:ext>
            </a:extLst>
          </p:cNvPr>
          <p:cNvSpPr/>
          <p:nvPr/>
        </p:nvSpPr>
        <p:spPr>
          <a:xfrm>
            <a:off x="6768033" y="1066651"/>
            <a:ext cx="1495527" cy="920369"/>
          </a:xfrm>
          <a:prstGeom prst="rect">
            <a:avLst/>
          </a:prstGeom>
          <a:solidFill>
            <a:schemeClr val="l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배달품의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ko-KR" altLang="en-US" dirty="0">
                <a:solidFill>
                  <a:srgbClr val="000000"/>
                </a:solidFill>
              </a:rPr>
              <a:t>배송지 파악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BE7DC57-BC47-6584-EE22-F10C5A51640D}"/>
              </a:ext>
            </a:extLst>
          </p:cNvPr>
          <p:cNvSpPr/>
          <p:nvPr/>
        </p:nvSpPr>
        <p:spPr>
          <a:xfrm>
            <a:off x="1400683" y="2535546"/>
            <a:ext cx="1687574" cy="875190"/>
          </a:xfrm>
          <a:prstGeom prst="rect">
            <a:avLst/>
          </a:prstGeom>
          <a:solidFill>
            <a:schemeClr val="lt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협동하며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ko-KR" altLang="en-US" dirty="0">
                <a:solidFill>
                  <a:srgbClr val="000000"/>
                </a:solidFill>
              </a:rPr>
              <a:t>경로와 안내를 따라 진행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8CB9408-71A5-5E20-7103-632695B94B6B}"/>
              </a:ext>
            </a:extLst>
          </p:cNvPr>
          <p:cNvSpPr/>
          <p:nvPr/>
        </p:nvSpPr>
        <p:spPr>
          <a:xfrm>
            <a:off x="3753168" y="2326045"/>
            <a:ext cx="2074261" cy="857522"/>
          </a:xfrm>
          <a:prstGeom prst="rect">
            <a:avLst/>
          </a:prstGeom>
          <a:solidFill>
            <a:schemeClr val="lt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시간 안에 배달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ko-KR" altLang="en-US" dirty="0">
                <a:solidFill>
                  <a:srgbClr val="000000"/>
                </a:solidFill>
              </a:rPr>
              <a:t>성공 시 보수 지급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F46F548-1FCF-F79F-7E48-1C06AE818767}"/>
              </a:ext>
            </a:extLst>
          </p:cNvPr>
          <p:cNvSpPr/>
          <p:nvPr/>
        </p:nvSpPr>
        <p:spPr>
          <a:xfrm>
            <a:off x="3753168" y="3428667"/>
            <a:ext cx="2074261" cy="738187"/>
          </a:xfrm>
          <a:prstGeom prst="rect">
            <a:avLst/>
          </a:prstGeom>
          <a:solidFill>
            <a:schemeClr val="l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배달 시간 초과 시 </a:t>
            </a:r>
            <a:r>
              <a:rPr lang="ko-KR" altLang="en-US">
                <a:solidFill>
                  <a:srgbClr val="000000"/>
                </a:solidFill>
              </a:rPr>
              <a:t>보수 미지급</a:t>
            </a:r>
            <a:endParaRPr lang="en-US" altLang="ko-KR" dirty="0">
              <a:solidFill>
                <a:srgbClr val="000000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BD95DDE-1CB1-AA6F-72CB-36E1348A8E42}"/>
              </a:ext>
            </a:extLst>
          </p:cNvPr>
          <p:cNvSpPr/>
          <p:nvPr/>
        </p:nvSpPr>
        <p:spPr>
          <a:xfrm>
            <a:off x="5503543" y="5571286"/>
            <a:ext cx="1460848" cy="1017739"/>
          </a:xfrm>
          <a:prstGeom prst="rect">
            <a:avLst/>
          </a:prstGeom>
          <a:solidFill>
            <a:schemeClr val="l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충분한 보수 보유</a:t>
            </a:r>
          </a:p>
        </p:txBody>
      </p:sp>
      <p:cxnSp>
        <p:nvCxnSpPr>
          <p:cNvPr id="17" name="화살표 12">
            <a:extLst>
              <a:ext uri="{FF2B5EF4-FFF2-40B4-BE49-F238E27FC236}">
                <a16:creationId xmlns:a16="http://schemas.microsoft.com/office/drawing/2014/main" id="{946DD478-AFD6-6E16-7F4B-2B9634DE5BFA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>
            <a:off x="3778359" y="1520070"/>
            <a:ext cx="653426" cy="676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화살표 13">
            <a:extLst>
              <a:ext uri="{FF2B5EF4-FFF2-40B4-BE49-F238E27FC236}">
                <a16:creationId xmlns:a16="http://schemas.microsoft.com/office/drawing/2014/main" id="{7565030A-3172-2EDE-FAF6-A040EA22A7D4}"/>
              </a:ext>
            </a:extLst>
          </p:cNvPr>
          <p:cNvCxnSpPr>
            <a:cxnSpLocks/>
            <a:stCxn id="11" idx="3"/>
            <a:endCxn id="49" idx="1"/>
          </p:cNvCxnSpPr>
          <p:nvPr/>
        </p:nvCxnSpPr>
        <p:spPr>
          <a:xfrm>
            <a:off x="8263560" y="1526836"/>
            <a:ext cx="809864" cy="411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화살표 14">
            <a:extLst>
              <a:ext uri="{FF2B5EF4-FFF2-40B4-BE49-F238E27FC236}">
                <a16:creationId xmlns:a16="http://schemas.microsoft.com/office/drawing/2014/main" id="{D96781D8-0E33-6D94-0150-DFDF34A99B49}"/>
              </a:ext>
            </a:extLst>
          </p:cNvPr>
          <p:cNvCxnSpPr>
            <a:cxnSpLocks/>
            <a:stCxn id="10" idx="3"/>
            <a:endCxn id="11" idx="1"/>
          </p:cNvCxnSpPr>
          <p:nvPr/>
        </p:nvCxnSpPr>
        <p:spPr>
          <a:xfrm>
            <a:off x="6250030" y="1526836"/>
            <a:ext cx="518003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꺾인 양쪽 화살표 연결선 18">
            <a:extLst>
              <a:ext uri="{FF2B5EF4-FFF2-40B4-BE49-F238E27FC236}">
                <a16:creationId xmlns:a16="http://schemas.microsoft.com/office/drawing/2014/main" id="{E2B73A7F-A7CE-2433-6311-93E4F09C1B61}"/>
              </a:ext>
            </a:extLst>
          </p:cNvPr>
          <p:cNvCxnSpPr>
            <a:cxnSpLocks/>
            <a:stCxn id="13" idx="3"/>
            <a:endCxn id="231" idx="1"/>
          </p:cNvCxnSpPr>
          <p:nvPr/>
        </p:nvCxnSpPr>
        <p:spPr>
          <a:xfrm>
            <a:off x="5827429" y="2754806"/>
            <a:ext cx="777462" cy="322428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꺾인 양쪽 화살표 연결선 20">
            <a:extLst>
              <a:ext uri="{FF2B5EF4-FFF2-40B4-BE49-F238E27FC236}">
                <a16:creationId xmlns:a16="http://schemas.microsoft.com/office/drawing/2014/main" id="{3A2FF051-9A15-87BC-BE39-D8338AC29156}"/>
              </a:ext>
            </a:extLst>
          </p:cNvPr>
          <p:cNvCxnSpPr>
            <a:cxnSpLocks/>
            <a:stCxn id="14" idx="3"/>
            <a:endCxn id="231" idx="1"/>
          </p:cNvCxnSpPr>
          <p:nvPr/>
        </p:nvCxnSpPr>
        <p:spPr>
          <a:xfrm flipV="1">
            <a:off x="5827429" y="3077234"/>
            <a:ext cx="777462" cy="720527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83696255-9AC7-7098-E14E-B059CC6EB4FD}"/>
              </a:ext>
            </a:extLst>
          </p:cNvPr>
          <p:cNvSpPr/>
          <p:nvPr/>
        </p:nvSpPr>
        <p:spPr>
          <a:xfrm>
            <a:off x="5503543" y="4498615"/>
            <a:ext cx="1460849" cy="1017739"/>
          </a:xfrm>
          <a:prstGeom prst="rect">
            <a:avLst/>
          </a:prstGeom>
          <a:solidFill>
            <a:schemeClr val="l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충분한 보수 </a:t>
            </a:r>
            <a:r>
              <a:rPr lang="ko-KR" altLang="en-US" dirty="0" err="1">
                <a:solidFill>
                  <a:srgbClr val="000000"/>
                </a:solidFill>
              </a:rPr>
              <a:t>미보유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AAC0BD66-F6A8-D200-8A64-573B6FF1E851}"/>
              </a:ext>
            </a:extLst>
          </p:cNvPr>
          <p:cNvSpPr/>
          <p:nvPr/>
        </p:nvSpPr>
        <p:spPr>
          <a:xfrm>
            <a:off x="9073424" y="1070766"/>
            <a:ext cx="2091248" cy="920369"/>
          </a:xfrm>
          <a:prstGeom prst="rect">
            <a:avLst/>
          </a:prstGeom>
          <a:solidFill>
            <a:schemeClr val="lt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dirty="0">
                <a:solidFill>
                  <a:srgbClr val="000000"/>
                </a:solidFill>
              </a:rPr>
              <a:t>AI</a:t>
            </a:r>
            <a:r>
              <a:rPr lang="ko-KR" altLang="en-US" dirty="0">
                <a:solidFill>
                  <a:srgbClr val="000000"/>
                </a:solidFill>
              </a:rPr>
              <a:t>가 배송지까지의 경로별 예측 시간 계산</a:t>
            </a:r>
          </a:p>
        </p:txBody>
      </p:sp>
      <p:cxnSp>
        <p:nvCxnSpPr>
          <p:cNvPr id="52" name="화살표 12">
            <a:extLst>
              <a:ext uri="{FF2B5EF4-FFF2-40B4-BE49-F238E27FC236}">
                <a16:creationId xmlns:a16="http://schemas.microsoft.com/office/drawing/2014/main" id="{0C443044-ADF4-1AD6-57BB-DB3D06E23E23}"/>
              </a:ext>
            </a:extLst>
          </p:cNvPr>
          <p:cNvCxnSpPr>
            <a:cxnSpLocks/>
            <a:stCxn id="185" idx="3"/>
            <a:endCxn id="9" idx="1"/>
          </p:cNvCxnSpPr>
          <p:nvPr/>
        </p:nvCxnSpPr>
        <p:spPr>
          <a:xfrm flipV="1">
            <a:off x="1855419" y="1520070"/>
            <a:ext cx="518003" cy="720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꺾인 양쪽 화살표 연결선 20">
            <a:extLst>
              <a:ext uri="{FF2B5EF4-FFF2-40B4-BE49-F238E27FC236}">
                <a16:creationId xmlns:a16="http://schemas.microsoft.com/office/drawing/2014/main" id="{5050FD88-7B39-90B7-1FCA-E14B9FC079A0}"/>
              </a:ext>
            </a:extLst>
          </p:cNvPr>
          <p:cNvCxnSpPr>
            <a:cxnSpLocks/>
            <a:stCxn id="49" idx="3"/>
            <a:endCxn id="12" idx="1"/>
          </p:cNvCxnSpPr>
          <p:nvPr/>
        </p:nvCxnSpPr>
        <p:spPr>
          <a:xfrm flipH="1">
            <a:off x="1400683" y="1530951"/>
            <a:ext cx="9763989" cy="1442190"/>
          </a:xfrm>
          <a:prstGeom prst="bentConnector5">
            <a:avLst>
              <a:gd name="adj1" fmla="val -2341"/>
              <a:gd name="adj2" fmla="val 50783"/>
              <a:gd name="adj3" fmla="val 102341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꺾인 양쪽 화살표 연결선 18">
            <a:extLst>
              <a:ext uri="{FF2B5EF4-FFF2-40B4-BE49-F238E27FC236}">
                <a16:creationId xmlns:a16="http://schemas.microsoft.com/office/drawing/2014/main" id="{E527CE0B-EFFE-FD35-729A-032C4A73E926}"/>
              </a:ext>
            </a:extLst>
          </p:cNvPr>
          <p:cNvCxnSpPr>
            <a:cxnSpLocks/>
            <a:stCxn id="12" idx="3"/>
            <a:endCxn id="13" idx="1"/>
          </p:cNvCxnSpPr>
          <p:nvPr/>
        </p:nvCxnSpPr>
        <p:spPr>
          <a:xfrm flipV="1">
            <a:off x="3088257" y="2754806"/>
            <a:ext cx="664911" cy="218335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꺾인 양쪽 화살표 연결선 18">
            <a:extLst>
              <a:ext uri="{FF2B5EF4-FFF2-40B4-BE49-F238E27FC236}">
                <a16:creationId xmlns:a16="http://schemas.microsoft.com/office/drawing/2014/main" id="{B6D72026-6FB4-1B73-F158-711B6BFF2CBC}"/>
              </a:ext>
            </a:extLst>
          </p:cNvPr>
          <p:cNvCxnSpPr>
            <a:cxnSpLocks/>
            <a:stCxn id="12" idx="3"/>
            <a:endCxn id="14" idx="1"/>
          </p:cNvCxnSpPr>
          <p:nvPr/>
        </p:nvCxnSpPr>
        <p:spPr>
          <a:xfrm>
            <a:off x="3088257" y="2973141"/>
            <a:ext cx="664911" cy="82462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꺾인 양쪽 화살표 연결선 20">
            <a:extLst>
              <a:ext uri="{FF2B5EF4-FFF2-40B4-BE49-F238E27FC236}">
                <a16:creationId xmlns:a16="http://schemas.microsoft.com/office/drawing/2014/main" id="{A8F461C8-7C7F-1922-87C5-FDE6AADA274B}"/>
              </a:ext>
            </a:extLst>
          </p:cNvPr>
          <p:cNvCxnSpPr>
            <a:cxnSpLocks/>
            <a:stCxn id="218" idx="3"/>
            <a:endCxn id="25" idx="1"/>
          </p:cNvCxnSpPr>
          <p:nvPr/>
        </p:nvCxnSpPr>
        <p:spPr>
          <a:xfrm flipV="1">
            <a:off x="5258942" y="5007485"/>
            <a:ext cx="244601" cy="479227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꺾인 양쪽 화살표 연결선 20">
            <a:extLst>
              <a:ext uri="{FF2B5EF4-FFF2-40B4-BE49-F238E27FC236}">
                <a16:creationId xmlns:a16="http://schemas.microsoft.com/office/drawing/2014/main" id="{717B3273-3A06-5D28-939E-C1E05316F045}"/>
              </a:ext>
            </a:extLst>
          </p:cNvPr>
          <p:cNvCxnSpPr>
            <a:cxnSpLocks/>
            <a:stCxn id="218" idx="3"/>
            <a:endCxn id="16" idx="1"/>
          </p:cNvCxnSpPr>
          <p:nvPr/>
        </p:nvCxnSpPr>
        <p:spPr>
          <a:xfrm>
            <a:off x="5258942" y="5486712"/>
            <a:ext cx="244601" cy="593444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꺾인 양쪽 화살표 연결선 20">
            <a:extLst>
              <a:ext uri="{FF2B5EF4-FFF2-40B4-BE49-F238E27FC236}">
                <a16:creationId xmlns:a16="http://schemas.microsoft.com/office/drawing/2014/main" id="{1A4AA5AA-9DC4-0634-4FF2-F18D2DE18CD2}"/>
              </a:ext>
            </a:extLst>
          </p:cNvPr>
          <p:cNvCxnSpPr>
            <a:cxnSpLocks/>
            <a:stCxn id="231" idx="3"/>
            <a:endCxn id="218" idx="1"/>
          </p:cNvCxnSpPr>
          <p:nvPr/>
        </p:nvCxnSpPr>
        <p:spPr>
          <a:xfrm flipH="1">
            <a:off x="3154788" y="3077234"/>
            <a:ext cx="5399553" cy="2409478"/>
          </a:xfrm>
          <a:prstGeom prst="bentConnector5">
            <a:avLst>
              <a:gd name="adj1" fmla="val -4234"/>
              <a:gd name="adj2" fmla="val 52266"/>
              <a:gd name="adj3" fmla="val 104234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화살표 14">
            <a:extLst>
              <a:ext uri="{FF2B5EF4-FFF2-40B4-BE49-F238E27FC236}">
                <a16:creationId xmlns:a16="http://schemas.microsoft.com/office/drawing/2014/main" id="{EA7D0152-A2F7-948A-192D-6E87224D83E0}"/>
              </a:ext>
            </a:extLst>
          </p:cNvPr>
          <p:cNvCxnSpPr>
            <a:cxnSpLocks/>
            <a:stCxn id="25" idx="3"/>
            <a:endCxn id="207" idx="1"/>
          </p:cNvCxnSpPr>
          <p:nvPr/>
        </p:nvCxnSpPr>
        <p:spPr>
          <a:xfrm flipV="1">
            <a:off x="6964392" y="5007484"/>
            <a:ext cx="547805" cy="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화살표 14">
            <a:extLst>
              <a:ext uri="{FF2B5EF4-FFF2-40B4-BE49-F238E27FC236}">
                <a16:creationId xmlns:a16="http://schemas.microsoft.com/office/drawing/2014/main" id="{608F9B70-EB20-B4DA-62CF-55A033638183}"/>
              </a:ext>
            </a:extLst>
          </p:cNvPr>
          <p:cNvCxnSpPr>
            <a:cxnSpLocks/>
            <a:stCxn id="16" idx="3"/>
            <a:endCxn id="212" idx="1"/>
          </p:cNvCxnSpPr>
          <p:nvPr/>
        </p:nvCxnSpPr>
        <p:spPr>
          <a:xfrm flipV="1">
            <a:off x="6964391" y="6080155"/>
            <a:ext cx="547806" cy="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사각형: 둥근 모서리 184">
            <a:extLst>
              <a:ext uri="{FF2B5EF4-FFF2-40B4-BE49-F238E27FC236}">
                <a16:creationId xmlns:a16="http://schemas.microsoft.com/office/drawing/2014/main" id="{8C36E804-7C2C-F33A-08DD-E2370734D9B0}"/>
              </a:ext>
            </a:extLst>
          </p:cNvPr>
          <p:cNvSpPr/>
          <p:nvPr/>
        </p:nvSpPr>
        <p:spPr>
          <a:xfrm>
            <a:off x="429839" y="1148366"/>
            <a:ext cx="1425580" cy="75781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ko-KR" altLang="en-US">
                <a:solidFill>
                  <a:srgbClr val="000000"/>
                </a:solidFill>
              </a:rPr>
              <a:t>플레이어</a:t>
            </a:r>
            <a:br>
              <a:rPr lang="en-US" altLang="ko-KR">
                <a:solidFill>
                  <a:srgbClr val="000000"/>
                </a:solidFill>
              </a:rPr>
            </a:br>
            <a:r>
              <a:rPr lang="en-US" altLang="ko-KR">
                <a:solidFill>
                  <a:srgbClr val="000000"/>
                </a:solidFill>
              </a:rPr>
              <a:t>2</a:t>
            </a:r>
            <a:r>
              <a:rPr lang="ko-KR" altLang="en-US">
                <a:solidFill>
                  <a:srgbClr val="000000"/>
                </a:solidFill>
              </a:rPr>
              <a:t>인 접속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207" name="사각형: 둥근 모서리 206">
            <a:extLst>
              <a:ext uri="{FF2B5EF4-FFF2-40B4-BE49-F238E27FC236}">
                <a16:creationId xmlns:a16="http://schemas.microsoft.com/office/drawing/2014/main" id="{4A94AE49-04F1-8AA2-6634-923DED43A1EE}"/>
              </a:ext>
            </a:extLst>
          </p:cNvPr>
          <p:cNvSpPr/>
          <p:nvPr/>
        </p:nvSpPr>
        <p:spPr>
          <a:xfrm>
            <a:off x="7512197" y="4624518"/>
            <a:ext cx="1501630" cy="76593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생태계 파괴 엔딩</a:t>
            </a:r>
          </a:p>
        </p:txBody>
      </p:sp>
      <p:sp>
        <p:nvSpPr>
          <p:cNvPr id="212" name="사각형: 둥근 모서리 211">
            <a:extLst>
              <a:ext uri="{FF2B5EF4-FFF2-40B4-BE49-F238E27FC236}">
                <a16:creationId xmlns:a16="http://schemas.microsoft.com/office/drawing/2014/main" id="{67890A33-FA56-B7B1-F425-056DB749BC06}"/>
              </a:ext>
            </a:extLst>
          </p:cNvPr>
          <p:cNvSpPr/>
          <p:nvPr/>
        </p:nvSpPr>
        <p:spPr>
          <a:xfrm>
            <a:off x="7512197" y="5697189"/>
            <a:ext cx="1501630" cy="76593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생태계 복구 엔딩</a:t>
            </a:r>
          </a:p>
        </p:txBody>
      </p:sp>
      <p:sp>
        <p:nvSpPr>
          <p:cNvPr id="218" name="사각형: 둥근 모서리 217">
            <a:extLst>
              <a:ext uri="{FF2B5EF4-FFF2-40B4-BE49-F238E27FC236}">
                <a16:creationId xmlns:a16="http://schemas.microsoft.com/office/drawing/2014/main" id="{34B48A11-9583-38BC-9FC2-C3562B4A0A4D}"/>
              </a:ext>
            </a:extLst>
          </p:cNvPr>
          <p:cNvSpPr/>
          <p:nvPr/>
        </p:nvSpPr>
        <p:spPr>
          <a:xfrm>
            <a:off x="3154788" y="5103746"/>
            <a:ext cx="2104154" cy="76593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지정된 모든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ko-KR" altLang="en-US" dirty="0" err="1">
                <a:solidFill>
                  <a:srgbClr val="000000"/>
                </a:solidFill>
              </a:rPr>
              <a:t>배달품</a:t>
            </a:r>
            <a:r>
              <a:rPr lang="ko-KR" altLang="en-US" dirty="0">
                <a:solidFill>
                  <a:srgbClr val="000000"/>
                </a:solidFill>
              </a:rPr>
              <a:t> 배달 완료</a:t>
            </a:r>
          </a:p>
        </p:txBody>
      </p:sp>
      <p:sp>
        <p:nvSpPr>
          <p:cNvPr id="231" name="순서도: 천공 테이프 230">
            <a:extLst>
              <a:ext uri="{FF2B5EF4-FFF2-40B4-BE49-F238E27FC236}">
                <a16:creationId xmlns:a16="http://schemas.microsoft.com/office/drawing/2014/main" id="{EC25D784-F19A-1ED0-EC94-F1376817D020}"/>
              </a:ext>
            </a:extLst>
          </p:cNvPr>
          <p:cNvSpPr/>
          <p:nvPr/>
        </p:nvSpPr>
        <p:spPr>
          <a:xfrm>
            <a:off x="6604891" y="2585083"/>
            <a:ext cx="1949450" cy="984302"/>
          </a:xfrm>
          <a:prstGeom prst="flowChartPunchedTap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다른 배달품들도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ko-KR" altLang="en-US" dirty="0">
                <a:solidFill>
                  <a:srgbClr val="000000"/>
                </a:solidFill>
              </a:rPr>
              <a:t>동일하게 진행</a:t>
            </a:r>
          </a:p>
        </p:txBody>
      </p:sp>
      <p:sp>
        <p:nvSpPr>
          <p:cNvPr id="239" name="사각형: 둥근 모서리 238">
            <a:extLst>
              <a:ext uri="{FF2B5EF4-FFF2-40B4-BE49-F238E27FC236}">
                <a16:creationId xmlns:a16="http://schemas.microsoft.com/office/drawing/2014/main" id="{FFD3E3DD-10B3-9E30-A0FC-53457BA7D122}"/>
              </a:ext>
            </a:extLst>
          </p:cNvPr>
          <p:cNvSpPr/>
          <p:nvPr/>
        </p:nvSpPr>
        <p:spPr>
          <a:xfrm>
            <a:off x="10119048" y="4825401"/>
            <a:ext cx="1714353" cy="765932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ko-KR" altLang="en-US" dirty="0">
                <a:solidFill>
                  <a:srgbClr val="000000"/>
                </a:solidFill>
              </a:rPr>
              <a:t>특정 플로우의 </a:t>
            </a:r>
            <a:r>
              <a:rPr lang="ko-KR" altLang="en-US">
                <a:solidFill>
                  <a:srgbClr val="000000"/>
                </a:solidFill>
              </a:rPr>
              <a:t>시작</a:t>
            </a:r>
            <a:r>
              <a:rPr lang="en-US" altLang="ko-KR" dirty="0">
                <a:solidFill>
                  <a:srgbClr val="000000"/>
                </a:solidFill>
              </a:rPr>
              <a:t>/</a:t>
            </a:r>
            <a:r>
              <a:rPr lang="ko-KR" altLang="en-US" dirty="0">
                <a:solidFill>
                  <a:srgbClr val="000000"/>
                </a:solidFill>
              </a:rPr>
              <a:t>끝</a:t>
            </a:r>
          </a:p>
        </p:txBody>
      </p:sp>
      <p:sp>
        <p:nvSpPr>
          <p:cNvPr id="241" name="순서도: 천공 테이프 240">
            <a:extLst>
              <a:ext uri="{FF2B5EF4-FFF2-40B4-BE49-F238E27FC236}">
                <a16:creationId xmlns:a16="http://schemas.microsoft.com/office/drawing/2014/main" id="{5DF6D138-F63A-80A7-A5E5-C3F4B88289F5}"/>
              </a:ext>
            </a:extLst>
          </p:cNvPr>
          <p:cNvSpPr/>
          <p:nvPr/>
        </p:nvSpPr>
        <p:spPr>
          <a:xfrm>
            <a:off x="10119048" y="5659696"/>
            <a:ext cx="1764061" cy="868959"/>
          </a:xfrm>
          <a:prstGeom prst="flowChartPunchedTap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ko-KR" altLang="en-US">
                <a:solidFill>
                  <a:srgbClr val="000000"/>
                </a:solidFill>
              </a:rPr>
              <a:t>플로우 진행 중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C7793AA-61E5-CDC5-80A7-3D74CA653B71}"/>
              </a:ext>
            </a:extLst>
          </p:cNvPr>
          <p:cNvSpPr/>
          <p:nvPr/>
        </p:nvSpPr>
        <p:spPr>
          <a:xfrm>
            <a:off x="9879106" y="4624518"/>
            <a:ext cx="2312894" cy="2233482"/>
          </a:xfrm>
          <a:prstGeom prst="rect">
            <a:avLst/>
          </a:prstGeom>
          <a:noFill/>
          <a:ln w="190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34493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8F810B-8A0E-AB8E-012B-5A3B3929B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게임 소개</a:t>
            </a:r>
          </a:p>
        </p:txBody>
      </p:sp>
      <p:pic>
        <p:nvPicPr>
          <p:cNvPr id="9" name="내용 개체 틀 8">
            <a:extLst>
              <a:ext uri="{FF2B5EF4-FFF2-40B4-BE49-F238E27FC236}">
                <a16:creationId xmlns:a16="http://schemas.microsoft.com/office/drawing/2014/main" id="{F5A7B401-3726-3058-8321-23D9614CDA6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1982488"/>
            <a:ext cx="5181600" cy="3370502"/>
          </a:xfrm>
          <a:prstGeom prst="rect">
            <a:avLst/>
          </a:prstGeom>
        </p:spPr>
      </p:pic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2458BC6-D69C-A1A2-A6B1-13DF8BEF776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ko-KR" altLang="en-US" dirty="0"/>
              <a:t> 당신들은 자부심 넘치는 </a:t>
            </a:r>
            <a:br>
              <a:rPr lang="en-US" altLang="ko-KR" dirty="0"/>
            </a:br>
            <a:r>
              <a:rPr lang="ko-KR" altLang="en-US" dirty="0"/>
              <a:t>우주배달부입니다</a:t>
            </a:r>
            <a:r>
              <a:rPr lang="en-US" altLang="ko-KR" dirty="0"/>
              <a:t>!</a:t>
            </a:r>
            <a:r>
              <a:rPr lang="ko-KR" altLang="en-US" dirty="0"/>
              <a:t> </a:t>
            </a:r>
            <a:br>
              <a:rPr lang="en-US" altLang="ko-KR" dirty="0"/>
            </a:br>
            <a:r>
              <a:rPr lang="ko-KR" altLang="en-US" dirty="0"/>
              <a:t>오늘은 이 행성에 배달을 왔군요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그런데 이런</a:t>
            </a:r>
            <a:r>
              <a:rPr lang="en-US" altLang="ko-KR" dirty="0"/>
              <a:t>!</a:t>
            </a:r>
            <a:r>
              <a:rPr lang="ko-KR" altLang="en-US" dirty="0"/>
              <a:t> </a:t>
            </a:r>
            <a:br>
              <a:rPr lang="en-US" altLang="ko-KR" dirty="0"/>
            </a:br>
            <a:r>
              <a:rPr lang="ko-KR" altLang="en-US" dirty="0"/>
              <a:t>여러분의 배달 품목에는 조금</a:t>
            </a:r>
            <a:br>
              <a:rPr lang="en-US" altLang="ko-KR" dirty="0"/>
            </a:br>
            <a:r>
              <a:rPr lang="en-US" altLang="ko-KR" dirty="0"/>
              <a:t>“</a:t>
            </a:r>
            <a:r>
              <a:rPr lang="ko-KR" altLang="en-US" dirty="0"/>
              <a:t>위험한</a:t>
            </a:r>
            <a:r>
              <a:rPr lang="en-US" altLang="ko-KR" dirty="0"/>
              <a:t>”</a:t>
            </a:r>
            <a:r>
              <a:rPr lang="ko-KR" altLang="en-US" dirty="0"/>
              <a:t>것들이 있네요</a:t>
            </a:r>
            <a:r>
              <a:rPr lang="en-US" altLang="ko-KR" dirty="0"/>
              <a:t>…</a:t>
            </a:r>
            <a:r>
              <a:rPr lang="ko-KR" altLang="en-US" dirty="0"/>
              <a:t> </a:t>
            </a:r>
            <a:br>
              <a:rPr lang="en-US" altLang="ko-KR" dirty="0"/>
            </a:br>
            <a:r>
              <a:rPr lang="ko-KR" altLang="en-US" dirty="0"/>
              <a:t>하지만 걱정할 것 없죠</a:t>
            </a:r>
            <a:r>
              <a:rPr lang="en-US" altLang="ko-KR" dirty="0"/>
              <a:t>!</a:t>
            </a:r>
            <a:br>
              <a:rPr lang="en-US" altLang="ko-KR" dirty="0"/>
            </a:br>
            <a:r>
              <a:rPr lang="ko-KR" altLang="en-US" dirty="0"/>
              <a:t>여러분은 전문 </a:t>
            </a:r>
            <a:r>
              <a:rPr lang="ko-KR" altLang="en-US" dirty="0" err="1"/>
              <a:t>배달부니까요</a:t>
            </a:r>
            <a:r>
              <a:rPr lang="en-US" altLang="ko-KR" dirty="0"/>
              <a:t>!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 과연 오늘도 제한 시간 안에 모든 배달을 마치고 귀환할 수 있을까요</a:t>
            </a:r>
            <a:r>
              <a:rPr lang="en-US" altLang="ko-KR" dirty="0"/>
              <a:t>?</a:t>
            </a:r>
          </a:p>
          <a:p>
            <a:pPr marL="0" indent="0">
              <a:lnSpc>
                <a:spcPct val="110000"/>
              </a:lnSpc>
              <a:buNone/>
            </a:pPr>
            <a:endParaRPr lang="ko-KR" altLang="en-US" dirty="0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3AEE668E-625C-3F6B-736B-BACF027D5AA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스토리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ACDC9D-F3E2-685F-9CA3-3259AAF33DA1}"/>
              </a:ext>
            </a:extLst>
          </p:cNvPr>
          <p:cNvSpPr txBox="1"/>
          <p:nvPr/>
        </p:nvSpPr>
        <p:spPr>
          <a:xfrm>
            <a:off x="838199" y="5352990"/>
            <a:ext cx="29746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자료</a:t>
            </a:r>
            <a:r>
              <a:rPr lang="en-US" altLang="ko-KR" sz="1200" dirty="0"/>
              <a:t>1[</a:t>
            </a:r>
            <a:r>
              <a:rPr lang="ko-KR" altLang="en-US" sz="1200" dirty="0"/>
              <a:t>게임</a:t>
            </a:r>
            <a:r>
              <a:rPr lang="en-US" altLang="ko-KR" sz="1200" dirty="0"/>
              <a:t>”run pizza run”</a:t>
            </a:r>
            <a:r>
              <a:rPr lang="ko-KR" altLang="en-US" sz="1200" dirty="0"/>
              <a:t> 플레이화면</a:t>
            </a:r>
            <a:r>
              <a:rPr lang="en-US" altLang="ko-KR" sz="1200" dirty="0"/>
              <a:t>]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9016438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D84C53-07B8-6679-DC10-6C00A5522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게임 소개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9B0374B-6FAE-FA61-D8E3-AC2B7B24D0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225176"/>
            <a:ext cx="5392271" cy="4951787"/>
          </a:xfrm>
        </p:spPr>
        <p:txBody>
          <a:bodyPr anchor="ctr">
            <a:normAutofit/>
          </a:bodyPr>
          <a:lstStyle/>
          <a:p>
            <a:pPr>
              <a:spcBef>
                <a:spcPts val="0"/>
              </a:spcBef>
              <a:defRPr/>
            </a:pPr>
            <a:r>
              <a:rPr lang="en-US" altLang="ko-KR" dirty="0">
                <a:solidFill>
                  <a:srgbClr val="000000"/>
                </a:solidFill>
              </a:rPr>
              <a:t>2</a:t>
            </a:r>
            <a:r>
              <a:rPr lang="ko-KR" altLang="en-US" dirty="0">
                <a:solidFill>
                  <a:srgbClr val="000000"/>
                </a:solidFill>
              </a:rPr>
              <a:t>인의 플레이어가 협동하여 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ko-KR" altLang="en-US" dirty="0">
                <a:solidFill>
                  <a:srgbClr val="000000"/>
                </a:solidFill>
              </a:rPr>
              <a:t>한 명은 배달품을</a:t>
            </a:r>
            <a:r>
              <a:rPr lang="en-US" altLang="ko-KR" dirty="0">
                <a:solidFill>
                  <a:srgbClr val="000000"/>
                </a:solidFill>
              </a:rPr>
              <a:t>, </a:t>
            </a:r>
            <a:r>
              <a:rPr lang="ko-KR" altLang="en-US" dirty="0">
                <a:solidFill>
                  <a:srgbClr val="000000"/>
                </a:solidFill>
              </a:rPr>
              <a:t>다른 한 명은 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ko-KR" altLang="en-US" dirty="0">
                <a:solidFill>
                  <a:srgbClr val="000000"/>
                </a:solidFill>
              </a:rPr>
              <a:t>총으로 방해를 헤쳐 나가며 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ko-KR" altLang="en-US" dirty="0">
                <a:solidFill>
                  <a:srgbClr val="000000"/>
                </a:solidFill>
              </a:rPr>
              <a:t>제한 시간 안에 배달을 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ko-KR" altLang="en-US" dirty="0">
                <a:solidFill>
                  <a:srgbClr val="000000"/>
                </a:solidFill>
              </a:rPr>
              <a:t>완료하는 것이 목표</a:t>
            </a:r>
            <a:endParaRPr lang="en-US" altLang="ko-KR" dirty="0">
              <a:solidFill>
                <a:srgbClr val="000000"/>
              </a:solidFill>
            </a:endParaRPr>
          </a:p>
          <a:p>
            <a:pPr>
              <a:spcBef>
                <a:spcPts val="0"/>
              </a:spcBef>
              <a:defRPr/>
            </a:pPr>
            <a:endParaRPr lang="en-US" altLang="ko-KR" dirty="0">
              <a:solidFill>
                <a:srgbClr val="000000"/>
              </a:solidFill>
            </a:endParaRPr>
          </a:p>
          <a:p>
            <a:pPr>
              <a:spcBef>
                <a:spcPts val="0"/>
              </a:spcBef>
              <a:defRPr/>
            </a:pPr>
            <a:r>
              <a:rPr lang="ko-KR" altLang="en-US" dirty="0">
                <a:solidFill>
                  <a:srgbClr val="000000"/>
                </a:solidFill>
              </a:rPr>
              <a:t>배달길에는 여러 방해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en-US" altLang="ko-KR" dirty="0">
                <a:solidFill>
                  <a:srgbClr val="000000"/>
                </a:solidFill>
              </a:rPr>
              <a:t>(</a:t>
            </a:r>
            <a:r>
              <a:rPr lang="ko-KR" altLang="en-US" dirty="0">
                <a:solidFill>
                  <a:srgbClr val="000000"/>
                </a:solidFill>
              </a:rPr>
              <a:t>지형</a:t>
            </a:r>
            <a:r>
              <a:rPr lang="en-US" altLang="ko-KR" dirty="0">
                <a:solidFill>
                  <a:srgbClr val="000000"/>
                </a:solidFill>
              </a:rPr>
              <a:t>, </a:t>
            </a:r>
            <a:r>
              <a:rPr lang="ko-KR" altLang="en-US" dirty="0">
                <a:solidFill>
                  <a:srgbClr val="000000"/>
                </a:solidFill>
              </a:rPr>
              <a:t>몬스터</a:t>
            </a:r>
            <a:r>
              <a:rPr lang="en-US" altLang="ko-KR" dirty="0">
                <a:solidFill>
                  <a:srgbClr val="000000"/>
                </a:solidFill>
              </a:rPr>
              <a:t>, </a:t>
            </a:r>
            <a:r>
              <a:rPr lang="ko-KR" altLang="en-US" dirty="0">
                <a:solidFill>
                  <a:srgbClr val="000000"/>
                </a:solidFill>
              </a:rPr>
              <a:t>배달품에 영향을 받은 생물들</a:t>
            </a:r>
            <a:r>
              <a:rPr lang="en-US" altLang="ko-KR" dirty="0">
                <a:solidFill>
                  <a:srgbClr val="000000"/>
                </a:solidFill>
              </a:rPr>
              <a:t>)</a:t>
            </a:r>
            <a:r>
              <a:rPr lang="ko-KR" altLang="en-US" dirty="0">
                <a:solidFill>
                  <a:srgbClr val="000000"/>
                </a:solidFill>
              </a:rPr>
              <a:t>가 존재하므로 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ko-KR" altLang="en-US" dirty="0">
                <a:solidFill>
                  <a:srgbClr val="000000"/>
                </a:solidFill>
              </a:rPr>
              <a:t>그것을 피해가거나 처치 </a:t>
            </a:r>
            <a:br>
              <a:rPr lang="en-US" altLang="ko-KR" dirty="0">
                <a:solidFill>
                  <a:srgbClr val="000000"/>
                </a:solidFill>
              </a:rPr>
            </a:br>
            <a:r>
              <a:rPr lang="ko-KR" altLang="en-US" dirty="0">
                <a:solidFill>
                  <a:srgbClr val="000000"/>
                </a:solidFill>
              </a:rPr>
              <a:t>혹은 저지하며 진행</a:t>
            </a:r>
            <a:endParaRPr lang="en-US" altLang="ko-KR" dirty="0">
              <a:solidFill>
                <a:srgbClr val="000000"/>
              </a:solidFill>
            </a:endParaRP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F0B756CC-EB09-0D4A-FA36-39C407DF496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분위기와 참고 게임</a:t>
            </a:r>
          </a:p>
        </p:txBody>
      </p:sp>
      <p:pic>
        <p:nvPicPr>
          <p:cNvPr id="10" name="내용 개체 틀 9">
            <a:extLst>
              <a:ext uri="{FF2B5EF4-FFF2-40B4-BE49-F238E27FC236}">
                <a16:creationId xmlns:a16="http://schemas.microsoft.com/office/drawing/2014/main" id="{0C2B9DFD-FB46-8300-B9CD-36A580B70E0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68" r="9371"/>
          <a:stretch>
            <a:fillRect/>
          </a:stretch>
        </p:blipFill>
        <p:spPr>
          <a:xfrm>
            <a:off x="838200" y="3381190"/>
            <a:ext cx="5179418" cy="292735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12F2AD41-60DE-C637-9129-BFD46C7F85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22" r="8922"/>
          <a:stretch>
            <a:fillRect/>
          </a:stretch>
        </p:blipFill>
        <p:spPr>
          <a:xfrm>
            <a:off x="838200" y="936295"/>
            <a:ext cx="5179418" cy="290967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38AC2F7-4018-2606-08C5-967D7C750E5D}"/>
              </a:ext>
            </a:extLst>
          </p:cNvPr>
          <p:cNvSpPr txBox="1"/>
          <p:nvPr/>
        </p:nvSpPr>
        <p:spPr>
          <a:xfrm>
            <a:off x="838200" y="6308540"/>
            <a:ext cx="57897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[</a:t>
            </a:r>
            <a:r>
              <a:rPr lang="ko-KR" altLang="en-US" sz="1400" dirty="0"/>
              <a:t>자료</a:t>
            </a:r>
            <a:r>
              <a:rPr lang="en-US" altLang="ko-KR" sz="1400" dirty="0"/>
              <a:t>2] Totally Reliable Delivery Service </a:t>
            </a:r>
            <a:r>
              <a:rPr lang="ko-KR" altLang="en-US" sz="1400" dirty="0"/>
              <a:t>플레이 화면</a:t>
            </a:r>
          </a:p>
        </p:txBody>
      </p:sp>
    </p:spTree>
    <p:extLst>
      <p:ext uri="{BB962C8B-B14F-4D97-AF65-F5344CB8AC3E}">
        <p14:creationId xmlns:p14="http://schemas.microsoft.com/office/powerpoint/2010/main" val="23047514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12A0AE-013B-0040-AB6F-5E3563231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게임 소개</a:t>
            </a:r>
          </a:p>
        </p:txBody>
      </p:sp>
      <p:pic>
        <p:nvPicPr>
          <p:cNvPr id="9" name="내용 개체 틀 8">
            <a:extLst>
              <a:ext uri="{FF2B5EF4-FFF2-40B4-BE49-F238E27FC236}">
                <a16:creationId xmlns:a16="http://schemas.microsoft.com/office/drawing/2014/main" id="{FB161191-5F06-C036-63E5-746F9D21D88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28" r="20559"/>
          <a:stretch>
            <a:fillRect/>
          </a:stretch>
        </p:blipFill>
        <p:spPr>
          <a:xfrm>
            <a:off x="838200" y="2183471"/>
            <a:ext cx="5020395" cy="3457711"/>
          </a:xfrm>
          <a:prstGeom prst="rect">
            <a:avLst/>
          </a:prstGeom>
        </p:spPr>
      </p:pic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48F167D-D570-0907-EB2A-FB6FDCC98DA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경로를 알려주고</a:t>
            </a:r>
            <a:r>
              <a:rPr lang="en-US" altLang="ko-KR" dirty="0"/>
              <a:t> </a:t>
            </a:r>
            <a:r>
              <a:rPr lang="ko-KR" altLang="en-US" dirty="0"/>
              <a:t>배달시간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배달 예상 시간을 실시간으로 알려주는 도우미 </a:t>
            </a:r>
            <a:r>
              <a:rPr lang="en-US" altLang="ko-KR" dirty="0"/>
              <a:t>AI</a:t>
            </a:r>
            <a:r>
              <a:rPr lang="ko-KR" altLang="en-US" dirty="0"/>
              <a:t>가 </a:t>
            </a:r>
            <a:br>
              <a:rPr lang="en-US" altLang="ko-KR" dirty="0"/>
            </a:br>
            <a:r>
              <a:rPr lang="ko-KR" altLang="en-US" dirty="0"/>
              <a:t>플레이어의 화면 가시화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도우미 </a:t>
            </a:r>
            <a:r>
              <a:rPr lang="en-US" altLang="ko-KR" dirty="0"/>
              <a:t>AI</a:t>
            </a:r>
            <a:r>
              <a:rPr lang="ko-KR" altLang="en-US" dirty="0"/>
              <a:t>의 안내를 보고</a:t>
            </a:r>
            <a:br>
              <a:rPr lang="en-US" altLang="ko-KR" dirty="0"/>
            </a:br>
            <a:r>
              <a:rPr lang="en-US" altLang="ko-KR" dirty="0"/>
              <a:t>2</a:t>
            </a:r>
            <a:r>
              <a:rPr lang="ko-KR" altLang="en-US" dirty="0"/>
              <a:t>명의 플레이어는 서로 </a:t>
            </a:r>
            <a:br>
              <a:rPr lang="en-US" altLang="ko-KR" dirty="0"/>
            </a:br>
            <a:r>
              <a:rPr lang="ko-KR" altLang="en-US" dirty="0"/>
              <a:t>상의하고 경로를 정해 </a:t>
            </a:r>
            <a:br>
              <a:rPr lang="en-US" altLang="ko-KR" dirty="0"/>
            </a:br>
            <a:r>
              <a:rPr lang="ko-KR" altLang="en-US" dirty="0"/>
              <a:t>협동하며 목적지까지 도달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950CBACE-30A8-6D5D-580E-0382A48C845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도우미 </a:t>
            </a:r>
            <a:r>
              <a:rPr lang="en-US" altLang="ko-KR" dirty="0"/>
              <a:t>AI </a:t>
            </a:r>
            <a:r>
              <a:rPr lang="ko-KR" altLang="en-US" dirty="0"/>
              <a:t>참고 프리뷰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E6E359D-1041-3523-CFE9-5E70C9B34F58}"/>
              </a:ext>
            </a:extLst>
          </p:cNvPr>
          <p:cNvSpPr/>
          <p:nvPr/>
        </p:nvSpPr>
        <p:spPr>
          <a:xfrm>
            <a:off x="3418541" y="2183471"/>
            <a:ext cx="1428377" cy="3457711"/>
          </a:xfrm>
          <a:prstGeom prst="rect">
            <a:avLst/>
          </a:prstGeom>
          <a:solidFill>
            <a:srgbClr val="FF0000">
              <a:alpha val="10000"/>
            </a:srgbClr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497508F-E614-5548-0145-F60F900ABB64}"/>
              </a:ext>
            </a:extLst>
          </p:cNvPr>
          <p:cNvSpPr txBox="1"/>
          <p:nvPr/>
        </p:nvSpPr>
        <p:spPr>
          <a:xfrm>
            <a:off x="838200" y="5694971"/>
            <a:ext cx="57897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[</a:t>
            </a:r>
            <a:r>
              <a:rPr lang="ko-KR" altLang="en-US" sz="1400" dirty="0"/>
              <a:t>자료</a:t>
            </a:r>
            <a:r>
              <a:rPr lang="en-US" altLang="ko-KR" sz="1400" dirty="0"/>
              <a:t>3] Death Stranding </a:t>
            </a:r>
            <a:r>
              <a:rPr lang="ko-KR" altLang="en-US" sz="1400" dirty="0"/>
              <a:t>플레이 화면 중 일부</a:t>
            </a:r>
          </a:p>
        </p:txBody>
      </p:sp>
    </p:spTree>
    <p:extLst>
      <p:ext uri="{BB962C8B-B14F-4D97-AF65-F5344CB8AC3E}">
        <p14:creationId xmlns:p14="http://schemas.microsoft.com/office/powerpoint/2010/main" val="16593530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76D9EE-0273-4C47-987D-46A6BF9AA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계획서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CCA0FF67-BC48-B7E6-C588-37309163A27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graphicFrame>
        <p:nvGraphicFramePr>
          <p:cNvPr id="11" name="내용 개체 틀 10">
            <a:extLst>
              <a:ext uri="{FF2B5EF4-FFF2-40B4-BE49-F238E27FC236}">
                <a16:creationId xmlns:a16="http://schemas.microsoft.com/office/drawing/2014/main" id="{B961AC53-CA0C-43D7-33D3-45770E950F10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976189097"/>
              </p:ext>
            </p:extLst>
          </p:nvPr>
        </p:nvGraphicFramePr>
        <p:xfrm>
          <a:off x="759759" y="1162841"/>
          <a:ext cx="10672482" cy="4093899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254312">
                  <a:extLst>
                    <a:ext uri="{9D8B030D-6E8A-4147-A177-3AD203B41FA5}">
                      <a16:colId xmlns:a16="http://schemas.microsoft.com/office/drawing/2014/main" val="3699528829"/>
                    </a:ext>
                  </a:extLst>
                </a:gridCol>
                <a:gridCol w="1326776">
                  <a:extLst>
                    <a:ext uri="{9D8B030D-6E8A-4147-A177-3AD203B41FA5}">
                      <a16:colId xmlns:a16="http://schemas.microsoft.com/office/drawing/2014/main" val="2600521761"/>
                    </a:ext>
                  </a:extLst>
                </a:gridCol>
                <a:gridCol w="2755153">
                  <a:extLst>
                    <a:ext uri="{9D8B030D-6E8A-4147-A177-3AD203B41FA5}">
                      <a16:colId xmlns:a16="http://schemas.microsoft.com/office/drawing/2014/main" val="1308312800"/>
                    </a:ext>
                  </a:extLst>
                </a:gridCol>
                <a:gridCol w="1778747">
                  <a:extLst>
                    <a:ext uri="{9D8B030D-6E8A-4147-A177-3AD203B41FA5}">
                      <a16:colId xmlns:a16="http://schemas.microsoft.com/office/drawing/2014/main" val="4256252277"/>
                    </a:ext>
                  </a:extLst>
                </a:gridCol>
                <a:gridCol w="1778747">
                  <a:extLst>
                    <a:ext uri="{9D8B030D-6E8A-4147-A177-3AD203B41FA5}">
                      <a16:colId xmlns:a16="http://schemas.microsoft.com/office/drawing/2014/main" val="2672991050"/>
                    </a:ext>
                  </a:extLst>
                </a:gridCol>
                <a:gridCol w="1778747">
                  <a:extLst>
                    <a:ext uri="{9D8B030D-6E8A-4147-A177-3AD203B41FA5}">
                      <a16:colId xmlns:a16="http://schemas.microsoft.com/office/drawing/2014/main" val="3082271618"/>
                    </a:ext>
                  </a:extLst>
                </a:gridCol>
              </a:tblGrid>
              <a:tr h="45678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/>
                        <a:t>차회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제출일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계획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수행 내용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학습자 성찰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피드백 코멘트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3522786"/>
                  </a:ext>
                </a:extLst>
              </a:tr>
              <a:tr h="121237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1</a:t>
                      </a:r>
                      <a:r>
                        <a:rPr lang="ko-KR" altLang="en-US" sz="1600" dirty="0"/>
                        <a:t>차</a:t>
                      </a:r>
                      <a:r>
                        <a:rPr lang="en-US" altLang="ko-KR" sz="1600" dirty="0"/>
                        <a:t>_</a:t>
                      </a:r>
                      <a:r>
                        <a:rPr lang="ko-KR" altLang="en-US" sz="1600" dirty="0"/>
                        <a:t>제안서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26.09.21.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제안서 작성</a:t>
                      </a:r>
                      <a:r>
                        <a:rPr lang="en-US" altLang="ko-KR" sz="1600" dirty="0"/>
                        <a:t>, UI </a:t>
                      </a:r>
                      <a:r>
                        <a:rPr lang="ko-KR" altLang="en-US" sz="1600" dirty="0"/>
                        <a:t>초안</a:t>
                      </a:r>
                      <a:r>
                        <a:rPr lang="en-US" altLang="ko-KR" sz="1600" dirty="0"/>
                        <a:t>,</a:t>
                      </a:r>
                      <a:br>
                        <a:rPr lang="en-US" altLang="ko-KR" sz="1600" dirty="0"/>
                      </a:br>
                      <a:r>
                        <a:rPr lang="ko-KR" altLang="en-US" sz="1600" dirty="0"/>
                        <a:t>디자인 초안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제안서 작성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UI</a:t>
                      </a:r>
                      <a:r>
                        <a:rPr lang="ko-KR" altLang="en-US" sz="1600" dirty="0"/>
                        <a:t>는 오래 걸린다</a:t>
                      </a:r>
                      <a:r>
                        <a:rPr lang="en-US" altLang="ko-KR" sz="1600" dirty="0"/>
                        <a:t>.</a:t>
                      </a:r>
                      <a:br>
                        <a:rPr lang="en-US" altLang="ko-KR" sz="1600" dirty="0"/>
                      </a:br>
                      <a:r>
                        <a:rPr lang="ko-KR" altLang="en-US" sz="1600" dirty="0"/>
                        <a:t>하고 싶은 것만 할 순 없다</a:t>
                      </a:r>
                      <a:r>
                        <a:rPr lang="en-US" altLang="ko-KR" sz="1600" dirty="0"/>
                        <a:t>…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8613141"/>
                  </a:ext>
                </a:extLst>
              </a:tr>
              <a:tr h="121237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2</a:t>
                      </a:r>
                      <a:r>
                        <a:rPr lang="ko-KR" altLang="en-US" sz="1600" dirty="0"/>
                        <a:t>차</a:t>
                      </a:r>
                      <a:r>
                        <a:rPr lang="en-US" altLang="ko-KR" sz="1600" dirty="0"/>
                        <a:t>_</a:t>
                      </a:r>
                      <a:r>
                        <a:rPr lang="ko-KR" altLang="en-US" sz="1600" dirty="0"/>
                        <a:t>기획서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맵</a:t>
                      </a:r>
                      <a:r>
                        <a:rPr lang="en-US" altLang="ko-KR" sz="1600" dirty="0"/>
                        <a:t>,</a:t>
                      </a:r>
                      <a:br>
                        <a:rPr lang="en-US" altLang="ko-KR" sz="1600" dirty="0"/>
                      </a:br>
                      <a:r>
                        <a:rPr lang="ko-KR" altLang="en-US" sz="1600" dirty="0"/>
                        <a:t>생물 </a:t>
                      </a:r>
                      <a:r>
                        <a:rPr lang="en-US" altLang="ko-KR" sz="1600" dirty="0"/>
                        <a:t>AI </a:t>
                      </a:r>
                      <a:r>
                        <a:rPr lang="ko-KR" altLang="en-US" sz="1600" dirty="0"/>
                        <a:t>행동 트리 초안</a:t>
                      </a:r>
                      <a:r>
                        <a:rPr lang="en-US" altLang="ko-KR" sz="1600" dirty="0"/>
                        <a:t>,</a:t>
                      </a:r>
                      <a:br>
                        <a:rPr lang="en-US" altLang="ko-KR" sz="1600" dirty="0"/>
                      </a:br>
                      <a:r>
                        <a:rPr lang="ko-KR" altLang="en-US" sz="1600" dirty="0"/>
                        <a:t>도우미 </a:t>
                      </a:r>
                      <a:r>
                        <a:rPr lang="en-US" altLang="ko-KR" sz="1600" dirty="0"/>
                        <a:t>AI </a:t>
                      </a:r>
                      <a:r>
                        <a:rPr lang="ko-KR" altLang="en-US" sz="1600" dirty="0"/>
                        <a:t>판단 </a:t>
                      </a:r>
                      <a:br>
                        <a:rPr lang="en-US" altLang="ko-KR" sz="1600" dirty="0"/>
                      </a:br>
                      <a:r>
                        <a:rPr lang="ko-KR" altLang="en-US" sz="1600" dirty="0"/>
                        <a:t>플로우 초안</a:t>
                      </a:r>
                      <a:endParaRPr lang="en-US" altLang="ko-KR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5509935"/>
                  </a:ext>
                </a:extLst>
              </a:tr>
              <a:tr h="121237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3</a:t>
                      </a:r>
                      <a:r>
                        <a:rPr lang="ko-KR" altLang="en-US" sz="1600" dirty="0"/>
                        <a:t>차</a:t>
                      </a:r>
                      <a:r>
                        <a:rPr lang="en-US" altLang="ko-KR" sz="1600" dirty="0"/>
                        <a:t>_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BM, AI </a:t>
                      </a:r>
                      <a:r>
                        <a:rPr lang="ko-KR" altLang="en-US" sz="1600" dirty="0"/>
                        <a:t>세부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17925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84000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4773C6-05A7-DAC0-9971-04B845F3C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부록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D37B8C9-976B-3EE4-B754-5EED87056A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380565"/>
            <a:ext cx="5181600" cy="4796398"/>
          </a:xfrm>
        </p:spPr>
        <p:txBody>
          <a:bodyPr>
            <a:normAutofit/>
          </a:bodyPr>
          <a:lstStyle/>
          <a:p>
            <a:r>
              <a:rPr lang="ko-KR" altLang="en-US" sz="2000" dirty="0"/>
              <a:t>어떤 아이디어를 </a:t>
            </a:r>
            <a:r>
              <a:rPr lang="ko-KR" altLang="en-US" sz="2000" dirty="0" err="1"/>
              <a:t>잡아야할지</a:t>
            </a:r>
            <a:r>
              <a:rPr lang="ko-KR" altLang="en-US" sz="2000" dirty="0"/>
              <a:t> 알 수가 없다</a:t>
            </a:r>
            <a:r>
              <a:rPr lang="en-US" altLang="ko-KR" sz="2000" dirty="0"/>
              <a:t>…</a:t>
            </a:r>
            <a:r>
              <a:rPr lang="ko-KR" altLang="en-US" sz="2000" dirty="0"/>
              <a:t>생각이 안나</a:t>
            </a:r>
            <a:r>
              <a:rPr lang="en-US" altLang="ko-KR" sz="2000" dirty="0"/>
              <a:t>…. 26.09.21.</a:t>
            </a:r>
          </a:p>
          <a:p>
            <a:r>
              <a:rPr lang="ko-KR" altLang="en-US" sz="2000" dirty="0"/>
              <a:t>원하는 것만 할 수는 없지</a:t>
            </a:r>
            <a:r>
              <a:rPr lang="en-US" altLang="ko-KR" sz="2000" dirty="0"/>
              <a:t>… 26.09.21.</a:t>
            </a:r>
            <a:endParaRPr lang="ko-KR" altLang="en-US" sz="2000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A91F1D9-9DA0-3814-8726-422D0C6BE8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380565"/>
            <a:ext cx="5181600" cy="4796398"/>
          </a:xfrm>
        </p:spPr>
        <p:txBody>
          <a:bodyPr/>
          <a:lstStyle/>
          <a:p>
            <a:endParaRPr lang="ko-KR" altLang="en-US" dirty="0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1E3CFC75-24BD-0EA7-1131-E3D23147FEA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09ADA1-3350-202A-7C41-EA3682A261A1}"/>
              </a:ext>
            </a:extLst>
          </p:cNvPr>
          <p:cNvSpPr txBox="1"/>
          <p:nvPr/>
        </p:nvSpPr>
        <p:spPr>
          <a:xfrm>
            <a:off x="6172200" y="892976"/>
            <a:ext cx="20738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/>
              <a:t>스스로 코멘트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161E24-402C-0CEC-77A5-6F9BCEB96984}"/>
              </a:ext>
            </a:extLst>
          </p:cNvPr>
          <p:cNvSpPr txBox="1"/>
          <p:nvPr/>
        </p:nvSpPr>
        <p:spPr>
          <a:xfrm>
            <a:off x="838200" y="892976"/>
            <a:ext cx="20738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/>
              <a:t>후기</a:t>
            </a:r>
          </a:p>
        </p:txBody>
      </p:sp>
    </p:spTree>
    <p:extLst>
      <p:ext uri="{BB962C8B-B14F-4D97-AF65-F5344CB8AC3E}">
        <p14:creationId xmlns:p14="http://schemas.microsoft.com/office/powerpoint/2010/main" val="13501843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80B2EF-C93A-1287-667A-EF5C47000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히스토리</a:t>
            </a:r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142B792F-215F-89CE-C087-3C11482B53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33929"/>
            <a:ext cx="10515600" cy="5143034"/>
          </a:xfrm>
        </p:spPr>
        <p:txBody>
          <a:bodyPr>
            <a:normAutofit/>
          </a:bodyPr>
          <a:lstStyle/>
          <a:p>
            <a:r>
              <a:rPr lang="ko-KR" altLang="en-US" sz="1800"/>
              <a:t>제안서로 </a:t>
            </a:r>
            <a:r>
              <a:rPr lang="ko-KR" altLang="en-US" sz="1800" dirty="0"/>
              <a:t>작성 </a:t>
            </a:r>
            <a:r>
              <a:rPr lang="en-US" altLang="ko-KR" sz="1800" dirty="0"/>
              <a:t>26.09.21.</a:t>
            </a:r>
            <a:endParaRPr lang="ko-KR" altLang="en-US" sz="1800" dirty="0"/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24152D82-9EE1-2E38-72EB-485420106EF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66267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53B8EAFD-03FA-8944-B1DF-F230D2C49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자료 출처</a:t>
            </a:r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D8BD448A-07B9-B4A3-5EB1-9258F8A869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91396"/>
            <a:ext cx="10515600" cy="5285567"/>
          </a:xfrm>
        </p:spPr>
        <p:txBody>
          <a:bodyPr>
            <a:normAutofit/>
          </a:bodyPr>
          <a:lstStyle/>
          <a:p>
            <a:r>
              <a:rPr lang="ko-KR" altLang="en-US" sz="1600" dirty="0"/>
              <a:t>자료</a:t>
            </a:r>
            <a:r>
              <a:rPr lang="en-US" altLang="ko-KR" sz="1600" dirty="0"/>
              <a:t>1 </a:t>
            </a:r>
            <a:r>
              <a:rPr lang="ko-KR" altLang="en-US" sz="1600" dirty="0" err="1"/>
              <a:t>플레임</a:t>
            </a:r>
            <a:r>
              <a:rPr lang="en-US" altLang="ko-KR" sz="1600" dirty="0"/>
              <a:t>&lt;</a:t>
            </a:r>
            <a:r>
              <a:rPr lang="ko-KR" altLang="en-US" sz="1600" dirty="0"/>
              <a:t>나 배달 </a:t>
            </a:r>
            <a:r>
              <a:rPr lang="ko-KR" altLang="en-US" sz="1600" dirty="0" err="1"/>
              <a:t>안해</a:t>
            </a:r>
            <a:r>
              <a:rPr lang="en-US" altLang="ko-KR" sz="1600" dirty="0"/>
              <a:t>&gt;</a:t>
            </a:r>
            <a:r>
              <a:rPr lang="ko-KR" altLang="en-US" sz="1600" dirty="0"/>
              <a:t>영상</a:t>
            </a:r>
            <a:endParaRPr lang="en-US" altLang="ko-KR" sz="1600" dirty="0"/>
          </a:p>
          <a:p>
            <a:r>
              <a:rPr lang="ko-KR" altLang="en-US" sz="1600" dirty="0"/>
              <a:t>자료</a:t>
            </a:r>
            <a:r>
              <a:rPr lang="en-US" altLang="ko-KR" sz="1600" dirty="0"/>
              <a:t>2 https://www.youtube.com/watch?v=eNRvtvpl1Io&amp;t=872s</a:t>
            </a:r>
          </a:p>
          <a:p>
            <a:r>
              <a:rPr lang="ko-KR" altLang="en-US" sz="1600" dirty="0"/>
              <a:t>자료</a:t>
            </a:r>
            <a:r>
              <a:rPr lang="en-US" altLang="ko-KR" sz="1600" dirty="0"/>
              <a:t>3 https://www.youtube.com/watch?v=mwnCRKbvALM&amp;t=2975s</a:t>
            </a:r>
          </a:p>
          <a:p>
            <a:endParaRPr lang="en-US" altLang="ko-KR" sz="1600" dirty="0"/>
          </a:p>
          <a:p>
            <a:endParaRPr lang="en-US" altLang="ko-KR" sz="1600" dirty="0"/>
          </a:p>
          <a:p>
            <a:endParaRPr lang="en-US" altLang="ko-KR" sz="1600" dirty="0"/>
          </a:p>
          <a:p>
            <a:endParaRPr lang="en-US" altLang="ko-KR" sz="1600" dirty="0"/>
          </a:p>
          <a:p>
            <a:endParaRPr lang="ko-KR" altLang="en-US" sz="1600" dirty="0"/>
          </a:p>
        </p:txBody>
      </p:sp>
      <p:sp>
        <p:nvSpPr>
          <p:cNvPr id="10" name="내용 개체 틀 9">
            <a:extLst>
              <a:ext uri="{FF2B5EF4-FFF2-40B4-BE49-F238E27FC236}">
                <a16:creationId xmlns:a16="http://schemas.microsoft.com/office/drawing/2014/main" id="{8907003B-E921-5E38-C139-5AE6158C740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4975270"/>
      </p:ext>
    </p:extLst>
  </p:cSld>
  <p:clrMapOvr>
    <a:masterClrMapping/>
  </p:clrMapOvr>
</p:sld>
</file>

<file path=ppt/theme/theme1.xml><?xml version="1.0" encoding="utf-8"?>
<a:theme xmlns:a="http://schemas.openxmlformats.org/drawingml/2006/main" name="기본_수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기본_수정" id="{CBA6B7FE-B6CA-4F39-BB51-F79B6C8A8A52}" vid="{D2CEE810-8952-4285-9131-74857803864A}"/>
    </a:ext>
  </a:extLst>
</a:theme>
</file>

<file path=ppt/theme/theme2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기본_수정</Template>
  <TotalTime>879</TotalTime>
  <Words>531</Words>
  <Application>Microsoft Office PowerPoint</Application>
  <PresentationFormat>와이드스크린</PresentationFormat>
  <Paragraphs>93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11</vt:i4>
      </vt:variant>
    </vt:vector>
  </HeadingPairs>
  <TitlesOfParts>
    <vt:vector size="15" baseType="lpstr">
      <vt:lpstr>맑은 고딕</vt:lpstr>
      <vt:lpstr>Arial</vt:lpstr>
      <vt:lpstr>기본_수정</vt:lpstr>
      <vt:lpstr>디자인 사용자 지정</vt:lpstr>
      <vt:lpstr>배트와 달트 </vt:lpstr>
      <vt:lpstr>게임 정보</vt:lpstr>
      <vt:lpstr>게임 소개</vt:lpstr>
      <vt:lpstr>게임 소개</vt:lpstr>
      <vt:lpstr>게임 소개</vt:lpstr>
      <vt:lpstr>게임 소개</vt:lpstr>
      <vt:lpstr>게임 소개</vt:lpstr>
      <vt:lpstr>계획서</vt:lpstr>
      <vt:lpstr>부록</vt:lpstr>
      <vt:lpstr>히스토리</vt:lpstr>
      <vt:lpstr>자료 출처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권현아(2023184004)</dc:creator>
  <cp:lastModifiedBy>권현아(2023184004)</cp:lastModifiedBy>
  <cp:revision>113</cp:revision>
  <dcterms:created xsi:type="dcterms:W3CDTF">2026-09-16T19:24:55Z</dcterms:created>
  <dcterms:modified xsi:type="dcterms:W3CDTF">2026-09-21T12:24:31Z</dcterms:modified>
</cp:coreProperties>
</file>