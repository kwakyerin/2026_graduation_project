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6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1" r:id="rId7"/>
    <p:sldId id="265" r:id="rId8"/>
    <p:sldId id="297" r:id="rId9"/>
    <p:sldId id="260" r:id="rId10"/>
    <p:sldId id="278" r:id="rId11"/>
    <p:sldId id="279" r:id="rId12"/>
    <p:sldId id="298" r:id="rId13"/>
    <p:sldId id="277" r:id="rId14"/>
    <p:sldId id="303" r:id="rId15"/>
    <p:sldId id="262" r:id="rId16"/>
    <p:sldId id="269" r:id="rId17"/>
    <p:sldId id="289" r:id="rId18"/>
    <p:sldId id="301" r:id="rId19"/>
    <p:sldId id="290" r:id="rId20"/>
    <p:sldId id="302" r:id="rId21"/>
    <p:sldId id="304" r:id="rId22"/>
    <p:sldId id="270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FF73D-6F29-4AE3-91AA-92916D4CDA50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2CA9A-BF5F-43D5-A722-B8AEA70DD6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61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>
                <a:solidFill>
                  <a:sysClr val="windowText" lastClr="000000"/>
                </a:solidFill>
              </a:rPr>
              <a:t>T초</a:t>
            </a:r>
            <a:r>
              <a:rPr lang="ko-KR" altLang="ko-KR" dirty="0">
                <a:solidFill>
                  <a:sysClr val="windowText" lastClr="000000"/>
                </a:solidFill>
              </a:rPr>
              <a:t> 후 위험 밀도 예측</a:t>
            </a:r>
            <a:r>
              <a:rPr lang="en-US" altLang="ko-KR" dirty="0">
                <a:solidFill>
                  <a:sysClr val="windowText" lastClr="000000"/>
                </a:solidFill>
              </a:rPr>
              <a:t> : </a:t>
            </a:r>
            <a:r>
              <a:rPr lang="ko-KR" altLang="ko-KR" dirty="0"/>
              <a:t>격자 기반 </a:t>
            </a:r>
            <a:r>
              <a:rPr lang="ko-KR" altLang="ko-KR" dirty="0" err="1"/>
              <a:t>인플루언스</a:t>
            </a:r>
            <a:r>
              <a:rPr lang="ko-KR" altLang="ko-KR" dirty="0"/>
              <a:t> </a:t>
            </a:r>
            <a:r>
              <a:rPr lang="ko-KR" altLang="ko-KR" dirty="0" err="1"/>
              <a:t>맵으로</a:t>
            </a:r>
            <a:r>
              <a:rPr lang="ko-KR" altLang="ko-KR" dirty="0"/>
              <a:t> </a:t>
            </a:r>
            <a:r>
              <a:rPr lang="ko-KR" altLang="ko-KR" dirty="0" err="1"/>
              <a:t>T초</a:t>
            </a:r>
            <a:r>
              <a:rPr lang="ko-KR" altLang="ko-KR" dirty="0"/>
              <a:t> 후 위험 밀도 예측</a:t>
            </a:r>
            <a:r>
              <a:rPr lang="en-US" altLang="ko-KR" dirty="0"/>
              <a:t>. (</a:t>
            </a:r>
            <a:r>
              <a:rPr lang="ko-KR" altLang="en-US" dirty="0">
                <a:solidFill>
                  <a:sysClr val="windowText" lastClr="000000"/>
                </a:solidFill>
              </a:rPr>
              <a:t>개별 위치로 시뮬레이션</a:t>
            </a:r>
            <a:r>
              <a:rPr lang="en-US" altLang="ko-KR" dirty="0">
                <a:solidFill>
                  <a:sysClr val="windowText" lastClr="000000"/>
                </a:solidFill>
              </a:rPr>
              <a:t>X, </a:t>
            </a:r>
            <a:r>
              <a:rPr lang="ko-KR" altLang="en-US" dirty="0">
                <a:solidFill>
                  <a:sysClr val="windowText" lastClr="000000"/>
                </a:solidFill>
              </a:rPr>
              <a:t>격자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단위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인플루언스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맵으로</a:t>
            </a:r>
            <a:r>
              <a:rPr lang="ko-KR" altLang="en-US" dirty="0">
                <a:solidFill>
                  <a:sysClr val="windowText" lastClr="000000"/>
                </a:solidFill>
              </a:rPr>
              <a:t> 위험 밀도를 누적</a:t>
            </a:r>
            <a:r>
              <a:rPr lang="en-US" altLang="ko-KR" dirty="0">
                <a:solidFill>
                  <a:sysClr val="windowText" lastClr="000000"/>
                </a:solidFill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2CA9A-BF5F-43D5-A722-B8AEA70DD60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78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94D01-0EC0-583E-AF02-DDCDEA8D0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A9843C-2E0B-D9E6-B5D7-6909186C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46B0-B772-A89B-6DD6-32E64992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A7EA-A08D-470B-B559-5CA3F8390285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AF6E5-FE5A-F08E-367B-7F725EE7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BBE15-E2E0-4779-6B21-BFB77CB3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02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BABD-D50F-477D-84CB-5D40968424E6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9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C4AC8-AB3F-5038-2C5D-ECFD0DF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F8DD8-EBF7-C7CA-A7B3-4DE84D44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D840D-91BA-8969-733C-760C0CC2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E8C701-6832-9922-1B55-3528A9A7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F3C741-5C5C-4E0D-9516-F82616A88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3BD39-8A43-2222-3ED7-DB6770AB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668C-6E84-42F9-9906-46DC33168E70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65C6-0631-C506-DCD0-0A1E06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6683C-E239-4914-EF7F-7026E333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2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B2BC-D0E5-D763-5DAF-13D1656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1A45-90C6-16CA-2AF2-8E5ED7FC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040AB-764F-3822-9F18-4DF9939C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BF953-F401-6B6F-B1F2-05302E42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F742-AC6F-4B04-B096-246F25AAABD2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49C9-6AFC-7EEA-5BCD-1477D94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AE919-E01F-1035-FAA8-43BFDBE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89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AB656-48C0-0972-7E76-32CE1D6D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A4A784-0DEB-4142-8F8E-8EC7A5B2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B73C37-B926-C476-D4EA-AB10FA41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33CFE-BA4B-AFFC-8407-2909DE31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8453-487A-456C-8ABA-CA04D0FA2C77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D7999-E7B8-52AC-818C-67668266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6B130-BCE7-300C-3277-EE150134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10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BFDD-022C-4656-AF62-A4DA34510370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9426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95E6-717A-4F75-ADB4-B202670E9437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9919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0848-C9C3-4A93-A53E-CF6B3EBD1104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188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5F09D-BE0B-48A3-8BDC-AB8B03466D34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5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B2A50D-47D3-E02F-D339-3BB790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D3744-B54A-DCB5-B319-D1D7784B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EF6D5-B8B1-F18C-1A8C-E7CE5CC4D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BB230-5E29-4037-8D23-54C6F2389DA6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6C4B4-7272-9E1C-45ED-CBAA88D01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65CEA-97AE-D52F-4F97-A5C1CFD89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68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C8396-AA9F-46F9-B914-59E3D5D9787E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83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PartyAnimalsGame/comments/1b0dmqw/how_to_get_a_new_exclusive_tiagra_skin/" TargetMode="External"/><Relationship Id="rId2" Type="http://schemas.openxmlformats.org/officeDocument/2006/relationships/hyperlink" Target="https://namu.wiki/w/%EB%8F%99%EB%AC%BC%EC%9D%98%20%EC%88%B2%20%EC%8B%9C%EB%A6%AC%EC%A6%88/%EC%9D%BC%EB%B0%98%20%EC%A3%BC%EB%AF%BC/%EA%B3%B0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youtube.com/watch?v=eNRvtvpl1Io&amp;t=872s" TargetMode="External"/><Relationship Id="rId4" Type="http://schemas.openxmlformats.org/officeDocument/2006/relationships/hyperlink" Target="https://page.onstove.com/indie/global/view/959774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611B6-C59D-7CE5-FEE2-1D6ED048E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배트와 </a:t>
            </a:r>
            <a:r>
              <a:rPr lang="ko-KR" altLang="en-US" dirty="0" err="1"/>
              <a:t>달트</a:t>
            </a:r>
            <a:br>
              <a:rPr lang="en-US" altLang="ko-KR" dirty="0"/>
            </a:br>
            <a:r>
              <a:rPr lang="ko-KR" altLang="en-US" sz="4800" dirty="0"/>
              <a:t>기획서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A18EEF-9CC0-5ACA-83D1-C1A0C24EE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곽예린</a:t>
            </a:r>
            <a:r>
              <a:rPr lang="ko-KR" altLang="en-US" dirty="0"/>
              <a:t> 권현아 김진아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351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BA673A-9754-955E-E2BE-50FEE622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2144712" cy="1600200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CA3521E-F03E-CCD2-5860-75445C05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1" y="987425"/>
            <a:ext cx="7977188" cy="4873625"/>
          </a:xfrm>
        </p:spPr>
        <p:txBody>
          <a:bodyPr numCol="2"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게임 소개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정보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기획 목표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플로우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구현 계획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컨텐츠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맵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생물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구현 계획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시스템</a:t>
            </a:r>
            <a:br>
              <a:rPr lang="en-US" altLang="ko-KR" sz="2400" dirty="0"/>
            </a:br>
            <a:r>
              <a:rPr lang="en-US" altLang="ko-KR" sz="2400" dirty="0"/>
              <a:t>&gt; UI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플로우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세부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구현 계획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참고문헌 및 출처</a:t>
            </a:r>
            <a:endParaRPr lang="en-US" altLang="ko-KR" sz="2400" b="1" dirty="0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0370F6A1-A860-D2F6-34CB-86EBC01D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104AA-B669-4CE8-A4C6-5B6FFB268D6D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AC6591-5905-40E2-E7A0-2D0FC75A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31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650F7EC-D74B-E9B7-50BF-6581D245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69F915-976F-6F2C-D6C5-17B19A21E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614858-91DE-09C9-9F18-8B515C26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908AF-E20B-41D4-AB43-0322C79507AA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D4A871-D3AA-701F-B6BB-994FA7E6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64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3E1773-B3C9-B24D-04A3-63300D28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8E3620E-D6D8-CBB7-2945-88565D463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2545948"/>
              </p:ext>
            </p:extLst>
          </p:nvPr>
        </p:nvGraphicFramePr>
        <p:xfrm>
          <a:off x="1215605" y="1635844"/>
          <a:ext cx="9760789" cy="38472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11012">
                  <a:extLst>
                    <a:ext uri="{9D8B030D-6E8A-4147-A177-3AD203B41FA5}">
                      <a16:colId xmlns:a16="http://schemas.microsoft.com/office/drawing/2014/main" val="1481076814"/>
                    </a:ext>
                  </a:extLst>
                </a:gridCol>
                <a:gridCol w="7349777">
                  <a:extLst>
                    <a:ext uri="{9D8B030D-6E8A-4147-A177-3AD203B41FA5}">
                      <a16:colId xmlns:a16="http://schemas.microsoft.com/office/drawing/2014/main" val="2932042606"/>
                    </a:ext>
                  </a:extLst>
                </a:gridCol>
              </a:tblGrid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장르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인칭 2인 멀티 협동 FPS 배달 전략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308725"/>
                  </a:ext>
                </a:extLst>
              </a:tr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strike="noStrike" dirty="0"/>
                        <a:t>도우미 </a:t>
                      </a:r>
                      <a:r>
                        <a:rPr lang="en-US" altLang="ko-KR" sz="2000" strike="noStrike" dirty="0"/>
                        <a:t>ai</a:t>
                      </a:r>
                      <a:r>
                        <a:rPr lang="ko-KR" altLang="en-US" sz="2000" strike="noStrike" dirty="0"/>
                        <a:t>의 안내를 능동적으로 판단하고 </a:t>
                      </a:r>
                      <a:br>
                        <a:rPr lang="en-US" altLang="ko-KR" sz="2000" strike="noStrike" dirty="0"/>
                      </a:br>
                      <a:r>
                        <a:rPr lang="ko-KR" altLang="en-US" sz="2000" strike="noStrike" dirty="0"/>
                        <a:t>주위의 적들과 변하는 생태계를 견제하며 </a:t>
                      </a:r>
                      <a:br>
                        <a:rPr lang="en-US" altLang="ko-KR" sz="2000" strike="noStrike" dirty="0"/>
                      </a:br>
                      <a:r>
                        <a:rPr lang="ko-KR" altLang="en-US" sz="2000" strike="noStrike" dirty="0"/>
                        <a:t>제한 시간 안에 배달을 완료하는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467976"/>
                  </a:ext>
                </a:extLst>
              </a:tr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클리어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시간 안에 배달을 성공적으로 완료하고</a:t>
                      </a:r>
                      <a:r>
                        <a:rPr lang="en-US" altLang="ko-KR" sz="2000" dirty="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 </a:t>
                      </a:r>
                      <a:br>
                        <a:rPr lang="en-US" altLang="ko-KR" sz="2000" dirty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보수를 충분히 받아 떠나는 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212067"/>
                  </a:ext>
                </a:extLst>
              </a:tr>
            </a:tbl>
          </a:graphicData>
        </a:graphic>
      </p:graphicFrame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1BF454-365A-4CEC-2BD8-96FB70A429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</p:spTree>
    <p:extLst>
      <p:ext uri="{BB962C8B-B14F-4D97-AF65-F5344CB8AC3E}">
        <p14:creationId xmlns:p14="http://schemas.microsoft.com/office/powerpoint/2010/main" val="368680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6757B4-D983-2D61-C39C-50D61C95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 목표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8C2045-45F9-E24E-D52C-0E759A40405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10" name="설명선: 아래쪽 화살표 9">
            <a:extLst>
              <a:ext uri="{FF2B5EF4-FFF2-40B4-BE49-F238E27FC236}">
                <a16:creationId xmlns:a16="http://schemas.microsoft.com/office/drawing/2014/main" id="{A4C07938-75C4-DE26-9294-60E25770CCFC}"/>
              </a:ext>
            </a:extLst>
          </p:cNvPr>
          <p:cNvSpPr/>
          <p:nvPr/>
        </p:nvSpPr>
        <p:spPr>
          <a:xfrm>
            <a:off x="5167223" y="3761117"/>
            <a:ext cx="1857555" cy="133565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>
                <a:solidFill>
                  <a:sysClr val="windowText" lastClr="000000"/>
                </a:solidFill>
              </a:rPr>
              <a:t>배달과 FPS의</a:t>
            </a:r>
            <a:br>
              <a:rPr lang="en-US" altLang="ko-KR">
                <a:solidFill>
                  <a:sysClr val="windowText" lastClr="000000"/>
                </a:solidFill>
              </a:rPr>
            </a:br>
            <a:r>
              <a:rPr lang="ko-KR" altLang="ko-KR">
                <a:solidFill>
                  <a:sysClr val="windowText" lastClr="000000"/>
                </a:solidFill>
              </a:rPr>
              <a:t>결합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설명선: 아래쪽 화살표 11">
            <a:extLst>
              <a:ext uri="{FF2B5EF4-FFF2-40B4-BE49-F238E27FC236}">
                <a16:creationId xmlns:a16="http://schemas.microsoft.com/office/drawing/2014/main" id="{B5EC5924-72B1-84C9-1D16-C4C50C418DF0}"/>
              </a:ext>
            </a:extLst>
          </p:cNvPr>
          <p:cNvSpPr/>
          <p:nvPr/>
        </p:nvSpPr>
        <p:spPr>
          <a:xfrm>
            <a:off x="1629365" y="3761116"/>
            <a:ext cx="1857555" cy="133565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귀여움과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유쾌함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설명선: 아래쪽 화살표 13">
            <a:extLst>
              <a:ext uri="{FF2B5EF4-FFF2-40B4-BE49-F238E27FC236}">
                <a16:creationId xmlns:a16="http://schemas.microsoft.com/office/drawing/2014/main" id="{97DD45C7-29FA-5479-D86C-595907BB3A60}"/>
              </a:ext>
            </a:extLst>
          </p:cNvPr>
          <p:cNvSpPr/>
          <p:nvPr/>
        </p:nvSpPr>
        <p:spPr>
          <a:xfrm>
            <a:off x="8705080" y="3761115"/>
            <a:ext cx="1857555" cy="133565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긴장감과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자율성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E6C605-483C-5B04-7AB1-4462287A507F}"/>
              </a:ext>
            </a:extLst>
          </p:cNvPr>
          <p:cNvSpPr txBox="1"/>
          <p:nvPr/>
        </p:nvSpPr>
        <p:spPr>
          <a:xfrm>
            <a:off x="1146289" y="5096770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돌발 상황과</a:t>
            </a:r>
            <a:endParaRPr lang="en-US" altLang="ko-KR" dirty="0"/>
          </a:p>
          <a:p>
            <a:pPr algn="ctr"/>
            <a:r>
              <a:rPr lang="ko-KR" altLang="ko-KR" dirty="0"/>
              <a:t>귀여운 캐릭터를 통해</a:t>
            </a:r>
            <a:br>
              <a:rPr lang="en-US" altLang="ko-KR" dirty="0"/>
            </a:br>
            <a:r>
              <a:rPr lang="ko-KR" altLang="en-US" dirty="0"/>
              <a:t>유쾌하고 </a:t>
            </a:r>
            <a:r>
              <a:rPr lang="ko-KR" altLang="ko-KR" dirty="0"/>
              <a:t>즐거운 플레이 경험 제공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CC909-81B5-6FE4-D3FE-574030106179}"/>
              </a:ext>
            </a:extLst>
          </p:cNvPr>
          <p:cNvSpPr txBox="1"/>
          <p:nvPr/>
        </p:nvSpPr>
        <p:spPr>
          <a:xfrm>
            <a:off x="8221999" y="5164665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실시간 변화와 </a:t>
            </a:r>
            <a:br>
              <a:rPr lang="en-US" altLang="ko-KR" dirty="0"/>
            </a:br>
            <a:r>
              <a:rPr lang="ko-KR" altLang="ko-KR" dirty="0"/>
              <a:t>예상 시간 정보를 </a:t>
            </a:r>
            <a:br>
              <a:rPr lang="en-US" altLang="ko-KR" dirty="0"/>
            </a:br>
            <a:r>
              <a:rPr lang="ko-KR" altLang="ko-KR" dirty="0"/>
              <a:t>바탕으로 플레이어의 </a:t>
            </a:r>
            <a:br>
              <a:rPr lang="en-US" altLang="ko-KR" dirty="0"/>
            </a:br>
            <a:r>
              <a:rPr lang="ko-KR" altLang="ko-KR" dirty="0"/>
              <a:t>판단과 행동 유도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1EAE55-8E3C-2011-4161-75B651D4D74C}"/>
              </a:ext>
            </a:extLst>
          </p:cNvPr>
          <p:cNvSpPr txBox="1"/>
          <p:nvPr/>
        </p:nvSpPr>
        <p:spPr>
          <a:xfrm>
            <a:off x="4607944" y="5216899"/>
            <a:ext cx="297611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배달 목표에</a:t>
            </a:r>
            <a:br>
              <a:rPr lang="en-US" altLang="ko-KR" dirty="0"/>
            </a:br>
            <a:r>
              <a:rPr lang="ko-KR" altLang="ko-KR" dirty="0"/>
              <a:t>전투와 경로 전략을 결합한</a:t>
            </a:r>
            <a:br>
              <a:rPr lang="en-US" altLang="ko-KR" dirty="0"/>
            </a:br>
            <a:r>
              <a:rPr lang="ko-KR" altLang="ko-KR" dirty="0"/>
              <a:t>새로운 협동 경험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178380-95A8-CFDE-C93C-831412739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2" r="9057"/>
          <a:stretch>
            <a:fillRect/>
          </a:stretch>
        </p:blipFill>
        <p:spPr>
          <a:xfrm>
            <a:off x="6237928" y="1081650"/>
            <a:ext cx="4324707" cy="24478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A39B4B-6448-EAD4-2CD3-97AE25603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2" r="9057"/>
          <a:stretch>
            <a:fillRect/>
          </a:stretch>
        </p:blipFill>
        <p:spPr>
          <a:xfrm>
            <a:off x="1629365" y="1081650"/>
            <a:ext cx="4324707" cy="244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1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ED9C-A03C-CDA7-4415-B1144A65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플로우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C997EA9-4378-21C7-ADBE-D0A611CC26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C45B6D-63B9-873F-DBE3-6DC7DABF0988}"/>
              </a:ext>
            </a:extLst>
          </p:cNvPr>
          <p:cNvSpPr/>
          <p:nvPr/>
        </p:nvSpPr>
        <p:spPr>
          <a:xfrm>
            <a:off x="2373422" y="1150976"/>
            <a:ext cx="1404937" cy="738187"/>
          </a:xfrm>
          <a:prstGeom prst="rect">
            <a:avLst/>
          </a:prstGeom>
          <a:solidFill>
            <a:schemeClr val="l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물품 랜덤 결정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C1CAF-576E-1488-11D4-30F676842111}"/>
              </a:ext>
            </a:extLst>
          </p:cNvPr>
          <p:cNvSpPr/>
          <p:nvPr/>
        </p:nvSpPr>
        <p:spPr>
          <a:xfrm>
            <a:off x="4431785" y="1022125"/>
            <a:ext cx="1818245" cy="10094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두 플레이어 중 누가 </a:t>
            </a:r>
            <a:r>
              <a:rPr lang="ko-KR" altLang="en-US" dirty="0">
                <a:solidFill>
                  <a:srgbClr val="000000"/>
                </a:solidFill>
              </a:rPr>
              <a:t>배달품을 </a:t>
            </a:r>
            <a:r>
              <a:rPr lang="ko-KR" altLang="en-US">
                <a:solidFill>
                  <a:srgbClr val="000000"/>
                </a:solidFill>
              </a:rPr>
              <a:t>운반할지 결정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9FF80D-A8A7-69B1-1782-63B801C66AC9}"/>
              </a:ext>
            </a:extLst>
          </p:cNvPr>
          <p:cNvSpPr/>
          <p:nvPr/>
        </p:nvSpPr>
        <p:spPr>
          <a:xfrm>
            <a:off x="6768033" y="1066651"/>
            <a:ext cx="1495527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배달품의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배송지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E7DC57-BC47-6584-EE22-F10C5A51640D}"/>
              </a:ext>
            </a:extLst>
          </p:cNvPr>
          <p:cNvSpPr/>
          <p:nvPr/>
        </p:nvSpPr>
        <p:spPr>
          <a:xfrm>
            <a:off x="1400683" y="2535546"/>
            <a:ext cx="1687574" cy="875190"/>
          </a:xfrm>
          <a:prstGeom prst="rect">
            <a:avLst/>
          </a:prstGeom>
          <a:solidFill>
            <a:schemeClr val="l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CB9408-71A5-5E20-7103-632695B94B6B}"/>
              </a:ext>
            </a:extLst>
          </p:cNvPr>
          <p:cNvSpPr/>
          <p:nvPr/>
        </p:nvSpPr>
        <p:spPr>
          <a:xfrm>
            <a:off x="3753168" y="2326045"/>
            <a:ext cx="2074261" cy="857522"/>
          </a:xfrm>
          <a:prstGeom prst="rect">
            <a:avLst/>
          </a:prstGeom>
          <a:solidFill>
            <a:schemeClr val="l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46F548-1FCF-F79F-7E48-1C06AE818767}"/>
              </a:ext>
            </a:extLst>
          </p:cNvPr>
          <p:cNvSpPr/>
          <p:nvPr/>
        </p:nvSpPr>
        <p:spPr>
          <a:xfrm>
            <a:off x="3753168" y="3428667"/>
            <a:ext cx="2074261" cy="738187"/>
          </a:xfrm>
          <a:prstGeom prst="rect">
            <a:avLst/>
          </a:prstGeom>
          <a:solidFill>
            <a:schemeClr val="l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D95DDE-1CB1-AA6F-72CB-36E1348A8E42}"/>
              </a:ext>
            </a:extLst>
          </p:cNvPr>
          <p:cNvSpPr/>
          <p:nvPr/>
        </p:nvSpPr>
        <p:spPr>
          <a:xfrm>
            <a:off x="5503543" y="5571286"/>
            <a:ext cx="1460848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17" name="화살표 12">
            <a:extLst>
              <a:ext uri="{FF2B5EF4-FFF2-40B4-BE49-F238E27FC236}">
                <a16:creationId xmlns:a16="http://schemas.microsoft.com/office/drawing/2014/main" id="{946DD478-AFD6-6E16-7F4B-2B9634DE5BF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778359" y="1520070"/>
            <a:ext cx="653426" cy="67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화살표 13">
            <a:extLst>
              <a:ext uri="{FF2B5EF4-FFF2-40B4-BE49-F238E27FC236}">
                <a16:creationId xmlns:a16="http://schemas.microsoft.com/office/drawing/2014/main" id="{7565030A-3172-2EDE-FAF6-A040EA22A7D4}"/>
              </a:ext>
            </a:extLst>
          </p:cNvPr>
          <p:cNvCxnSpPr>
            <a:cxnSpLocks/>
            <a:stCxn id="11" idx="3"/>
            <a:endCxn id="49" idx="1"/>
          </p:cNvCxnSpPr>
          <p:nvPr/>
        </p:nvCxnSpPr>
        <p:spPr>
          <a:xfrm>
            <a:off x="8263560" y="1526836"/>
            <a:ext cx="809864" cy="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화살표 14">
            <a:extLst>
              <a:ext uri="{FF2B5EF4-FFF2-40B4-BE49-F238E27FC236}">
                <a16:creationId xmlns:a16="http://schemas.microsoft.com/office/drawing/2014/main" id="{D96781D8-0E33-6D94-0150-DFDF34A99B4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250030" y="1526836"/>
            <a:ext cx="5180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양쪽 화살표 연결선 18">
            <a:extLst>
              <a:ext uri="{FF2B5EF4-FFF2-40B4-BE49-F238E27FC236}">
                <a16:creationId xmlns:a16="http://schemas.microsoft.com/office/drawing/2014/main" id="{E2B73A7F-A7CE-2433-6311-93E4F09C1B61}"/>
              </a:ext>
            </a:extLst>
          </p:cNvPr>
          <p:cNvCxnSpPr>
            <a:cxnSpLocks/>
            <a:stCxn id="13" idx="3"/>
            <a:endCxn id="231" idx="1"/>
          </p:cNvCxnSpPr>
          <p:nvPr/>
        </p:nvCxnSpPr>
        <p:spPr>
          <a:xfrm>
            <a:off x="5827429" y="2754806"/>
            <a:ext cx="777462" cy="3224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20">
            <a:extLst>
              <a:ext uri="{FF2B5EF4-FFF2-40B4-BE49-F238E27FC236}">
                <a16:creationId xmlns:a16="http://schemas.microsoft.com/office/drawing/2014/main" id="{3A2FF051-9A15-87BC-BE39-D8338AC29156}"/>
              </a:ext>
            </a:extLst>
          </p:cNvPr>
          <p:cNvCxnSpPr>
            <a:cxnSpLocks/>
            <a:stCxn id="14" idx="3"/>
            <a:endCxn id="231" idx="1"/>
          </p:cNvCxnSpPr>
          <p:nvPr/>
        </p:nvCxnSpPr>
        <p:spPr>
          <a:xfrm flipV="1">
            <a:off x="5827429" y="3077234"/>
            <a:ext cx="777462" cy="7205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696255-9AC7-7098-E14E-B059CC6EB4FD}"/>
              </a:ext>
            </a:extLst>
          </p:cNvPr>
          <p:cNvSpPr/>
          <p:nvPr/>
        </p:nvSpPr>
        <p:spPr>
          <a:xfrm>
            <a:off x="5503543" y="4498615"/>
            <a:ext cx="1460849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AC0BD66-F6A8-D200-8A64-573B6FF1E851}"/>
              </a:ext>
            </a:extLst>
          </p:cNvPr>
          <p:cNvSpPr/>
          <p:nvPr/>
        </p:nvSpPr>
        <p:spPr>
          <a:xfrm>
            <a:off x="9073424" y="1070766"/>
            <a:ext cx="2091248" cy="920369"/>
          </a:xfrm>
          <a:prstGeom prst="rect">
            <a:avLst/>
          </a:prstGeom>
          <a:solidFill>
            <a:schemeClr val="l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가 배송지까지의 경로별 예측 시간 계산</a:t>
            </a:r>
          </a:p>
        </p:txBody>
      </p:sp>
      <p:cxnSp>
        <p:nvCxnSpPr>
          <p:cNvPr id="52" name="화살표 12">
            <a:extLst>
              <a:ext uri="{FF2B5EF4-FFF2-40B4-BE49-F238E27FC236}">
                <a16:creationId xmlns:a16="http://schemas.microsoft.com/office/drawing/2014/main" id="{0C443044-ADF4-1AD6-57BB-DB3D06E23E23}"/>
              </a:ext>
            </a:extLst>
          </p:cNvPr>
          <p:cNvCxnSpPr>
            <a:cxnSpLocks/>
            <a:stCxn id="185" idx="3"/>
            <a:endCxn id="9" idx="1"/>
          </p:cNvCxnSpPr>
          <p:nvPr/>
        </p:nvCxnSpPr>
        <p:spPr>
          <a:xfrm flipV="1">
            <a:off x="1855419" y="1520070"/>
            <a:ext cx="518003" cy="7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양쪽 화살표 연결선 20">
            <a:extLst>
              <a:ext uri="{FF2B5EF4-FFF2-40B4-BE49-F238E27FC236}">
                <a16:creationId xmlns:a16="http://schemas.microsoft.com/office/drawing/2014/main" id="{5050FD88-7B39-90B7-1FCA-E14B9FC079A0}"/>
              </a:ext>
            </a:extLst>
          </p:cNvPr>
          <p:cNvCxnSpPr>
            <a:cxnSpLocks/>
            <a:stCxn id="49" idx="3"/>
            <a:endCxn id="12" idx="1"/>
          </p:cNvCxnSpPr>
          <p:nvPr/>
        </p:nvCxnSpPr>
        <p:spPr>
          <a:xfrm flipH="1">
            <a:off x="1400683" y="1530951"/>
            <a:ext cx="9763989" cy="1442190"/>
          </a:xfrm>
          <a:prstGeom prst="bentConnector5">
            <a:avLst>
              <a:gd name="adj1" fmla="val -2341"/>
              <a:gd name="adj2" fmla="val 50783"/>
              <a:gd name="adj3" fmla="val 102341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양쪽 화살표 연결선 18">
            <a:extLst>
              <a:ext uri="{FF2B5EF4-FFF2-40B4-BE49-F238E27FC236}">
                <a16:creationId xmlns:a16="http://schemas.microsoft.com/office/drawing/2014/main" id="{E527CE0B-EFFE-FD35-729A-032C4A73E92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088257" y="2754806"/>
            <a:ext cx="664911" cy="2183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양쪽 화살표 연결선 18">
            <a:extLst>
              <a:ext uri="{FF2B5EF4-FFF2-40B4-BE49-F238E27FC236}">
                <a16:creationId xmlns:a16="http://schemas.microsoft.com/office/drawing/2014/main" id="{B6D72026-6FB4-1B73-F158-711B6BFF2CBC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3088257" y="2973141"/>
            <a:ext cx="664911" cy="8246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양쪽 화살표 연결선 20">
            <a:extLst>
              <a:ext uri="{FF2B5EF4-FFF2-40B4-BE49-F238E27FC236}">
                <a16:creationId xmlns:a16="http://schemas.microsoft.com/office/drawing/2014/main" id="{A8F461C8-7C7F-1922-87C5-FDE6AADA274B}"/>
              </a:ext>
            </a:extLst>
          </p:cNvPr>
          <p:cNvCxnSpPr>
            <a:cxnSpLocks/>
            <a:stCxn id="218" idx="3"/>
            <a:endCxn id="25" idx="1"/>
          </p:cNvCxnSpPr>
          <p:nvPr/>
        </p:nvCxnSpPr>
        <p:spPr>
          <a:xfrm flipV="1">
            <a:off x="5258942" y="5007485"/>
            <a:ext cx="244601" cy="4792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양쪽 화살표 연결선 20">
            <a:extLst>
              <a:ext uri="{FF2B5EF4-FFF2-40B4-BE49-F238E27FC236}">
                <a16:creationId xmlns:a16="http://schemas.microsoft.com/office/drawing/2014/main" id="{717B3273-3A06-5D28-939E-C1E05316F045}"/>
              </a:ext>
            </a:extLst>
          </p:cNvPr>
          <p:cNvCxnSpPr>
            <a:cxnSpLocks/>
            <a:stCxn id="218" idx="3"/>
            <a:endCxn id="16" idx="1"/>
          </p:cNvCxnSpPr>
          <p:nvPr/>
        </p:nvCxnSpPr>
        <p:spPr>
          <a:xfrm>
            <a:off x="5258942" y="5486712"/>
            <a:ext cx="244601" cy="5934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양쪽 화살표 연결선 20">
            <a:extLst>
              <a:ext uri="{FF2B5EF4-FFF2-40B4-BE49-F238E27FC236}">
                <a16:creationId xmlns:a16="http://schemas.microsoft.com/office/drawing/2014/main" id="{1A4AA5AA-9DC4-0634-4FF2-F18D2DE18CD2}"/>
              </a:ext>
            </a:extLst>
          </p:cNvPr>
          <p:cNvCxnSpPr>
            <a:cxnSpLocks/>
            <a:stCxn id="231" idx="3"/>
            <a:endCxn id="218" idx="1"/>
          </p:cNvCxnSpPr>
          <p:nvPr/>
        </p:nvCxnSpPr>
        <p:spPr>
          <a:xfrm flipH="1">
            <a:off x="3154788" y="3077234"/>
            <a:ext cx="5399553" cy="2409478"/>
          </a:xfrm>
          <a:prstGeom prst="bentConnector5">
            <a:avLst>
              <a:gd name="adj1" fmla="val -4234"/>
              <a:gd name="adj2" fmla="val 52266"/>
              <a:gd name="adj3" fmla="val 10423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화살표 14">
            <a:extLst>
              <a:ext uri="{FF2B5EF4-FFF2-40B4-BE49-F238E27FC236}">
                <a16:creationId xmlns:a16="http://schemas.microsoft.com/office/drawing/2014/main" id="{EA7D0152-A2F7-948A-192D-6E87224D83E0}"/>
              </a:ext>
            </a:extLst>
          </p:cNvPr>
          <p:cNvCxnSpPr>
            <a:cxnSpLocks/>
            <a:stCxn id="25" idx="3"/>
            <a:endCxn id="207" idx="1"/>
          </p:cNvCxnSpPr>
          <p:nvPr/>
        </p:nvCxnSpPr>
        <p:spPr>
          <a:xfrm flipV="1">
            <a:off x="6964392" y="5007484"/>
            <a:ext cx="5478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화살표 14">
            <a:extLst>
              <a:ext uri="{FF2B5EF4-FFF2-40B4-BE49-F238E27FC236}">
                <a16:creationId xmlns:a16="http://schemas.microsoft.com/office/drawing/2014/main" id="{608F9B70-EB20-B4DA-62CF-55A033638183}"/>
              </a:ext>
            </a:extLst>
          </p:cNvPr>
          <p:cNvCxnSpPr>
            <a:cxnSpLocks/>
            <a:stCxn id="16" idx="3"/>
            <a:endCxn id="212" idx="1"/>
          </p:cNvCxnSpPr>
          <p:nvPr/>
        </p:nvCxnSpPr>
        <p:spPr>
          <a:xfrm flipV="1">
            <a:off x="6964391" y="6080155"/>
            <a:ext cx="54780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8C36E804-7C2C-F33A-08DD-E2370734D9B0}"/>
              </a:ext>
            </a:extLst>
          </p:cNvPr>
          <p:cNvSpPr/>
          <p:nvPr/>
        </p:nvSpPr>
        <p:spPr>
          <a:xfrm>
            <a:off x="429839" y="1148366"/>
            <a:ext cx="1425580" cy="7578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플레이어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en-US" altLang="ko-KR">
                <a:solidFill>
                  <a:srgbClr val="000000"/>
                </a:solidFill>
              </a:rPr>
              <a:t>2</a:t>
            </a:r>
            <a:r>
              <a:rPr lang="ko-KR" altLang="en-US">
                <a:solidFill>
                  <a:srgbClr val="000000"/>
                </a:solidFill>
              </a:rPr>
              <a:t>인 접속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4A94AE49-04F1-8AA2-6634-923DED43A1EE}"/>
              </a:ext>
            </a:extLst>
          </p:cNvPr>
          <p:cNvSpPr/>
          <p:nvPr/>
        </p:nvSpPr>
        <p:spPr>
          <a:xfrm>
            <a:off x="7512197" y="4624518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67890A33-FA56-B7B1-F425-056DB749BC06}"/>
              </a:ext>
            </a:extLst>
          </p:cNvPr>
          <p:cNvSpPr/>
          <p:nvPr/>
        </p:nvSpPr>
        <p:spPr>
          <a:xfrm>
            <a:off x="7512197" y="5697189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34B48A11-9583-38BC-9FC2-C3562B4A0A4D}"/>
              </a:ext>
            </a:extLst>
          </p:cNvPr>
          <p:cNvSpPr/>
          <p:nvPr/>
        </p:nvSpPr>
        <p:spPr>
          <a:xfrm>
            <a:off x="3154788" y="5103746"/>
            <a:ext cx="2104154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</a:p>
        </p:txBody>
      </p:sp>
      <p:sp>
        <p:nvSpPr>
          <p:cNvPr id="231" name="순서도: 천공 테이프 230">
            <a:extLst>
              <a:ext uri="{FF2B5EF4-FFF2-40B4-BE49-F238E27FC236}">
                <a16:creationId xmlns:a16="http://schemas.microsoft.com/office/drawing/2014/main" id="{EC25D784-F19A-1ED0-EC94-F1376817D020}"/>
              </a:ext>
            </a:extLst>
          </p:cNvPr>
          <p:cNvSpPr/>
          <p:nvPr/>
        </p:nvSpPr>
        <p:spPr>
          <a:xfrm>
            <a:off x="6604891" y="2585083"/>
            <a:ext cx="1949450" cy="984302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다른 배달품들도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동일하게 진행</a:t>
            </a: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FFD3E3DD-10B3-9E30-A0FC-53457BA7D122}"/>
              </a:ext>
            </a:extLst>
          </p:cNvPr>
          <p:cNvSpPr/>
          <p:nvPr/>
        </p:nvSpPr>
        <p:spPr>
          <a:xfrm>
            <a:off x="10119048" y="4311423"/>
            <a:ext cx="1714353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특정 플로우의 </a:t>
            </a:r>
            <a:r>
              <a:rPr lang="ko-KR" altLang="en-US">
                <a:solidFill>
                  <a:srgbClr val="000000"/>
                </a:solidFill>
              </a:rPr>
              <a:t>시작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끝</a:t>
            </a:r>
          </a:p>
        </p:txBody>
      </p:sp>
      <p:sp>
        <p:nvSpPr>
          <p:cNvPr id="241" name="순서도: 천공 테이프 240">
            <a:extLst>
              <a:ext uri="{FF2B5EF4-FFF2-40B4-BE49-F238E27FC236}">
                <a16:creationId xmlns:a16="http://schemas.microsoft.com/office/drawing/2014/main" id="{5DF6D138-F63A-80A7-A5E5-C3F4B88289F5}"/>
              </a:ext>
            </a:extLst>
          </p:cNvPr>
          <p:cNvSpPr/>
          <p:nvPr/>
        </p:nvSpPr>
        <p:spPr>
          <a:xfrm>
            <a:off x="10119048" y="5145718"/>
            <a:ext cx="1764061" cy="868959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플로우 진행 중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E88463-8CEF-881D-339F-BB0BACEE4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8E41-5846-43EB-8957-87949D773036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78E336-DBBC-EA3B-E1DA-622CB4446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44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F2C51-B8C4-72D8-74C2-35F7B3F2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멀티 구현 계획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BACA19B-454F-993F-17CE-C7FDEE4CB7F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CDCA1B-CE8B-BA08-85AC-522463C518A3}"/>
              </a:ext>
            </a:extLst>
          </p:cNvPr>
          <p:cNvSpPr/>
          <p:nvPr/>
        </p:nvSpPr>
        <p:spPr>
          <a:xfrm>
            <a:off x="3457322" y="1446836"/>
            <a:ext cx="707571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엔진의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Listen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Server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를</a:t>
            </a:r>
            <a:r>
              <a:rPr lang="ko-KR" altLang="en-US" dirty="0">
                <a:solidFill>
                  <a:sysClr val="windowText" lastClr="000000"/>
                </a:solidFill>
              </a:rPr>
              <a:t> 통해 구현</a:t>
            </a: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BDC55493-A257-23BE-43B0-6D5F07E7B46D}"/>
              </a:ext>
            </a:extLst>
          </p:cNvPr>
          <p:cNvSpPr/>
          <p:nvPr/>
        </p:nvSpPr>
        <p:spPr>
          <a:xfrm>
            <a:off x="1998636" y="1446836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r>
              <a:rPr lang="ko-KR" altLang="en-US" dirty="0">
                <a:solidFill>
                  <a:sysClr val="windowText" lastClr="000000"/>
                </a:solidFill>
              </a:rPr>
              <a:t>인 멀티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94C5AD-4727-0AA1-6366-B57D518A507D}"/>
              </a:ext>
            </a:extLst>
          </p:cNvPr>
          <p:cNvSpPr/>
          <p:nvPr/>
        </p:nvSpPr>
        <p:spPr>
          <a:xfrm>
            <a:off x="3457322" y="2597027"/>
            <a:ext cx="7075714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r>
              <a:rPr lang="ko-KR" altLang="en-US" dirty="0">
                <a:solidFill>
                  <a:sysClr val="windowText" lastClr="000000"/>
                </a:solidFill>
              </a:rPr>
              <a:t>명의 </a:t>
            </a:r>
            <a:r>
              <a:rPr lang="ko-KR" altLang="ko-KR" dirty="0">
                <a:solidFill>
                  <a:sysClr val="windowText" lastClr="000000"/>
                </a:solidFill>
              </a:rPr>
              <a:t>플레이어 간 게임 상태 및 행동 동기화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화물 상태, 몬스터 생태계, 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플레이어의 협동 행동 공유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E4F4A63B-4E94-48BF-F2DE-690E8239F6B9}"/>
              </a:ext>
            </a:extLst>
          </p:cNvPr>
          <p:cNvSpPr/>
          <p:nvPr/>
        </p:nvSpPr>
        <p:spPr>
          <a:xfrm>
            <a:off x="2009511" y="2597027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02B678E-4DC1-500C-1F79-05AB8F295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873" y="3979654"/>
            <a:ext cx="6152178" cy="2166352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72893D-2116-4491-FA11-679B78D68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82838-522B-45DA-BE36-90DBE328A7ED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DD5DDA-28B9-1537-650A-140D917B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43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A9B4F-A65A-750D-C0EB-43013103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19408-1360-0951-37B4-FE64C5EBC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3BEB54F8-DF88-2643-CF3F-A99251FAD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1BAB-6714-4163-82E8-A68EEA7006F7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D9E737-9EDB-9D61-5C5C-6C31517A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595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D9241-79B3-37D9-7734-9FF6357F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3B5D659-65D4-98E3-D1BE-9BA9A2B36C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83" y="1293415"/>
            <a:ext cx="4731504" cy="4808786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4E6293-565F-03C4-5B79-01CA873D73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주거지 </a:t>
            </a:r>
            <a:r>
              <a:rPr lang="en-US" altLang="ko-KR" dirty="0"/>
              <a:t>: 5 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/>
              <a:t>지형 </a:t>
            </a:r>
            <a:r>
              <a:rPr lang="en-US" altLang="ko-KR" dirty="0"/>
              <a:t>: </a:t>
            </a:r>
            <a:r>
              <a:rPr lang="ko-KR" altLang="en-US" dirty="0"/>
              <a:t>숲</a:t>
            </a:r>
            <a:r>
              <a:rPr lang="en-US" altLang="ko-KR" dirty="0"/>
              <a:t>, </a:t>
            </a:r>
            <a:r>
              <a:rPr lang="ko-KR" altLang="en-US" dirty="0"/>
              <a:t>산</a:t>
            </a:r>
            <a:r>
              <a:rPr lang="en-US" altLang="ko-KR" dirty="0"/>
              <a:t>, </a:t>
            </a:r>
            <a:r>
              <a:rPr lang="ko-KR" altLang="en-US" dirty="0"/>
              <a:t>강</a:t>
            </a:r>
            <a:r>
              <a:rPr lang="en-US" altLang="ko-KR" dirty="0"/>
              <a:t>, </a:t>
            </a:r>
            <a:r>
              <a:rPr lang="ko-KR" altLang="en-US" dirty="0"/>
              <a:t>모래언덕</a:t>
            </a:r>
            <a:r>
              <a:rPr lang="en-US" altLang="ko-KR" dirty="0"/>
              <a:t>, </a:t>
            </a:r>
            <a:r>
              <a:rPr lang="ko-KR" altLang="en-US" dirty="0"/>
              <a:t>늪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산 </a:t>
            </a:r>
            <a:r>
              <a:rPr lang="en-US" altLang="ko-KR" dirty="0"/>
              <a:t>: </a:t>
            </a:r>
            <a:r>
              <a:rPr lang="ko-KR" altLang="en-US" dirty="0"/>
              <a:t>일반적인 방법으로는</a:t>
            </a:r>
            <a:br>
              <a:rPr lang="en-US" altLang="ko-KR" dirty="0"/>
            </a:br>
            <a:r>
              <a:rPr lang="ko-KR" altLang="en-US" dirty="0"/>
              <a:t>지나갈 수 없을 정도로 강한 존재가 있음</a:t>
            </a:r>
            <a:endParaRPr lang="en-US" altLang="ko-KR" dirty="0"/>
          </a:p>
          <a:p>
            <a:r>
              <a:rPr lang="ko-KR" altLang="en-US" dirty="0"/>
              <a:t>모래언덕 </a:t>
            </a:r>
            <a:r>
              <a:rPr lang="en-US" altLang="ko-KR" dirty="0"/>
              <a:t>: </a:t>
            </a:r>
            <a:r>
              <a:rPr lang="ko-KR" altLang="en-US" dirty="0"/>
              <a:t>몬스터</a:t>
            </a:r>
            <a:r>
              <a:rPr lang="en-US" altLang="ko-KR" dirty="0"/>
              <a:t>/</a:t>
            </a:r>
            <a:r>
              <a:rPr lang="ko-KR" altLang="en-US" dirty="0"/>
              <a:t>생물 없음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AD10239-9783-2237-1C6F-0FCA432FF6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0" name="날짜 개체 틀 9">
            <a:extLst>
              <a:ext uri="{FF2B5EF4-FFF2-40B4-BE49-F238E27FC236}">
                <a16:creationId xmlns:a16="http://schemas.microsoft.com/office/drawing/2014/main" id="{2CB1C407-071E-AD0F-1A5F-798D24A3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15CB-5935-4F11-935C-9C0AD5619A1E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A67D733-77DD-11CE-798C-29A11F03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822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00DDE-0906-FC8D-58B6-95985F60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5889B58-BCF1-B3D9-1AC1-037522E0F1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750CDE-980B-7773-CE68-54A3FCBD3B52}"/>
              </a:ext>
            </a:extLst>
          </p:cNvPr>
          <p:cNvSpPr/>
          <p:nvPr/>
        </p:nvSpPr>
        <p:spPr>
          <a:xfrm>
            <a:off x="7058821" y="2029088"/>
            <a:ext cx="721259" cy="45424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36438FF-507B-870C-936B-BE08A6DB07CD}"/>
              </a:ext>
            </a:extLst>
          </p:cNvPr>
          <p:cNvSpPr/>
          <p:nvPr/>
        </p:nvSpPr>
        <p:spPr>
          <a:xfrm>
            <a:off x="6815969" y="2999054"/>
            <a:ext cx="213825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 </a:t>
            </a:r>
            <a:r>
              <a:rPr lang="en-US" altLang="ko-KR" dirty="0">
                <a:solidFill>
                  <a:srgbClr val="000000"/>
                </a:solidFill>
              </a:rPr>
              <a:t>: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[30T]</a:t>
            </a:r>
            <a:r>
              <a:rPr lang="ko-KR" altLang="en-US" dirty="0">
                <a:solidFill>
                  <a:srgbClr val="000000"/>
                </a:solidFill>
              </a:rPr>
              <a:t>로 증가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</a:p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기억 활성화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36" name="꺾인 양쪽 화살표 연결선 18">
            <a:extLst>
              <a:ext uri="{FF2B5EF4-FFF2-40B4-BE49-F238E27FC236}">
                <a16:creationId xmlns:a16="http://schemas.microsoft.com/office/drawing/2014/main" id="{EA5EE0CD-6DE1-F1E1-9FA4-953AA954B678}"/>
              </a:ext>
            </a:extLst>
          </p:cNvPr>
          <p:cNvCxnSpPr>
            <a:cxnSpLocks/>
            <a:stCxn id="53" idx="0"/>
            <a:endCxn id="32" idx="1"/>
          </p:cNvCxnSpPr>
          <p:nvPr/>
        </p:nvCxnSpPr>
        <p:spPr>
          <a:xfrm>
            <a:off x="5952226" y="3097413"/>
            <a:ext cx="863743" cy="227326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8E4D8DF-F5C3-FC3E-2FD0-AA56254CC7E5}"/>
              </a:ext>
            </a:extLst>
          </p:cNvPr>
          <p:cNvSpPr/>
          <p:nvPr/>
        </p:nvSpPr>
        <p:spPr>
          <a:xfrm>
            <a:off x="3644569" y="1527208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생물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벌</a:t>
            </a:r>
          </a:p>
        </p:txBody>
      </p:sp>
      <p:sp>
        <p:nvSpPr>
          <p:cNvPr id="53" name="육각형 52">
            <a:extLst>
              <a:ext uri="{FF2B5EF4-FFF2-40B4-BE49-F238E27FC236}">
                <a16:creationId xmlns:a16="http://schemas.microsoft.com/office/drawing/2014/main" id="{B500CAD0-3D19-623E-D213-CE83747B0E05}"/>
              </a:ext>
            </a:extLst>
          </p:cNvPr>
          <p:cNvSpPr/>
          <p:nvPr/>
        </p:nvSpPr>
        <p:spPr>
          <a:xfrm>
            <a:off x="4296831" y="2752314"/>
            <a:ext cx="1655395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벌집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저격 당함</a:t>
            </a:r>
          </a:p>
        </p:txBody>
      </p:sp>
      <p:cxnSp>
        <p:nvCxnSpPr>
          <p:cNvPr id="65" name="꺾인 양쪽 화살표 연결선 18">
            <a:extLst>
              <a:ext uri="{FF2B5EF4-FFF2-40B4-BE49-F238E27FC236}">
                <a16:creationId xmlns:a16="http://schemas.microsoft.com/office/drawing/2014/main" id="{D94BC165-8346-FDBB-557A-85830FFEC502}"/>
              </a:ext>
            </a:extLst>
          </p:cNvPr>
          <p:cNvCxnSpPr>
            <a:cxnSpLocks/>
            <a:stCxn id="78" idx="0"/>
            <a:endCxn id="10" idx="1"/>
          </p:cNvCxnSpPr>
          <p:nvPr/>
        </p:nvCxnSpPr>
        <p:spPr>
          <a:xfrm>
            <a:off x="6451950" y="1911112"/>
            <a:ext cx="606871" cy="34509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403A14B-A0D5-1195-D931-AA09924182A2}"/>
              </a:ext>
            </a:extLst>
          </p:cNvPr>
          <p:cNvSpPr txBox="1"/>
          <p:nvPr/>
        </p:nvSpPr>
        <p:spPr>
          <a:xfrm>
            <a:off x="175346" y="814353"/>
            <a:ext cx="3139645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</a:t>
            </a:r>
            <a:r>
              <a:rPr lang="en-US" altLang="ko-KR" dirty="0"/>
              <a:t>: </a:t>
            </a:r>
            <a:r>
              <a:rPr lang="ko-KR" altLang="en-US" dirty="0"/>
              <a:t>방해 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 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 </a:t>
            </a: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플레이어가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미소지 상태에서도 방해를 진행함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기억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스탯은</a:t>
            </a:r>
            <a:r>
              <a:rPr lang="ko-KR" altLang="en-US" dirty="0">
                <a:solidFill>
                  <a:sysClr val="windowText" lastClr="000000"/>
                </a:solidFill>
              </a:rPr>
              <a:t> 제거 불가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78" name="육각형 77">
            <a:extLst>
              <a:ext uri="{FF2B5EF4-FFF2-40B4-BE49-F238E27FC236}">
                <a16:creationId xmlns:a16="http://schemas.microsoft.com/office/drawing/2014/main" id="{CBFEB431-A16E-9B12-1D5D-63C1D0E4A5A4}"/>
              </a:ext>
            </a:extLst>
          </p:cNvPr>
          <p:cNvSpPr/>
          <p:nvPr/>
        </p:nvSpPr>
        <p:spPr>
          <a:xfrm>
            <a:off x="5160766" y="1566013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꿀 인식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767A3001-CCAE-8569-CE94-82CDBEB98D37}"/>
              </a:ext>
            </a:extLst>
          </p:cNvPr>
          <p:cNvCxnSpPr>
            <a:cxnSpLocks/>
            <a:stCxn id="78" idx="3"/>
            <a:endCxn id="43" idx="3"/>
          </p:cNvCxnSpPr>
          <p:nvPr/>
        </p:nvCxnSpPr>
        <p:spPr>
          <a:xfrm rot="10800000">
            <a:off x="4831190" y="1852894"/>
            <a:ext cx="329577" cy="582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5C898089-26A6-140C-0DCE-4F47DBD9F862}"/>
              </a:ext>
            </a:extLst>
          </p:cNvPr>
          <p:cNvCxnSpPr>
            <a:cxnSpLocks/>
            <a:stCxn id="53" idx="3"/>
            <a:endCxn id="43" idx="2"/>
          </p:cNvCxnSpPr>
          <p:nvPr/>
        </p:nvCxnSpPr>
        <p:spPr>
          <a:xfrm rot="10800000">
            <a:off x="4237879" y="2178579"/>
            <a:ext cx="58952" cy="91883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배지 124">
            <a:extLst>
              <a:ext uri="{FF2B5EF4-FFF2-40B4-BE49-F238E27FC236}">
                <a16:creationId xmlns:a16="http://schemas.microsoft.com/office/drawing/2014/main" id="{84FB7C6B-A2C4-9B63-93A0-56EE3B858A07}"/>
              </a:ext>
            </a:extLst>
          </p:cNvPr>
          <p:cNvSpPr/>
          <p:nvPr/>
        </p:nvSpPr>
        <p:spPr>
          <a:xfrm>
            <a:off x="9389864" y="3111120"/>
            <a:ext cx="1094106" cy="66278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활성화</a:t>
            </a:r>
          </a:p>
        </p:txBody>
      </p:sp>
      <p:cxnSp>
        <p:nvCxnSpPr>
          <p:cNvPr id="128" name="꺾인 양쪽 화살표 연결선 18">
            <a:extLst>
              <a:ext uri="{FF2B5EF4-FFF2-40B4-BE49-F238E27FC236}">
                <a16:creationId xmlns:a16="http://schemas.microsoft.com/office/drawing/2014/main" id="{E843FF79-AE37-F5EB-EB6F-E57DC94FE757}"/>
              </a:ext>
            </a:extLst>
          </p:cNvPr>
          <p:cNvCxnSpPr>
            <a:cxnSpLocks/>
            <a:stCxn id="32" idx="3"/>
            <a:endCxn id="125" idx="1"/>
          </p:cNvCxnSpPr>
          <p:nvPr/>
        </p:nvCxnSpPr>
        <p:spPr>
          <a:xfrm>
            <a:off x="8954219" y="3324739"/>
            <a:ext cx="435645" cy="11777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양쪽 화살표 연결선 18">
            <a:extLst>
              <a:ext uri="{FF2B5EF4-FFF2-40B4-BE49-F238E27FC236}">
                <a16:creationId xmlns:a16="http://schemas.microsoft.com/office/drawing/2014/main" id="{B56976AC-6FBC-875A-E681-2FCD1B73471F}"/>
              </a:ext>
            </a:extLst>
          </p:cNvPr>
          <p:cNvCxnSpPr>
            <a:cxnSpLocks/>
            <a:stCxn id="125" idx="3"/>
            <a:endCxn id="10" idx="1"/>
          </p:cNvCxnSpPr>
          <p:nvPr/>
        </p:nvCxnSpPr>
        <p:spPr>
          <a:xfrm flipH="1" flipV="1">
            <a:off x="7058821" y="2256211"/>
            <a:ext cx="3425149" cy="1186301"/>
          </a:xfrm>
          <a:prstGeom prst="bentConnector5">
            <a:avLst>
              <a:gd name="adj1" fmla="val -6674"/>
              <a:gd name="adj2" fmla="val 54395"/>
              <a:gd name="adj3" fmla="val 106674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육각형 146">
            <a:extLst>
              <a:ext uri="{FF2B5EF4-FFF2-40B4-BE49-F238E27FC236}">
                <a16:creationId xmlns:a16="http://schemas.microsoft.com/office/drawing/2014/main" id="{DD409C54-AA99-B28E-D5BA-1A47E5062A2F}"/>
              </a:ext>
            </a:extLst>
          </p:cNvPr>
          <p:cNvSpPr/>
          <p:nvPr/>
        </p:nvSpPr>
        <p:spPr>
          <a:xfrm>
            <a:off x="315943" y="3874405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/</a:t>
            </a:r>
            <a:r>
              <a:rPr lang="ko-KR" altLang="en-US" dirty="0">
                <a:solidFill>
                  <a:sysClr val="windowText" lastClr="000000"/>
                </a:solidFill>
              </a:rPr>
              <a:t>판단</a:t>
            </a:r>
          </a:p>
        </p:txBody>
      </p:sp>
      <p:sp>
        <p:nvSpPr>
          <p:cNvPr id="149" name="배지 148">
            <a:extLst>
              <a:ext uri="{FF2B5EF4-FFF2-40B4-BE49-F238E27FC236}">
                <a16:creationId xmlns:a16="http://schemas.microsoft.com/office/drawing/2014/main" id="{F0230DC3-C964-C99E-73D1-E627296D0ABA}"/>
              </a:ext>
            </a:extLst>
          </p:cNvPr>
          <p:cNvSpPr/>
          <p:nvPr/>
        </p:nvSpPr>
        <p:spPr>
          <a:xfrm>
            <a:off x="1792471" y="3773903"/>
            <a:ext cx="1176977" cy="805683"/>
          </a:xfrm>
          <a:prstGeom prst="plaqu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상태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8A1733-F3B2-652E-4495-A5081C3D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7D24-2CAA-4876-B233-E2CBDD55D5AC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9511E1-E2B2-9621-D7E1-11713604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462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D21BC-AFB8-A644-933F-ECD8BA69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B6F69-8401-C006-DD71-CD1903448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구현 계획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5C7CEF2-FFAC-E2FE-2F4F-BE2240B135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0FC506-7471-8680-9A9F-DCB7230DC01F}"/>
              </a:ext>
            </a:extLst>
          </p:cNvPr>
          <p:cNvSpPr/>
          <p:nvPr/>
        </p:nvSpPr>
        <p:spPr>
          <a:xfrm>
            <a:off x="3457322" y="1061519"/>
            <a:ext cx="707571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>
                <a:solidFill>
                  <a:sysClr val="windowText" lastClr="000000"/>
                </a:solidFill>
              </a:rPr>
              <a:t>Behavior</a:t>
            </a:r>
            <a:r>
              <a:rPr lang="ko-KR" altLang="ko-KR" dirty="0">
                <a:solidFill>
                  <a:sysClr val="windowText" lastClr="000000"/>
                </a:solidFill>
              </a:rPr>
              <a:t> Tree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AI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Perception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3E89A626-81B1-EE28-FC48-329EDBC9BAC3}"/>
              </a:ext>
            </a:extLst>
          </p:cNvPr>
          <p:cNvSpPr/>
          <p:nvPr/>
        </p:nvSpPr>
        <p:spPr>
          <a:xfrm>
            <a:off x="1998636" y="1061519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 행동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흐름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4A4A42-5D72-218A-4DA3-CF71B652E5F9}"/>
              </a:ext>
            </a:extLst>
          </p:cNvPr>
          <p:cNvSpPr/>
          <p:nvPr/>
        </p:nvSpPr>
        <p:spPr>
          <a:xfrm>
            <a:off x="3457322" y="2062184"/>
            <a:ext cx="7075714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생물의 행동 흐름 관리 및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배송품</a:t>
            </a:r>
            <a:r>
              <a:rPr lang="ko-KR" altLang="en-US" dirty="0">
                <a:solidFill>
                  <a:sysClr val="windowText" lastClr="000000"/>
                </a:solidFill>
              </a:rPr>
              <a:t> 감지</a:t>
            </a: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B1BD872C-6B01-A626-3805-37F5A0BB236A}"/>
              </a:ext>
            </a:extLst>
          </p:cNvPr>
          <p:cNvSpPr/>
          <p:nvPr/>
        </p:nvSpPr>
        <p:spPr>
          <a:xfrm>
            <a:off x="2009511" y="2062184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B234B4-A72F-F86A-5C2E-001FE091330D}"/>
              </a:ext>
            </a:extLst>
          </p:cNvPr>
          <p:cNvSpPr/>
          <p:nvPr/>
        </p:nvSpPr>
        <p:spPr>
          <a:xfrm>
            <a:off x="3457322" y="3847854"/>
            <a:ext cx="707571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서버가 기억 상태 저장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 err="1">
                <a:solidFill>
                  <a:sysClr val="windowText" lastClr="000000"/>
                </a:solidFill>
              </a:rPr>
              <a:t>Replicated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Variable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로</a:t>
            </a:r>
            <a:r>
              <a:rPr lang="ko-KR" altLang="en-US" dirty="0">
                <a:solidFill>
                  <a:sysClr val="windowText" lastClr="000000"/>
                </a:solidFill>
              </a:rPr>
              <a:t> 상대에게 상태를 전달</a:t>
            </a: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C0029B9E-723C-D415-FA5D-00D5ABA2DB6D}"/>
              </a:ext>
            </a:extLst>
          </p:cNvPr>
          <p:cNvSpPr/>
          <p:nvPr/>
        </p:nvSpPr>
        <p:spPr>
          <a:xfrm>
            <a:off x="1998636" y="3847854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 상태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CF5BC1-00E9-C846-2C5C-B389C0D042B5}"/>
              </a:ext>
            </a:extLst>
          </p:cNvPr>
          <p:cNvSpPr/>
          <p:nvPr/>
        </p:nvSpPr>
        <p:spPr>
          <a:xfrm>
            <a:off x="3457322" y="4848519"/>
            <a:ext cx="7075714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벌의 </a:t>
            </a:r>
            <a:r>
              <a:rPr lang="ko-KR" altLang="ko-KR" dirty="0">
                <a:solidFill>
                  <a:sysClr val="windowText" lastClr="000000"/>
                </a:solidFill>
              </a:rPr>
              <a:t>기억 상태나 방해 상태를 멀티플레이에 동기화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화살표: 오각형 17">
            <a:extLst>
              <a:ext uri="{FF2B5EF4-FFF2-40B4-BE49-F238E27FC236}">
                <a16:creationId xmlns:a16="http://schemas.microsoft.com/office/drawing/2014/main" id="{C80660B0-319E-F35C-A32F-6E4B7A704295}"/>
              </a:ext>
            </a:extLst>
          </p:cNvPr>
          <p:cNvSpPr/>
          <p:nvPr/>
        </p:nvSpPr>
        <p:spPr>
          <a:xfrm>
            <a:off x="2009511" y="4848519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C4445C-6706-3EBF-9525-61CA68CAF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7F442-498B-4DB2-AB17-B1698D9D7579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73E46C4-06AA-1C51-8159-A203AF8C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50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9B108-C7FB-752A-B8FF-FD74F9A3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꿀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A8B8630-EB4F-A5EB-39E9-475AD1C752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56F6801E-A777-D7E2-3F7D-FE70833DC17E}"/>
              </a:ext>
            </a:extLst>
          </p:cNvPr>
          <p:cNvCxnSpPr>
            <a:cxnSpLocks/>
            <a:stCxn id="37" idx="3"/>
            <a:endCxn id="48" idx="1"/>
          </p:cNvCxnSpPr>
          <p:nvPr/>
        </p:nvCxnSpPr>
        <p:spPr>
          <a:xfrm>
            <a:off x="8503153" y="4148177"/>
            <a:ext cx="864860" cy="197339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양쪽 화살표 연결선 18">
            <a:extLst>
              <a:ext uri="{FF2B5EF4-FFF2-40B4-BE49-F238E27FC236}">
                <a16:creationId xmlns:a16="http://schemas.microsoft.com/office/drawing/2014/main" id="{EAE3C6E4-905B-F746-6227-97B6038FD9CE}"/>
              </a:ext>
            </a:extLst>
          </p:cNvPr>
          <p:cNvCxnSpPr>
            <a:cxnSpLocks/>
            <a:stCxn id="129" idx="3"/>
            <a:endCxn id="29" idx="1"/>
          </p:cNvCxnSpPr>
          <p:nvPr/>
        </p:nvCxnSpPr>
        <p:spPr>
          <a:xfrm flipV="1">
            <a:off x="2219172" y="2994316"/>
            <a:ext cx="501944" cy="66550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179219-7D61-354A-E365-1F27ABBEE98F}"/>
              </a:ext>
            </a:extLst>
          </p:cNvPr>
          <p:cNvSpPr/>
          <p:nvPr/>
        </p:nvSpPr>
        <p:spPr>
          <a:xfrm>
            <a:off x="2721116" y="2668631"/>
            <a:ext cx="1897821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a_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[40T]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F3819E-3AFB-EA66-9364-82EF1C520019}"/>
              </a:ext>
            </a:extLst>
          </p:cNvPr>
          <p:cNvSpPr/>
          <p:nvPr/>
        </p:nvSpPr>
        <p:spPr>
          <a:xfrm>
            <a:off x="2676829" y="3989070"/>
            <a:ext cx="19421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b_</a:t>
            </a:r>
            <a:r>
              <a:rPr lang="ko-KR" altLang="en-US" dirty="0">
                <a:solidFill>
                  <a:srgbClr val="000000"/>
                </a:solidFill>
              </a:rPr>
              <a:t>모래언덕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[80T]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17D59C-8575-F0A7-0903-28793FD4E8D3}"/>
              </a:ext>
            </a:extLst>
          </p:cNvPr>
          <p:cNvSpPr/>
          <p:nvPr/>
        </p:nvSpPr>
        <p:spPr>
          <a:xfrm>
            <a:off x="6513951" y="1404947"/>
            <a:ext cx="19477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a_a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[20T]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AA3893-299B-A643-F7AB-7FAF127ACB8F}"/>
              </a:ext>
            </a:extLst>
          </p:cNvPr>
          <p:cNvSpPr/>
          <p:nvPr/>
        </p:nvSpPr>
        <p:spPr>
          <a:xfrm>
            <a:off x="6561043" y="3822492"/>
            <a:ext cx="194211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a_b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늪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[10T]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ADAD90DE-F6E9-A2FB-0C2C-B653BCD7729D}"/>
              </a:ext>
            </a:extLst>
          </p:cNvPr>
          <p:cNvCxnSpPr>
            <a:cxnSpLocks/>
            <a:stCxn id="129" idx="3"/>
            <a:endCxn id="33" idx="1"/>
          </p:cNvCxnSpPr>
          <p:nvPr/>
        </p:nvCxnSpPr>
        <p:spPr>
          <a:xfrm>
            <a:off x="2219172" y="3659817"/>
            <a:ext cx="457657" cy="65493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84C43D-6067-0DF0-B9A6-B76471F4F9D7}"/>
              </a:ext>
            </a:extLst>
          </p:cNvPr>
          <p:cNvSpPr/>
          <p:nvPr/>
        </p:nvSpPr>
        <p:spPr>
          <a:xfrm>
            <a:off x="9368013" y="5795886"/>
            <a:ext cx="1316825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도착</a:t>
            </a:r>
          </a:p>
        </p:txBody>
      </p:sp>
      <p:cxnSp>
        <p:nvCxnSpPr>
          <p:cNvPr id="52" name="꺾인 양쪽 화살표 연결선 18">
            <a:extLst>
              <a:ext uri="{FF2B5EF4-FFF2-40B4-BE49-F238E27FC236}">
                <a16:creationId xmlns:a16="http://schemas.microsoft.com/office/drawing/2014/main" id="{D7DA4324-C9E0-8070-3D26-EBAE550692AB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8461658" y="1730632"/>
            <a:ext cx="906355" cy="4390939"/>
          </a:xfrm>
          <a:prstGeom prst="bentConnector3">
            <a:avLst>
              <a:gd name="adj1" fmla="val 65863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양쪽 화살표 연결선 18">
            <a:extLst>
              <a:ext uri="{FF2B5EF4-FFF2-40B4-BE49-F238E27FC236}">
                <a16:creationId xmlns:a16="http://schemas.microsoft.com/office/drawing/2014/main" id="{AA4BF786-2129-746A-9AA3-9A21F4DA95DC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4618936" y="4314755"/>
            <a:ext cx="4749077" cy="1806816"/>
          </a:xfrm>
          <a:prstGeom prst="bentConnector3">
            <a:avLst>
              <a:gd name="adj1" fmla="val 16038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양쪽 화살표 연결선 18">
            <a:extLst>
              <a:ext uri="{FF2B5EF4-FFF2-40B4-BE49-F238E27FC236}">
                <a16:creationId xmlns:a16="http://schemas.microsoft.com/office/drawing/2014/main" id="{33A2FA1F-665E-2689-2ACB-CEAC982402CF}"/>
              </a:ext>
            </a:extLst>
          </p:cNvPr>
          <p:cNvCxnSpPr>
            <a:cxnSpLocks/>
            <a:stCxn id="29" idx="3"/>
            <a:endCxn id="37" idx="1"/>
          </p:cNvCxnSpPr>
          <p:nvPr/>
        </p:nvCxnSpPr>
        <p:spPr>
          <a:xfrm>
            <a:off x="4618937" y="2994316"/>
            <a:ext cx="1942106" cy="115386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3D03D58E-FB20-BB79-DE7C-06A42C45BB70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18937" y="1730632"/>
            <a:ext cx="1895014" cy="126368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다이아몬드 90">
            <a:extLst>
              <a:ext uri="{FF2B5EF4-FFF2-40B4-BE49-F238E27FC236}">
                <a16:creationId xmlns:a16="http://schemas.microsoft.com/office/drawing/2014/main" id="{74CC2370-1DBC-167A-14C8-CAF8233671AE}"/>
              </a:ext>
            </a:extLst>
          </p:cNvPr>
          <p:cNvSpPr/>
          <p:nvPr/>
        </p:nvSpPr>
        <p:spPr>
          <a:xfrm>
            <a:off x="2448748" y="4656985"/>
            <a:ext cx="2390498" cy="169318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1/3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94" name="다이아몬드 93">
            <a:extLst>
              <a:ext uri="{FF2B5EF4-FFF2-40B4-BE49-F238E27FC236}">
                <a16:creationId xmlns:a16="http://schemas.microsoft.com/office/drawing/2014/main" id="{7A49AC89-C484-B2DE-89BB-FD81F1C06155}"/>
              </a:ext>
            </a:extLst>
          </p:cNvPr>
          <p:cNvSpPr/>
          <p:nvPr/>
        </p:nvSpPr>
        <p:spPr>
          <a:xfrm>
            <a:off x="6340736" y="4473562"/>
            <a:ext cx="2390498" cy="122258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1/2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965E803D-03E1-AABC-C5D7-6F77D3F2729E}"/>
              </a:ext>
            </a:extLst>
          </p:cNvPr>
          <p:cNvSpPr/>
          <p:nvPr/>
        </p:nvSpPr>
        <p:spPr>
          <a:xfrm>
            <a:off x="4624535" y="2343962"/>
            <a:ext cx="2190204" cy="13007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강탈 시도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[20T]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A8042C3D-45F7-D27A-3EBC-34591A33679D}"/>
              </a:ext>
            </a:extLst>
          </p:cNvPr>
          <p:cNvSpPr/>
          <p:nvPr/>
        </p:nvSpPr>
        <p:spPr>
          <a:xfrm>
            <a:off x="8467256" y="901440"/>
            <a:ext cx="3601601" cy="1677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방해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601F852-A91A-A0DF-CC44-F42BB55A71EC}"/>
              </a:ext>
            </a:extLst>
          </p:cNvPr>
          <p:cNvGrpSpPr/>
          <p:nvPr/>
        </p:nvGrpSpPr>
        <p:grpSpPr>
          <a:xfrm>
            <a:off x="123144" y="802178"/>
            <a:ext cx="3822004" cy="1477328"/>
            <a:chOff x="9079016" y="0"/>
            <a:chExt cx="4347338" cy="147732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C55629-E4F3-57CF-CC18-E93B5BE95B2E}"/>
                </a:ext>
              </a:extLst>
            </p:cNvPr>
            <p:cNvSpPr txBox="1"/>
            <p:nvPr/>
          </p:nvSpPr>
          <p:spPr>
            <a:xfrm>
              <a:off x="9079016" y="0"/>
              <a:ext cx="4347338" cy="147732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제한시간 </a:t>
              </a:r>
              <a:r>
                <a:rPr lang="en-US" altLang="ko-KR" dirty="0"/>
                <a:t>= 100T (T</a:t>
              </a:r>
              <a:r>
                <a:rPr lang="ko-KR" altLang="en-US" dirty="0"/>
                <a:t>는 임의의 수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en-US" altLang="ko-KR" dirty="0"/>
                <a:t>[n*T] : </a:t>
              </a:r>
              <a:r>
                <a:rPr lang="ko-KR" altLang="en-US" dirty="0"/>
                <a:t>직선 거리기반 예측 시간</a:t>
              </a:r>
              <a:endParaRPr lang="en-US" altLang="ko-KR" dirty="0"/>
            </a:p>
            <a:p>
              <a:r>
                <a:rPr lang="en-US" altLang="ko-KR" dirty="0"/>
                <a:t>     : 1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거리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2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지형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3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생물 기반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97" name="다이아몬드 96">
              <a:extLst>
                <a:ext uri="{FF2B5EF4-FFF2-40B4-BE49-F238E27FC236}">
                  <a16:creationId xmlns:a16="http://schemas.microsoft.com/office/drawing/2014/main" id="{5611A8C6-9AFC-15AE-4E74-434A6FECAF3A}"/>
                </a:ext>
              </a:extLst>
            </p:cNvPr>
            <p:cNvSpPr/>
            <p:nvPr/>
          </p:nvSpPr>
          <p:spPr>
            <a:xfrm>
              <a:off x="9120807" y="904332"/>
              <a:ext cx="398820" cy="271347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32C9CC5E-83D7-4903-86B4-80FF36DDA064}"/>
                </a:ext>
              </a:extLst>
            </p:cNvPr>
            <p:cNvSpPr/>
            <p:nvPr/>
          </p:nvSpPr>
          <p:spPr>
            <a:xfrm>
              <a:off x="9137515" y="652463"/>
              <a:ext cx="365403" cy="2247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1225554-CD4A-1C98-996D-29327B292E34}"/>
                </a:ext>
              </a:extLst>
            </p:cNvPr>
            <p:cNvSpPr/>
            <p:nvPr/>
          </p:nvSpPr>
          <p:spPr>
            <a:xfrm>
              <a:off x="9137515" y="1203406"/>
              <a:ext cx="339383" cy="2208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F28FC141-8401-ECBB-69D9-2C923EE18BCD}"/>
              </a:ext>
            </a:extLst>
          </p:cNvPr>
          <p:cNvSpPr/>
          <p:nvPr/>
        </p:nvSpPr>
        <p:spPr>
          <a:xfrm>
            <a:off x="351333" y="3260695"/>
            <a:ext cx="1867839" cy="79824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배달품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꿀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ko-KR" altLang="en-US">
                <a:solidFill>
                  <a:srgbClr val="000000"/>
                </a:solidFill>
              </a:rPr>
              <a:t>배송지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주거지</a:t>
            </a:r>
            <a:r>
              <a:rPr lang="en-US" altLang="ko-KR">
                <a:solidFill>
                  <a:srgbClr val="000000"/>
                </a:solidFill>
              </a:rPr>
              <a:t>3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CF8B0D-463D-6EF7-789B-A5F74C174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5ED-67EA-4877-93D4-C60BFC02D928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533049-64BA-06EF-6FAA-A3810F34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561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18B30-7F03-02EC-39B9-2E52F1A6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도우미 </a:t>
            </a:r>
            <a:r>
              <a:rPr lang="en-US" altLang="ko-KR" dirty="0"/>
              <a:t>AI</a:t>
            </a:r>
            <a:r>
              <a:rPr lang="ko-KR" altLang="en-US" dirty="0"/>
              <a:t> 구현 계획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909B55-7CAE-4747-DF68-93099566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95E6-717A-4F75-ADB4-B202670E9437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D40EE3-21B5-3C3B-9239-F3851A437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4A80355-FD95-48B5-8E7E-4A19AC3FBF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연구과제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ED5735-58BD-AD2A-5BD7-69A82B6CBDD7}"/>
              </a:ext>
            </a:extLst>
          </p:cNvPr>
          <p:cNvSpPr/>
          <p:nvPr/>
        </p:nvSpPr>
        <p:spPr>
          <a:xfrm>
            <a:off x="3865643" y="1653872"/>
            <a:ext cx="6667393" cy="853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</a:rPr>
              <a:t>배송품</a:t>
            </a:r>
            <a:r>
              <a:rPr lang="ko-KR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자극원</a:t>
            </a:r>
            <a:r>
              <a:rPr lang="ko-KR" altLang="ko-KR" dirty="0">
                <a:solidFill>
                  <a:sysClr val="windowText" lastClr="000000"/>
                </a:solidFill>
              </a:rPr>
              <a:t>) 데이터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종별 반응 테이블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지형 비용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종간 관계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C299C9DE-AEE8-9365-0348-CE4C190DF7C0}"/>
              </a:ext>
            </a:extLst>
          </p:cNvPr>
          <p:cNvSpPr/>
          <p:nvPr/>
        </p:nvSpPr>
        <p:spPr>
          <a:xfrm>
            <a:off x="2406957" y="1653872"/>
            <a:ext cx="2004020" cy="853535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데이터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모델 설계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BB3943-A14F-7B9A-AB7A-7DD734EB4C32}"/>
              </a:ext>
            </a:extLst>
          </p:cNvPr>
          <p:cNvSpPr/>
          <p:nvPr/>
        </p:nvSpPr>
        <p:spPr>
          <a:xfrm>
            <a:off x="3100764" y="4868995"/>
            <a:ext cx="7896478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경로 </a:t>
            </a:r>
            <a:r>
              <a:rPr lang="ko-KR" altLang="ko-KR" dirty="0">
                <a:solidFill>
                  <a:sysClr val="windowText" lastClr="000000"/>
                </a:solidFill>
              </a:rPr>
              <a:t>결정</a:t>
            </a:r>
            <a:r>
              <a:rPr lang="ko-KR" altLang="en-US" dirty="0">
                <a:solidFill>
                  <a:sysClr val="windowText" lastClr="000000"/>
                </a:solidFill>
              </a:rPr>
              <a:t>에</a:t>
            </a:r>
            <a:r>
              <a:rPr lang="ko-KR" altLang="ko-KR" dirty="0">
                <a:solidFill>
                  <a:sysClr val="windowText" lastClr="000000"/>
                </a:solidFill>
              </a:rPr>
              <a:t> 깊이 부여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반복 플레이</a:t>
            </a:r>
            <a:r>
              <a:rPr lang="ko-KR" altLang="en-US" dirty="0">
                <a:solidFill>
                  <a:sysClr val="windowText" lastClr="000000"/>
                </a:solidFill>
              </a:rPr>
              <a:t>를 해도</a:t>
            </a:r>
            <a:r>
              <a:rPr lang="ko-KR" altLang="ko-KR" dirty="0">
                <a:solidFill>
                  <a:sysClr val="windowText" lastClr="000000"/>
                </a:solidFill>
              </a:rPr>
              <a:t> 학습된 예측</a:t>
            </a:r>
            <a:r>
              <a:rPr lang="ko-KR" altLang="en-US" dirty="0">
                <a:solidFill>
                  <a:sysClr val="windowText" lastClr="000000"/>
                </a:solidFill>
              </a:rPr>
              <a:t>보단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 동적 대응 요구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ko-KR" dirty="0">
                <a:solidFill>
                  <a:sysClr val="windowText" lastClr="000000"/>
                </a:solidFill>
              </a:rPr>
              <a:t>연쇄 반응 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생물간 반응</a:t>
            </a:r>
            <a:r>
              <a:rPr lang="en-US" altLang="ko-KR" dirty="0">
                <a:solidFill>
                  <a:sysClr val="windowText" lastClr="000000"/>
                </a:solidFill>
              </a:rPr>
              <a:t>), </a:t>
            </a:r>
            <a:r>
              <a:rPr lang="ko-KR" altLang="en-US" dirty="0">
                <a:solidFill>
                  <a:sysClr val="windowText" lastClr="000000"/>
                </a:solidFill>
              </a:rPr>
              <a:t>화물에 따라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>
                <a:solidFill>
                  <a:sysClr val="windowText" lastClr="000000"/>
                </a:solidFill>
              </a:rPr>
              <a:t>차별화된 경로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위험도 적용</a:t>
            </a: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0BAED63B-DC64-D745-71EB-83272A06B565}"/>
              </a:ext>
            </a:extLst>
          </p:cNvPr>
          <p:cNvSpPr/>
          <p:nvPr/>
        </p:nvSpPr>
        <p:spPr>
          <a:xfrm>
            <a:off x="1642078" y="4868995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C4B92-241A-4CD1-3226-6ED9B1B58C68}"/>
              </a:ext>
            </a:extLst>
          </p:cNvPr>
          <p:cNvSpPr txBox="1"/>
          <p:nvPr/>
        </p:nvSpPr>
        <p:spPr>
          <a:xfrm>
            <a:off x="665117" y="833523"/>
            <a:ext cx="108617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/>
              <a:t>도우미 </a:t>
            </a:r>
            <a:r>
              <a:rPr lang="en-US" altLang="ko-KR" sz="1700" dirty="0"/>
              <a:t>AI : </a:t>
            </a:r>
            <a:r>
              <a:rPr lang="ko-KR" altLang="en-US" sz="1700" dirty="0"/>
              <a:t>플레이어가 소지 중인 아이템의 특성</a:t>
            </a:r>
            <a:r>
              <a:rPr lang="en-US" altLang="ko-KR" sz="1700" dirty="0"/>
              <a:t>, </a:t>
            </a:r>
            <a:r>
              <a:rPr lang="ko-KR" altLang="en-US" sz="1700" dirty="0"/>
              <a:t>몬스터 별 민감도와 반응</a:t>
            </a:r>
            <a:r>
              <a:rPr lang="en-US" altLang="ko-KR" sz="1700" dirty="0"/>
              <a:t>, </a:t>
            </a:r>
            <a:r>
              <a:rPr lang="ko-KR" altLang="en-US" sz="1700" dirty="0"/>
              <a:t>거리</a:t>
            </a:r>
            <a:r>
              <a:rPr lang="en-US" altLang="ko-KR" sz="1700" dirty="0"/>
              <a:t>, </a:t>
            </a:r>
            <a:r>
              <a:rPr lang="ko-KR" altLang="en-US" sz="1700" dirty="0"/>
              <a:t>생태계 생물 종간 </a:t>
            </a:r>
            <a:br>
              <a:rPr lang="en-US" altLang="ko-KR" sz="1700" dirty="0"/>
            </a:br>
            <a:r>
              <a:rPr lang="ko-KR" altLang="en-US" sz="1700" dirty="0"/>
              <a:t>관계를 이용해 계획 경로로의 위험도를 예측</a:t>
            </a:r>
            <a:r>
              <a:rPr lang="en-US" altLang="ko-KR" sz="1700" dirty="0"/>
              <a:t>, </a:t>
            </a:r>
            <a:r>
              <a:rPr lang="ko-KR" altLang="en-US" sz="1700" dirty="0"/>
              <a:t>플레이어에게 </a:t>
            </a:r>
            <a:r>
              <a:rPr lang="ko-KR" altLang="en-US" sz="1700" u="sng" dirty="0"/>
              <a:t>경로와 경로별 예측 시간을</a:t>
            </a:r>
            <a:r>
              <a:rPr lang="ko-KR" altLang="en-US" sz="1700" dirty="0"/>
              <a:t> 고지할 수 있어야 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AB67F6-F788-CC32-890B-AFEF9FC55AA6}"/>
              </a:ext>
            </a:extLst>
          </p:cNvPr>
          <p:cNvSpPr/>
          <p:nvPr/>
        </p:nvSpPr>
        <p:spPr>
          <a:xfrm>
            <a:off x="3865643" y="2599662"/>
            <a:ext cx="6667393" cy="945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자극 확산 계산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종별 반응 스코어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반응 발생 가능성</a:t>
            </a:r>
            <a:r>
              <a:rPr lang="en-US" altLang="ko-KR" dirty="0">
                <a:solidFill>
                  <a:sysClr val="windowText" lastClr="000000"/>
                </a:solidFill>
              </a:rPr>
              <a:t>),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 err="1">
                <a:solidFill>
                  <a:sysClr val="windowText" lastClr="000000"/>
                </a:solidFill>
              </a:rPr>
              <a:t>T초</a:t>
            </a:r>
            <a:r>
              <a:rPr lang="ko-KR" altLang="ko-KR" dirty="0">
                <a:solidFill>
                  <a:sysClr val="windowText" lastClr="000000"/>
                </a:solidFill>
              </a:rPr>
              <a:t> 후 위험 밀도 예측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r>
              <a:rPr lang="ko-KR" altLang="ko-KR" dirty="0">
                <a:solidFill>
                  <a:sysClr val="windowText" lastClr="000000"/>
                </a:solidFill>
              </a:rPr>
              <a:t> ETA 계산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화살표: 오각형 19">
            <a:extLst>
              <a:ext uri="{FF2B5EF4-FFF2-40B4-BE49-F238E27FC236}">
                <a16:creationId xmlns:a16="http://schemas.microsoft.com/office/drawing/2014/main" id="{03361DF7-20CA-4AF8-EA53-810F3F937218}"/>
              </a:ext>
            </a:extLst>
          </p:cNvPr>
          <p:cNvSpPr/>
          <p:nvPr/>
        </p:nvSpPr>
        <p:spPr>
          <a:xfrm>
            <a:off x="2406957" y="2599662"/>
            <a:ext cx="2004020" cy="94579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알고리즘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파이프라인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구성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0EED32-2010-9D8A-F794-5CD0D65EAAE3}"/>
              </a:ext>
            </a:extLst>
          </p:cNvPr>
          <p:cNvSpPr/>
          <p:nvPr/>
        </p:nvSpPr>
        <p:spPr>
          <a:xfrm>
            <a:off x="765201" y="1582780"/>
            <a:ext cx="1580733" cy="101688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_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곰</a:t>
            </a:r>
            <a:br>
              <a:rPr lang="en-US" altLang="ko-KR" sz="1600" dirty="0">
                <a:solidFill>
                  <a:sysClr val="windowText" lastClr="000000"/>
                </a:solidFill>
              </a:rPr>
            </a:br>
            <a:r>
              <a:rPr lang="en-US" altLang="ko-KR" sz="16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600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강탈 시도</a:t>
            </a:r>
          </a:p>
        </p:txBody>
      </p:sp>
      <p:sp>
        <p:nvSpPr>
          <p:cNvPr id="24" name="배지 23">
            <a:extLst>
              <a:ext uri="{FF2B5EF4-FFF2-40B4-BE49-F238E27FC236}">
                <a16:creationId xmlns:a16="http://schemas.microsoft.com/office/drawing/2014/main" id="{18AD1EBE-68F7-8A34-69A9-85191512AC77}"/>
              </a:ext>
            </a:extLst>
          </p:cNvPr>
          <p:cNvSpPr/>
          <p:nvPr/>
        </p:nvSpPr>
        <p:spPr>
          <a:xfrm>
            <a:off x="387398" y="2813256"/>
            <a:ext cx="960089" cy="55285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기억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활성화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0A0E7E7-33ED-7698-A839-9AE402FB0519}"/>
              </a:ext>
            </a:extLst>
          </p:cNvPr>
          <p:cNvSpPr/>
          <p:nvPr/>
        </p:nvSpPr>
        <p:spPr>
          <a:xfrm>
            <a:off x="1377926" y="2835005"/>
            <a:ext cx="1029031" cy="47510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600" dirty="0">
                <a:solidFill>
                  <a:srgbClr val="000000"/>
                </a:solidFill>
              </a:rPr>
              <a:t>경로</a:t>
            </a:r>
            <a:r>
              <a:rPr lang="en-US" altLang="ko-KR" sz="1600" dirty="0">
                <a:solidFill>
                  <a:srgbClr val="000000"/>
                </a:solidFill>
              </a:rPr>
              <a:t>a_</a:t>
            </a:r>
            <a:r>
              <a:rPr lang="ko-KR" altLang="en-US" sz="1600" dirty="0">
                <a:solidFill>
                  <a:srgbClr val="000000"/>
                </a:solidFill>
              </a:rPr>
              <a:t>숲</a:t>
            </a:r>
            <a:endParaRPr lang="en-US" altLang="ko-KR" sz="1600" dirty="0">
              <a:solidFill>
                <a:srgbClr val="00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DA6479-C678-E6F1-6597-1E31784EA71C}"/>
              </a:ext>
            </a:extLst>
          </p:cNvPr>
          <p:cNvSpPr/>
          <p:nvPr/>
        </p:nvSpPr>
        <p:spPr>
          <a:xfrm>
            <a:off x="3865643" y="3657451"/>
            <a:ext cx="6667393" cy="945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계산 주체는 서버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호스트</a:t>
            </a:r>
            <a:r>
              <a:rPr lang="en-US" altLang="ko-KR" dirty="0">
                <a:solidFill>
                  <a:sysClr val="windowText" lastClr="000000"/>
                </a:solidFill>
              </a:rPr>
              <a:t>), </a:t>
            </a:r>
            <a:r>
              <a:rPr lang="ko-KR" altLang="en-US" dirty="0">
                <a:solidFill>
                  <a:sysClr val="windowText" lastClr="000000"/>
                </a:solidFill>
              </a:rPr>
              <a:t>무거운 계산은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 비동기로 처리한 후 결과만 메인 스레드에 반영</a:t>
            </a:r>
          </a:p>
        </p:txBody>
      </p:sp>
      <p:sp>
        <p:nvSpPr>
          <p:cNvPr id="30" name="화살표: 오각형 29">
            <a:extLst>
              <a:ext uri="{FF2B5EF4-FFF2-40B4-BE49-F238E27FC236}">
                <a16:creationId xmlns:a16="http://schemas.microsoft.com/office/drawing/2014/main" id="{9B74FA54-B0EF-29A9-3B59-1EF12C510C6A}"/>
              </a:ext>
            </a:extLst>
          </p:cNvPr>
          <p:cNvSpPr/>
          <p:nvPr/>
        </p:nvSpPr>
        <p:spPr>
          <a:xfrm>
            <a:off x="2406957" y="3657451"/>
            <a:ext cx="2004020" cy="94579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구현 매핑</a:t>
            </a:r>
          </a:p>
        </p:txBody>
      </p:sp>
    </p:spTree>
    <p:extLst>
      <p:ext uri="{BB962C8B-B14F-4D97-AF65-F5344CB8AC3E}">
        <p14:creationId xmlns:p14="http://schemas.microsoft.com/office/powerpoint/2010/main" val="3848560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85D4-54E4-1C7C-981A-CF701762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BB2DC6-C099-8952-59A6-6E6C490A6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0C099049-7B29-489D-8509-5D3A3DFCA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669A-3CB5-4204-B09E-9FA773DA862C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784918-202F-8B31-8711-775389A2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69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7EE5627-6DAA-0602-4EBD-01975727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플로우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401C6E-1301-7925-0E3C-443629A898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7D5C72-3ED1-9651-5CDC-5553A8E7E5A0}"/>
              </a:ext>
            </a:extLst>
          </p:cNvPr>
          <p:cNvSpPr/>
          <p:nvPr/>
        </p:nvSpPr>
        <p:spPr>
          <a:xfrm>
            <a:off x="2202495" y="1234421"/>
            <a:ext cx="1698246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 접속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666780-E618-D0A6-3450-200C04A52676}"/>
              </a:ext>
            </a:extLst>
          </p:cNvPr>
          <p:cNvSpPr/>
          <p:nvPr/>
        </p:nvSpPr>
        <p:spPr>
          <a:xfrm>
            <a:off x="1847175" y="3289203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게임 진행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A6B7E1-5C60-3F7D-CC53-7A9095CBE60D}"/>
              </a:ext>
            </a:extLst>
          </p:cNvPr>
          <p:cNvSpPr/>
          <p:nvPr/>
        </p:nvSpPr>
        <p:spPr>
          <a:xfrm>
            <a:off x="416248" y="1235437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시작 화면</a:t>
            </a:r>
          </a:p>
        </p:txBody>
      </p:sp>
      <p:cxnSp>
        <p:nvCxnSpPr>
          <p:cNvPr id="11" name="화살표 12">
            <a:extLst>
              <a:ext uri="{FF2B5EF4-FFF2-40B4-BE49-F238E27FC236}">
                <a16:creationId xmlns:a16="http://schemas.microsoft.com/office/drawing/2014/main" id="{BEDC569C-FB01-ACC8-35B0-4BF916C513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21185" y="1603515"/>
            <a:ext cx="381310" cy="6767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1A7613-2876-7C8E-A177-2A267D4109F8}"/>
              </a:ext>
            </a:extLst>
          </p:cNvPr>
          <p:cNvSpPr txBox="1"/>
          <p:nvPr/>
        </p:nvSpPr>
        <p:spPr>
          <a:xfrm>
            <a:off x="7564760" y="1618468"/>
            <a:ext cx="1050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ko-KR" altLang="en-US" sz="1400" dirty="0"/>
              <a:t>나가기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4D5B4C9-7BBF-54CA-AB62-157FFF3ABD11}"/>
              </a:ext>
            </a:extLst>
          </p:cNvPr>
          <p:cNvSpPr/>
          <p:nvPr/>
        </p:nvSpPr>
        <p:spPr>
          <a:xfrm>
            <a:off x="6351883" y="2483540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환경설정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716EDE-C569-F173-5476-BB9A58D527AD}"/>
              </a:ext>
            </a:extLst>
          </p:cNvPr>
          <p:cNvSpPr/>
          <p:nvPr/>
        </p:nvSpPr>
        <p:spPr>
          <a:xfrm>
            <a:off x="4230941" y="4225903"/>
            <a:ext cx="1567131" cy="662783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 안내 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5</a:t>
            </a:r>
            <a:r>
              <a:rPr lang="ko-KR" altLang="en-US" dirty="0">
                <a:solidFill>
                  <a:srgbClr val="000000"/>
                </a:solidFill>
              </a:rPr>
              <a:t>초 지속</a:t>
            </a:r>
          </a:p>
        </p:txBody>
      </p:sp>
      <p:cxnSp>
        <p:nvCxnSpPr>
          <p:cNvPr id="21" name="꺾인 양쪽 화살표 연결선 18">
            <a:extLst>
              <a:ext uri="{FF2B5EF4-FFF2-40B4-BE49-F238E27FC236}">
                <a16:creationId xmlns:a16="http://schemas.microsoft.com/office/drawing/2014/main" id="{F543E6F6-AADC-822B-5BF6-F714F67A93FA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3034062" y="3620595"/>
            <a:ext cx="1196879" cy="93670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18">
            <a:extLst>
              <a:ext uri="{FF2B5EF4-FFF2-40B4-BE49-F238E27FC236}">
                <a16:creationId xmlns:a16="http://schemas.microsoft.com/office/drawing/2014/main" id="{9D1694CD-94CF-70B1-F109-E75D3B0C8C3E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3034062" y="2814932"/>
            <a:ext cx="3317821" cy="80566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F74BFFC4-1AB5-7350-1B7B-2B91013A1AC3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H="1">
            <a:off x="1847175" y="2814932"/>
            <a:ext cx="5691595" cy="805663"/>
          </a:xfrm>
          <a:prstGeom prst="bentConnector5">
            <a:avLst>
              <a:gd name="adj1" fmla="val -4016"/>
              <a:gd name="adj2" fmla="val 454332"/>
              <a:gd name="adj3" fmla="val 104016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D24C7BE5-EFCF-2801-723E-8F2C6A7FAB4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H="1">
            <a:off x="1847175" y="1603515"/>
            <a:ext cx="2053566" cy="2017080"/>
          </a:xfrm>
          <a:prstGeom prst="bentConnector5">
            <a:avLst>
              <a:gd name="adj1" fmla="val -11132"/>
              <a:gd name="adj2" fmla="val 50935"/>
              <a:gd name="adj3" fmla="val 11113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양쪽 화살표 연결선 18">
            <a:extLst>
              <a:ext uri="{FF2B5EF4-FFF2-40B4-BE49-F238E27FC236}">
                <a16:creationId xmlns:a16="http://schemas.microsoft.com/office/drawing/2014/main" id="{FE7D78D8-DB94-9169-0059-9CCD4207E262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 flipH="1" flipV="1">
            <a:off x="1847175" y="3620595"/>
            <a:ext cx="3950897" cy="936700"/>
          </a:xfrm>
          <a:prstGeom prst="bentConnector5">
            <a:avLst>
              <a:gd name="adj1" fmla="val -5786"/>
              <a:gd name="adj2" fmla="val -195404"/>
              <a:gd name="adj3" fmla="val 105786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양쪽 화살표 연결선 18">
            <a:extLst>
              <a:ext uri="{FF2B5EF4-FFF2-40B4-BE49-F238E27FC236}">
                <a16:creationId xmlns:a16="http://schemas.microsoft.com/office/drawing/2014/main" id="{D9B7F7A4-B105-1E59-AE46-45BF37B6A0A6}"/>
              </a:ext>
            </a:extLst>
          </p:cNvPr>
          <p:cNvCxnSpPr>
            <a:cxnSpLocks/>
            <a:stCxn id="8" idx="3"/>
            <a:endCxn id="51" idx="1"/>
          </p:cNvCxnSpPr>
          <p:nvPr/>
        </p:nvCxnSpPr>
        <p:spPr>
          <a:xfrm>
            <a:off x="3034062" y="3620595"/>
            <a:ext cx="7310763" cy="4563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89D951-B819-D20F-BAC2-0CE3E2C621AB}"/>
              </a:ext>
            </a:extLst>
          </p:cNvPr>
          <p:cNvSpPr/>
          <p:nvPr/>
        </p:nvSpPr>
        <p:spPr>
          <a:xfrm>
            <a:off x="10344825" y="3334834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엔딩 화면</a:t>
            </a: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 err="1">
                <a:solidFill>
                  <a:srgbClr val="000000"/>
                </a:solidFill>
              </a:rPr>
              <a:t>컷씬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C6BCC5A-3A34-A46A-A919-95A546CA7799}"/>
              </a:ext>
            </a:extLst>
          </p:cNvPr>
          <p:cNvSpPr/>
          <p:nvPr/>
        </p:nvSpPr>
        <p:spPr>
          <a:xfrm>
            <a:off x="4230941" y="5079302"/>
            <a:ext cx="1463506" cy="829381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전달 대화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9" name="꺾인 양쪽 화살표 연결선 18">
            <a:extLst>
              <a:ext uri="{FF2B5EF4-FFF2-40B4-BE49-F238E27FC236}">
                <a16:creationId xmlns:a16="http://schemas.microsoft.com/office/drawing/2014/main" id="{7C80B770-9BEA-7512-8FF0-9C4C9255A8B3}"/>
              </a:ext>
            </a:extLst>
          </p:cNvPr>
          <p:cNvCxnSpPr>
            <a:cxnSpLocks/>
            <a:stCxn id="8" idx="3"/>
            <a:endCxn id="57" idx="1"/>
          </p:cNvCxnSpPr>
          <p:nvPr/>
        </p:nvCxnSpPr>
        <p:spPr>
          <a:xfrm>
            <a:off x="3034062" y="3620595"/>
            <a:ext cx="1196879" cy="187339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양쪽 화살표 연결선 18">
            <a:extLst>
              <a:ext uri="{FF2B5EF4-FFF2-40B4-BE49-F238E27FC236}">
                <a16:creationId xmlns:a16="http://schemas.microsoft.com/office/drawing/2014/main" id="{774289FA-681F-CC30-0B7F-F9B5A0B1D4D0}"/>
              </a:ext>
            </a:extLst>
          </p:cNvPr>
          <p:cNvCxnSpPr>
            <a:cxnSpLocks/>
            <a:stCxn id="57" idx="3"/>
            <a:endCxn id="8" idx="1"/>
          </p:cNvCxnSpPr>
          <p:nvPr/>
        </p:nvCxnSpPr>
        <p:spPr>
          <a:xfrm flipH="1" flipV="1">
            <a:off x="1847175" y="3620595"/>
            <a:ext cx="3847272" cy="1873398"/>
          </a:xfrm>
          <a:prstGeom prst="bentConnector5">
            <a:avLst>
              <a:gd name="adj1" fmla="val -5942"/>
              <a:gd name="adj2" fmla="val -43702"/>
              <a:gd name="adj3" fmla="val 105942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양쪽 화살표 연결선 18">
            <a:extLst>
              <a:ext uri="{FF2B5EF4-FFF2-40B4-BE49-F238E27FC236}">
                <a16:creationId xmlns:a16="http://schemas.microsoft.com/office/drawing/2014/main" id="{29D6C60E-BE35-B144-B708-8521782BE45E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 flipH="1" flipV="1">
            <a:off x="416248" y="1604531"/>
            <a:ext cx="7122522" cy="1210401"/>
          </a:xfrm>
          <a:prstGeom prst="bentConnector5">
            <a:avLst>
              <a:gd name="adj1" fmla="val -3210"/>
              <a:gd name="adj2" fmla="val 150120"/>
              <a:gd name="adj3" fmla="val 10321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9C68A32-AD56-9D15-31AB-10B5CBE82878}"/>
              </a:ext>
            </a:extLst>
          </p:cNvPr>
          <p:cNvSpPr txBox="1"/>
          <p:nvPr/>
        </p:nvSpPr>
        <p:spPr>
          <a:xfrm>
            <a:off x="4053141" y="2125008"/>
            <a:ext cx="1257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로딩화면</a:t>
            </a:r>
          </a:p>
        </p:txBody>
      </p:sp>
    </p:spTree>
    <p:extLst>
      <p:ext uri="{BB962C8B-B14F-4D97-AF65-F5344CB8AC3E}">
        <p14:creationId xmlns:p14="http://schemas.microsoft.com/office/powerpoint/2010/main" val="2195402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E3C15-BBEC-4ECE-CB07-41C6908F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4DCC80B-B0BB-1B28-1AB1-A7B61EA62B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1D0332-8E04-2446-FB53-C87E8DBEDF0B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CD61393-884B-D75C-0494-2B6F87B4171C}"/>
              </a:ext>
            </a:extLst>
          </p:cNvPr>
          <p:cNvCxnSpPr>
            <a:cxnSpLocks/>
            <a:stCxn id="9" idx="1"/>
            <a:endCxn id="9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32568F-08C5-1D22-F143-FDB7924344F6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그래픽 19" descr="남자 단색으로 채워진">
            <a:extLst>
              <a:ext uri="{FF2B5EF4-FFF2-40B4-BE49-F238E27FC236}">
                <a16:creationId xmlns:a16="http://schemas.microsoft.com/office/drawing/2014/main" id="{F1303222-194A-EA7E-8200-B9B86AA82950}"/>
              </a:ext>
            </a:extLst>
          </p:cNvPr>
          <p:cNvGrpSpPr/>
          <p:nvPr/>
        </p:nvGrpSpPr>
        <p:grpSpPr>
          <a:xfrm>
            <a:off x="3722238" y="3759837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9BEC900-CC8D-593E-678C-0C9B54124023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9B6DFC1B-9094-BBE7-637A-A57A4A903F46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부분 원형 28">
            <a:extLst>
              <a:ext uri="{FF2B5EF4-FFF2-40B4-BE49-F238E27FC236}">
                <a16:creationId xmlns:a16="http://schemas.microsoft.com/office/drawing/2014/main" id="{4751DBFC-D2CE-EA5B-C23B-B0A18C6F9C73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5022E8-84C2-1229-D77E-969FA7EF1836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3C3912-C901-B9CF-518E-47D127032416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그래픽 34" descr="배지 1 단색으로 채워진">
            <a:extLst>
              <a:ext uri="{FF2B5EF4-FFF2-40B4-BE49-F238E27FC236}">
                <a16:creationId xmlns:a16="http://schemas.microsoft.com/office/drawing/2014/main" id="{5B026F9F-61F3-E3E4-0375-432C034CBE51}"/>
              </a:ext>
            </a:extLst>
          </p:cNvPr>
          <p:cNvSpPr/>
          <p:nvPr/>
        </p:nvSpPr>
        <p:spPr>
          <a:xfrm>
            <a:off x="948785" y="197484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그래픽 36" descr="배지 단색으로 채워진">
            <a:extLst>
              <a:ext uri="{FF2B5EF4-FFF2-40B4-BE49-F238E27FC236}">
                <a16:creationId xmlns:a16="http://schemas.microsoft.com/office/drawing/2014/main" id="{33B29038-5D73-6585-F525-3B64DD912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468" y="4920457"/>
            <a:ext cx="445606" cy="445606"/>
          </a:xfrm>
          <a:prstGeom prst="rect">
            <a:avLst/>
          </a:prstGeom>
        </p:spPr>
      </p:pic>
      <p:pic>
        <p:nvPicPr>
          <p:cNvPr id="39" name="그래픽 38" descr="배지 3 단색으로 채워진">
            <a:extLst>
              <a:ext uri="{FF2B5EF4-FFF2-40B4-BE49-F238E27FC236}">
                <a16:creationId xmlns:a16="http://schemas.microsoft.com/office/drawing/2014/main" id="{9DFCB7BC-DE19-2F6B-FE9F-EABB6AD03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6988" y="4858185"/>
            <a:ext cx="445605" cy="44560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6CEDC34-E6D6-8E1D-BC69-E60E98909A7D}"/>
              </a:ext>
            </a:extLst>
          </p:cNvPr>
          <p:cNvSpPr txBox="1"/>
          <p:nvPr/>
        </p:nvSpPr>
        <p:spPr>
          <a:xfrm>
            <a:off x="7779486" y="2069339"/>
            <a:ext cx="32738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남은 배달 시간 표시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</a:t>
            </a:r>
            <a:r>
              <a:rPr lang="en-US" altLang="ko-KR" sz="2000" dirty="0"/>
              <a:t>HP</a:t>
            </a:r>
            <a:r>
              <a:rPr lang="ko-KR" altLang="en-US" sz="2000" dirty="0"/>
              <a:t>와 달리기 </a:t>
            </a:r>
            <a:br>
              <a:rPr lang="en-US" altLang="ko-KR" sz="2000" dirty="0"/>
            </a:br>
            <a:r>
              <a:rPr lang="ko-KR" altLang="en-US" sz="2000" dirty="0" err="1"/>
              <a:t>스테미너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비율</a:t>
            </a:r>
          </a:p>
        </p:txBody>
      </p:sp>
      <p:sp>
        <p:nvSpPr>
          <p:cNvPr id="45" name="그래픽 34" descr="배지 1 단색으로 채워진">
            <a:extLst>
              <a:ext uri="{FF2B5EF4-FFF2-40B4-BE49-F238E27FC236}">
                <a16:creationId xmlns:a16="http://schemas.microsoft.com/office/drawing/2014/main" id="{061E99F2-BB46-9E1A-A1CC-4803574FA569}"/>
              </a:ext>
            </a:extLst>
          </p:cNvPr>
          <p:cNvSpPr/>
          <p:nvPr/>
        </p:nvSpPr>
        <p:spPr>
          <a:xfrm>
            <a:off x="7276371" y="2069339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그래픽 46" descr="배지 단색으로 채워진">
            <a:extLst>
              <a:ext uri="{FF2B5EF4-FFF2-40B4-BE49-F238E27FC236}">
                <a16:creationId xmlns:a16="http://schemas.microsoft.com/office/drawing/2014/main" id="{14F20FBB-AA7F-AC81-07D1-9FF7290BF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9118" y="2703470"/>
            <a:ext cx="445606" cy="445606"/>
          </a:xfrm>
          <a:prstGeom prst="rect">
            <a:avLst/>
          </a:prstGeom>
        </p:spPr>
      </p:pic>
      <p:pic>
        <p:nvPicPr>
          <p:cNvPr id="49" name="그래픽 48" descr="배지 3 단색으로 채워진">
            <a:extLst>
              <a:ext uri="{FF2B5EF4-FFF2-40B4-BE49-F238E27FC236}">
                <a16:creationId xmlns:a16="http://schemas.microsoft.com/office/drawing/2014/main" id="{101F10A2-B72E-5179-E165-2D6B7AC3E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8550" y="3601142"/>
            <a:ext cx="445605" cy="445605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3393A4A-5D77-A41B-95CB-C7AE8A21AA6C}"/>
              </a:ext>
            </a:extLst>
          </p:cNvPr>
          <p:cNvGrpSpPr/>
          <p:nvPr/>
        </p:nvGrpSpPr>
        <p:grpSpPr>
          <a:xfrm>
            <a:off x="3149075" y="4046747"/>
            <a:ext cx="659514" cy="768648"/>
            <a:chOff x="4943969" y="2797892"/>
            <a:chExt cx="272824" cy="325698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FEA4E559-DD3B-AE7E-B7D9-A812B23FF7F4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DA4D9629-ED3A-F1AB-BAA2-31E66B815B81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9AA24659-7180-61A9-E7B5-07F0F2DB0228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960F396A-E20D-32F1-D647-2E237622E48F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582ED6F2-9FB8-9BE2-A9BC-4B580BB2F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784" y="3038835"/>
            <a:ext cx="804151" cy="1025519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3D151C-F930-B245-2A53-61A75D084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09AF-FA65-4DE6-8EC6-3EAC7E510936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BECD604D-C418-D6B7-3D99-40179AACB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68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96EF-1434-E4F7-9B66-DE69A8E0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F46D0-DB44-C4BC-2AC9-E03E60B6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 화면 </a:t>
            </a:r>
            <a:r>
              <a:rPr lang="en-US" altLang="ko-KR" dirty="0"/>
              <a:t>UI </a:t>
            </a:r>
            <a:r>
              <a:rPr lang="ko-KR" altLang="en-US" dirty="0"/>
              <a:t>구현 계획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C2124F5-2B18-9C68-CA34-54F2D5C619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9BC346-C739-8287-1F2D-8E55A331641D}"/>
              </a:ext>
            </a:extLst>
          </p:cNvPr>
          <p:cNvSpPr/>
          <p:nvPr/>
        </p:nvSpPr>
        <p:spPr>
          <a:xfrm>
            <a:off x="3457322" y="1113278"/>
            <a:ext cx="707571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ko-KR" dirty="0">
                <a:solidFill>
                  <a:sysClr val="windowText" lastClr="000000"/>
                </a:solidFill>
              </a:rPr>
              <a:t>UMG (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Unreal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Motion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Graphics</a:t>
            </a:r>
            <a:r>
              <a:rPr lang="ko-KR" altLang="ko-KR" dirty="0">
                <a:solidFill>
                  <a:sysClr val="windowText" lastClr="000000"/>
                </a:solidFill>
              </a:rPr>
              <a:t>)</a:t>
            </a:r>
            <a:r>
              <a:rPr lang="ko-KR" altLang="en-US" dirty="0">
                <a:solidFill>
                  <a:sysClr val="windowText" lastClr="000000"/>
                </a:solidFill>
              </a:rPr>
              <a:t>와 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 err="1">
                <a:solidFill>
                  <a:sysClr val="windowText" lastClr="000000"/>
                </a:solidFill>
              </a:rPr>
              <a:t>Widget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Blueprint</a:t>
            </a:r>
            <a:r>
              <a:rPr lang="en-US" altLang="ko-KR" dirty="0">
                <a:solidFill>
                  <a:sysClr val="windowText" lastClr="000000"/>
                </a:solidFill>
              </a:rPr>
              <a:t> ,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Component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를 활용</a:t>
            </a:r>
            <a:endParaRPr lang="ko-KR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7A891FC7-81BC-3E0D-3436-9A90BAAE2DDB}"/>
              </a:ext>
            </a:extLst>
          </p:cNvPr>
          <p:cNvSpPr/>
          <p:nvPr/>
        </p:nvSpPr>
        <p:spPr>
          <a:xfrm>
            <a:off x="1998636" y="1113278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기본 </a:t>
            </a:r>
            <a:r>
              <a:rPr lang="en-US" altLang="ko-KR" dirty="0">
                <a:solidFill>
                  <a:sysClr val="windowText" lastClr="000000"/>
                </a:solidFill>
              </a:rPr>
              <a:t>UI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609641-F697-5C17-B869-2A1B16550287}"/>
              </a:ext>
            </a:extLst>
          </p:cNvPr>
          <p:cNvSpPr/>
          <p:nvPr/>
        </p:nvSpPr>
        <p:spPr>
          <a:xfrm>
            <a:off x="3457322" y="2263469"/>
            <a:ext cx="7075714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UI 화면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표시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과</a:t>
            </a:r>
            <a:r>
              <a:rPr lang="ko-KR" altLang="ko-KR" dirty="0">
                <a:solidFill>
                  <a:sysClr val="windowText" lastClr="000000"/>
                </a:solidFill>
              </a:rPr>
              <a:t> 구성 요소를 시각적으로 제작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플레이어별 UI 관리 및 화면 표시와 연동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6AD1B4DA-B627-2610-E23F-79680DFD772E}"/>
              </a:ext>
            </a:extLst>
          </p:cNvPr>
          <p:cNvSpPr/>
          <p:nvPr/>
        </p:nvSpPr>
        <p:spPr>
          <a:xfrm>
            <a:off x="2009511" y="2263469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pic>
        <p:nvPicPr>
          <p:cNvPr id="3" name="내용 개체 틀 8">
            <a:extLst>
              <a:ext uri="{FF2B5EF4-FFF2-40B4-BE49-F238E27FC236}">
                <a16:creationId xmlns:a16="http://schemas.microsoft.com/office/drawing/2014/main" id="{81E79F0F-FDFC-E817-C0AE-BB5090B865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6" r="8893"/>
          <a:stretch>
            <a:fillRect/>
          </a:stretch>
        </p:blipFill>
        <p:spPr>
          <a:xfrm>
            <a:off x="2583612" y="3568044"/>
            <a:ext cx="5065347" cy="284682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67288D5-F1CD-1A04-BDA2-2AD330634E91}"/>
              </a:ext>
            </a:extLst>
          </p:cNvPr>
          <p:cNvSpPr/>
          <p:nvPr/>
        </p:nvSpPr>
        <p:spPr>
          <a:xfrm>
            <a:off x="2577221" y="3568044"/>
            <a:ext cx="2593640" cy="293441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88704E-B783-8AA9-FEC9-3C32AF5BFA10}"/>
              </a:ext>
            </a:extLst>
          </p:cNvPr>
          <p:cNvSpPr/>
          <p:nvPr/>
        </p:nvSpPr>
        <p:spPr>
          <a:xfrm>
            <a:off x="4682030" y="4929427"/>
            <a:ext cx="868510" cy="1292252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836F7-4B29-DFB0-923C-2D74D5FD2332}"/>
              </a:ext>
            </a:extLst>
          </p:cNvPr>
          <p:cNvSpPr txBox="1"/>
          <p:nvPr/>
        </p:nvSpPr>
        <p:spPr>
          <a:xfrm>
            <a:off x="7687831" y="5617686"/>
            <a:ext cx="22210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게임 </a:t>
            </a:r>
            <a:r>
              <a:rPr lang="en-US" altLang="ko-KR" sz="1400" dirty="0"/>
              <a:t>“Totally Reliable Delivery Service” </a:t>
            </a:r>
            <a:r>
              <a:rPr lang="ko-KR" altLang="en-US" sz="1400" dirty="0"/>
              <a:t>플레이 화면 레퍼런스</a:t>
            </a:r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E42CCAE8-86CC-966A-4E93-B61382B5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9397-BDBA-4058-A372-8E29F8AE5A2B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05CDC28-99CB-2361-B6DC-996ACBE5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799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64202EDC-FB4F-B79D-BD56-71164F81DCF1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16A2302-8830-5D06-A849-65DCD9F0814B}"/>
              </a:ext>
            </a:extLst>
          </p:cNvPr>
          <p:cNvCxnSpPr>
            <a:cxnSpLocks/>
            <a:stCxn id="54" idx="1"/>
            <a:endCxn id="54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0232E01-5058-202E-D8A2-C08332F67E3D}"/>
              </a:ext>
            </a:extLst>
          </p:cNvPr>
          <p:cNvCxnSpPr>
            <a:cxnSpLocks/>
            <a:stCxn id="54" idx="0"/>
            <a:endCxn id="54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1F2DA9E-3344-F20D-3477-CD8E697ACEAC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3D87680-7510-7C67-21F2-CEAC4C23FE87}"/>
              </a:ext>
            </a:extLst>
          </p:cNvPr>
          <p:cNvSpPr/>
          <p:nvPr/>
        </p:nvSpPr>
        <p:spPr>
          <a:xfrm>
            <a:off x="5909073" y="4873938"/>
            <a:ext cx="900234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8DB08D8-AC9C-4716-35D2-652661986615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부분 원형 59">
            <a:extLst>
              <a:ext uri="{FF2B5EF4-FFF2-40B4-BE49-F238E27FC236}">
                <a16:creationId xmlns:a16="http://schemas.microsoft.com/office/drawing/2014/main" id="{740685EC-8C71-6AED-CCCC-44427AC4F0AA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233B79-3571-3AB6-91FE-211A8F4C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경로 안내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BE03F-2F45-B0C5-93CF-316A7A401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6520" y="1825625"/>
            <a:ext cx="39172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마우스 휠 버튼 누를 시</a:t>
            </a:r>
            <a:br>
              <a:rPr lang="en-US" altLang="ko-KR" sz="2400" dirty="0"/>
            </a:br>
            <a:r>
              <a:rPr lang="ko-KR" altLang="en-US" sz="2400" dirty="0"/>
              <a:t>목적지까지의 경로 방향 </a:t>
            </a:r>
            <a:br>
              <a:rPr lang="en-US" altLang="ko-KR" sz="2400" dirty="0"/>
            </a:br>
            <a:r>
              <a:rPr lang="ko-KR" altLang="en-US" sz="2400" dirty="0"/>
              <a:t>일시 시각화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505E5B4-B73C-F543-A5FD-32620B57FA7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1C72B69-D0F5-4887-5087-5B0DFE1A2220}"/>
              </a:ext>
            </a:extLst>
          </p:cNvPr>
          <p:cNvGrpSpPr/>
          <p:nvPr/>
        </p:nvGrpSpPr>
        <p:grpSpPr>
          <a:xfrm rot="2011594">
            <a:off x="4767883" y="2383006"/>
            <a:ext cx="1599830" cy="3098573"/>
            <a:chOff x="4349276" y="1987776"/>
            <a:chExt cx="1599830" cy="2710430"/>
          </a:xfrm>
          <a:scene3d>
            <a:camera prst="perspectiveHeroicExtremeRightFacing"/>
            <a:lightRig rig="threePt" dir="t"/>
          </a:scene3d>
        </p:grpSpPr>
        <p:sp>
          <p:nvSpPr>
            <p:cNvPr id="17" name="화살표: 갈매기형 수장 16">
              <a:extLst>
                <a:ext uri="{FF2B5EF4-FFF2-40B4-BE49-F238E27FC236}">
                  <a16:creationId xmlns:a16="http://schemas.microsoft.com/office/drawing/2014/main" id="{1C600838-F09A-95ED-EEAD-796AD4280FA1}"/>
                </a:ext>
              </a:extLst>
            </p:cNvPr>
            <p:cNvSpPr/>
            <p:nvPr/>
          </p:nvSpPr>
          <p:spPr>
            <a:xfrm rot="17792637">
              <a:off x="4346353" y="426112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화살표: 갈매기형 수장 17">
              <a:extLst>
                <a:ext uri="{FF2B5EF4-FFF2-40B4-BE49-F238E27FC236}">
                  <a16:creationId xmlns:a16="http://schemas.microsoft.com/office/drawing/2014/main" id="{ABAC1FCB-0398-F3CE-8596-B67EEC74333C}"/>
                </a:ext>
              </a:extLst>
            </p:cNvPr>
            <p:cNvSpPr/>
            <p:nvPr/>
          </p:nvSpPr>
          <p:spPr>
            <a:xfrm rot="17792637">
              <a:off x="4525540" y="3913884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화살표: 갈매기형 수장 19">
              <a:extLst>
                <a:ext uri="{FF2B5EF4-FFF2-40B4-BE49-F238E27FC236}">
                  <a16:creationId xmlns:a16="http://schemas.microsoft.com/office/drawing/2014/main" id="{5C4B1B59-6170-E321-CAC0-13D5931044C5}"/>
                </a:ext>
              </a:extLst>
            </p:cNvPr>
            <p:cNvSpPr/>
            <p:nvPr/>
          </p:nvSpPr>
          <p:spPr>
            <a:xfrm rot="17792637">
              <a:off x="4696317" y="3566646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화살표: 갈매기형 수장 21">
              <a:extLst>
                <a:ext uri="{FF2B5EF4-FFF2-40B4-BE49-F238E27FC236}">
                  <a16:creationId xmlns:a16="http://schemas.microsoft.com/office/drawing/2014/main" id="{D8A912EC-CD4D-4CD0-2B3F-B391A339D9CD}"/>
                </a:ext>
              </a:extLst>
            </p:cNvPr>
            <p:cNvSpPr/>
            <p:nvPr/>
          </p:nvSpPr>
          <p:spPr>
            <a:xfrm rot="17792637">
              <a:off x="4850391" y="3272822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화살표: 갈매기형 수장 23">
              <a:extLst>
                <a:ext uri="{FF2B5EF4-FFF2-40B4-BE49-F238E27FC236}">
                  <a16:creationId xmlns:a16="http://schemas.microsoft.com/office/drawing/2014/main" id="{BC64848D-6168-E26B-CA63-33D02FCDDF5E}"/>
                </a:ext>
              </a:extLst>
            </p:cNvPr>
            <p:cNvSpPr/>
            <p:nvPr/>
          </p:nvSpPr>
          <p:spPr>
            <a:xfrm rot="17792637">
              <a:off x="5007984" y="2978998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화살표: 갈매기형 수장 25">
              <a:extLst>
                <a:ext uri="{FF2B5EF4-FFF2-40B4-BE49-F238E27FC236}">
                  <a16:creationId xmlns:a16="http://schemas.microsoft.com/office/drawing/2014/main" id="{0FAB07D7-92DA-D4EC-23BC-25F90BC8D5C8}"/>
                </a:ext>
              </a:extLst>
            </p:cNvPr>
            <p:cNvSpPr/>
            <p:nvPr/>
          </p:nvSpPr>
          <p:spPr>
            <a:xfrm rot="17792637">
              <a:off x="5187171" y="263176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화살표: 갈매기형 수장 27">
              <a:extLst>
                <a:ext uri="{FF2B5EF4-FFF2-40B4-BE49-F238E27FC236}">
                  <a16:creationId xmlns:a16="http://schemas.microsoft.com/office/drawing/2014/main" id="{634EDDA6-0E49-8F7B-6922-63ECF6476522}"/>
                </a:ext>
              </a:extLst>
            </p:cNvPr>
            <p:cNvSpPr/>
            <p:nvPr/>
          </p:nvSpPr>
          <p:spPr>
            <a:xfrm rot="17792637">
              <a:off x="5357948" y="2284523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화살표: 갈매기형 수장 29">
              <a:extLst>
                <a:ext uri="{FF2B5EF4-FFF2-40B4-BE49-F238E27FC236}">
                  <a16:creationId xmlns:a16="http://schemas.microsoft.com/office/drawing/2014/main" id="{1B79BC3C-CD8F-2171-6102-2FCB059F49F1}"/>
                </a:ext>
              </a:extLst>
            </p:cNvPr>
            <p:cNvSpPr/>
            <p:nvPr/>
          </p:nvSpPr>
          <p:spPr>
            <a:xfrm rot="17792637">
              <a:off x="5512022" y="1990699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DC0DB6F9-B69D-3B3F-10BB-D34BA4358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496921">
            <a:off x="2154168" y="3174343"/>
            <a:ext cx="1059360" cy="2665916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grpSp>
        <p:nvGrpSpPr>
          <p:cNvPr id="11" name="그래픽 19" descr="남자 단색으로 채워진">
            <a:extLst>
              <a:ext uri="{FF2B5EF4-FFF2-40B4-BE49-F238E27FC236}">
                <a16:creationId xmlns:a16="http://schemas.microsoft.com/office/drawing/2014/main" id="{6E684945-ADDA-B1F0-98C7-0C8C62D4770C}"/>
              </a:ext>
            </a:extLst>
          </p:cNvPr>
          <p:cNvGrpSpPr/>
          <p:nvPr/>
        </p:nvGrpSpPr>
        <p:grpSpPr>
          <a:xfrm>
            <a:off x="3773997" y="3774083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5AC29847-424C-C9AA-A5BC-638798F7B1BA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389F2E70-F258-2C72-52B6-F25087B04F89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2" name="그래픽 34" descr="배지 1 단색으로 채워진">
            <a:extLst>
              <a:ext uri="{FF2B5EF4-FFF2-40B4-BE49-F238E27FC236}">
                <a16:creationId xmlns:a16="http://schemas.microsoft.com/office/drawing/2014/main" id="{2A6F3223-63E8-0C00-311D-67874CC60E0E}"/>
              </a:ext>
            </a:extLst>
          </p:cNvPr>
          <p:cNvSpPr/>
          <p:nvPr/>
        </p:nvSpPr>
        <p:spPr>
          <a:xfrm>
            <a:off x="3233328" y="4265312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그래픽 34" descr="배지 1 단색으로 채워진">
            <a:extLst>
              <a:ext uri="{FF2B5EF4-FFF2-40B4-BE49-F238E27FC236}">
                <a16:creationId xmlns:a16="http://schemas.microsoft.com/office/drawing/2014/main" id="{7E51C534-C5A8-4AFC-7653-A3120C9A7FF9}"/>
              </a:ext>
            </a:extLst>
          </p:cNvPr>
          <p:cNvSpPr/>
          <p:nvPr/>
        </p:nvSpPr>
        <p:spPr>
          <a:xfrm>
            <a:off x="6968412" y="188733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70606A-104A-27AD-6FCE-B910DD51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B0F8-8AFD-44F7-AC52-FB12EACBFFE0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5E83A4A-113C-5777-5DDE-AE70E33D6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993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A9E7-33E7-1877-357B-0FCCD422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785F6-AFE0-FF92-B698-F81F91E1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안내 </a:t>
            </a:r>
            <a:r>
              <a:rPr lang="en-US" altLang="ko-KR" dirty="0"/>
              <a:t>UI </a:t>
            </a:r>
            <a:r>
              <a:rPr lang="ko-KR" altLang="en-US" dirty="0"/>
              <a:t>구현 계획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85EF603-AE6C-FB01-9F59-7E1044B89B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323FE3-9161-D233-9EC9-A3E07946619F}"/>
              </a:ext>
            </a:extLst>
          </p:cNvPr>
          <p:cNvSpPr/>
          <p:nvPr/>
        </p:nvSpPr>
        <p:spPr>
          <a:xfrm>
            <a:off x="3509080" y="1446836"/>
            <a:ext cx="7319947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dirty="0">
                <a:solidFill>
                  <a:sysClr val="windowText" lastClr="000000"/>
                </a:solidFill>
              </a:rPr>
              <a:t>여러 개의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Spline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Component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로</a:t>
            </a:r>
            <a:r>
              <a:rPr lang="ko-KR" altLang="en-US" dirty="0">
                <a:solidFill>
                  <a:sysClr val="windowText" lastClr="000000"/>
                </a:solidFill>
              </a:rPr>
              <a:t> 지형에 맞는 곡선 경로 생성</a:t>
            </a:r>
            <a:endParaRPr lang="ko-KR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DD97DFCE-5B3B-0F6F-084E-1B84405EBF4D}"/>
              </a:ext>
            </a:extLst>
          </p:cNvPr>
          <p:cNvSpPr/>
          <p:nvPr/>
        </p:nvSpPr>
        <p:spPr>
          <a:xfrm>
            <a:off x="1998636" y="1446836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경로 곡선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&amp;</a:t>
            </a:r>
            <a:r>
              <a:rPr lang="ko-KR" altLang="en-US" dirty="0">
                <a:solidFill>
                  <a:sysClr val="windowText" lastClr="000000"/>
                </a:solidFill>
              </a:rPr>
              <a:t>방향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E23DD6-228D-E612-0AB3-48FB676C59BC}"/>
              </a:ext>
            </a:extLst>
          </p:cNvPr>
          <p:cNvSpPr/>
          <p:nvPr/>
        </p:nvSpPr>
        <p:spPr>
          <a:xfrm>
            <a:off x="3509080" y="2597027"/>
            <a:ext cx="7319947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플레이어 </a:t>
            </a:r>
            <a:r>
              <a:rPr lang="ko-KR" altLang="en-US" dirty="0">
                <a:solidFill>
                  <a:sysClr val="windowText" lastClr="000000"/>
                </a:solidFill>
              </a:rPr>
              <a:t>한 명이</a:t>
            </a:r>
            <a:r>
              <a:rPr lang="ko-KR" altLang="ko-KR" dirty="0">
                <a:solidFill>
                  <a:sysClr val="windowText" lastClr="000000"/>
                </a:solidFill>
              </a:rPr>
              <a:t> 버튼을 누르면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본인</a:t>
            </a:r>
            <a:r>
              <a:rPr lang="ko-KR" altLang="ko-KR" dirty="0">
                <a:solidFill>
                  <a:sysClr val="windowText" lastClr="000000"/>
                </a:solidFill>
              </a:rPr>
              <a:t>에게만 표시되도록 처리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서버가 갈림길 진입 및 경로 선택 상태를 관리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0564ED26-6A0F-DA08-1361-F035C8ECE438}"/>
              </a:ext>
            </a:extLst>
          </p:cNvPr>
          <p:cNvSpPr/>
          <p:nvPr/>
        </p:nvSpPr>
        <p:spPr>
          <a:xfrm>
            <a:off x="2009511" y="2597027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pic>
        <p:nvPicPr>
          <p:cNvPr id="3" name="내용 개체 틀 8">
            <a:extLst>
              <a:ext uri="{FF2B5EF4-FFF2-40B4-BE49-F238E27FC236}">
                <a16:creationId xmlns:a16="http://schemas.microsoft.com/office/drawing/2014/main" id="{1E64E4F9-5E29-84EB-3956-5403878F94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2" r="9047"/>
          <a:stretch>
            <a:fillRect/>
          </a:stretch>
        </p:blipFill>
        <p:spPr>
          <a:xfrm>
            <a:off x="3325952" y="3957991"/>
            <a:ext cx="4029243" cy="227562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BC3642C-AE20-CE56-F567-4F1191FAFD10}"/>
              </a:ext>
            </a:extLst>
          </p:cNvPr>
          <p:cNvSpPr/>
          <p:nvPr/>
        </p:nvSpPr>
        <p:spPr>
          <a:xfrm>
            <a:off x="5248559" y="3957991"/>
            <a:ext cx="905045" cy="2275623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5FFE6-91BF-2BB2-D5F5-D0C17FB5DE02}"/>
              </a:ext>
            </a:extLst>
          </p:cNvPr>
          <p:cNvSpPr txBox="1"/>
          <p:nvPr/>
        </p:nvSpPr>
        <p:spPr>
          <a:xfrm>
            <a:off x="7362065" y="5925837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UI</a:t>
            </a:r>
            <a:r>
              <a:rPr lang="ko-KR" altLang="en-US" sz="1400" dirty="0"/>
              <a:t> 예시 레퍼런스 자료</a:t>
            </a:r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6FBB49C6-C26B-9F2D-F398-EE8AD831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FC04-6A78-4F8A-8685-FB0D34269C94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DE9FF59-15D0-CA6B-F5BC-054F45C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380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8E0CAF9-20E1-C46B-E615-69CEDBEE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참고문헌 및 출처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CC0AC0B-D55E-B40D-433C-A4BC6A992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154A23-3230-4229-1145-9896A5449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95E6-717A-4F75-ADB4-B202670E9437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BEAB07-913F-6A10-C079-3E72F149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804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B8EAFD-03FA-8944-B1DF-F230D2C4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참고 이미지 </a:t>
            </a:r>
            <a:r>
              <a:rPr lang="ko-KR" altLang="en-US" dirty="0"/>
              <a:t>자료 출처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8BD448A-07B9-B4A3-5EB1-9258F8A86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>
                <a:hlinkClick r:id="rId2"/>
              </a:rPr>
              <a:t>https://namu.wiki/w/%EB%8F%99%EB%AC%BC%EC%9D%98%20%EC%88%B2%20%EC%8B%9C%EB%A6%AC%EC%A6%88/%EC%9D%BC%EB%B0%98%20%EC%A3%BC%EB%AF%BC/%EA%B3%B0</a:t>
            </a:r>
            <a:endParaRPr lang="en-US" altLang="ko-KR" sz="1600" dirty="0"/>
          </a:p>
          <a:p>
            <a:r>
              <a:rPr lang="en-US" altLang="ko-KR" sz="1600" dirty="0">
                <a:hlinkClick r:id="rId3"/>
              </a:rPr>
              <a:t>https://www.reddit.com/r/PartyAnimalsGame/comments/1b0dmqw/how_to_get_a_new_exclusive_tiagra_skin/</a:t>
            </a:r>
            <a:endParaRPr lang="en-US" altLang="ko-KR" sz="1600" dirty="0"/>
          </a:p>
          <a:p>
            <a:r>
              <a:rPr lang="en-US" altLang="ko-KR" sz="1600" dirty="0">
                <a:hlinkClick r:id="rId4"/>
              </a:rPr>
              <a:t>https://page.onstove.com/indie/global/view/9597749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>
                <a:hlinkClick r:id="rId5"/>
              </a:rPr>
              <a:t>https://www.youtube.com/watch?v=eNRvtvpl1Io&amp;t=872s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226ECB-2B1C-B2A7-4CB5-00358793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C2F74C-0F26-5025-9369-77AED662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B912C9E-C862-33EA-4167-A70A61EDEC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97527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수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_수정" id="{CBA6B7FE-B6CA-4F39-BB51-F79B6C8A8A52}" vid="{D2CEE810-8952-4285-9131-7485780386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기본_수정</Template>
  <TotalTime>4786</TotalTime>
  <Words>1163</Words>
  <Application>Microsoft Office PowerPoint</Application>
  <PresentationFormat>와이드스크린</PresentationFormat>
  <Paragraphs>201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기본_수정</vt:lpstr>
      <vt:lpstr>디자인 사용자 지정</vt:lpstr>
      <vt:lpstr>배트와 달트 기획서</vt:lpstr>
      <vt:lpstr>목차</vt:lpstr>
      <vt:lpstr>게임 소개</vt:lpstr>
      <vt:lpstr>게임 정보</vt:lpstr>
      <vt:lpstr>기획 목표</vt:lpstr>
      <vt:lpstr>게임 플로우</vt:lpstr>
      <vt:lpstr>멀티 구현 계획</vt:lpstr>
      <vt:lpstr>컨텐츠</vt:lpstr>
      <vt:lpstr>맵</vt:lpstr>
      <vt:lpstr>상호작용_생물_벌</vt:lpstr>
      <vt:lpstr>생물_벌 구현 계획</vt:lpstr>
      <vt:lpstr>상호작용_배달품_꿀</vt:lpstr>
      <vt:lpstr>도우미 AI 구현 계획</vt:lpstr>
      <vt:lpstr>시스템</vt:lpstr>
      <vt:lpstr>UI_플로우</vt:lpstr>
      <vt:lpstr>UI_세부_플레이화면</vt:lpstr>
      <vt:lpstr>플레이 화면 UI 구현 계획</vt:lpstr>
      <vt:lpstr>UI_세부_경로 안내 UI</vt:lpstr>
      <vt:lpstr>경로 안내 UI 구현 계획</vt:lpstr>
      <vt:lpstr>참고문헌 및 출처</vt:lpstr>
      <vt:lpstr>참고 이미지 자료 출처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155</cp:revision>
  <dcterms:created xsi:type="dcterms:W3CDTF">2026-09-16T19:24:55Z</dcterms:created>
  <dcterms:modified xsi:type="dcterms:W3CDTF">2026-09-26T02:46:04Z</dcterms:modified>
</cp:coreProperties>
</file>