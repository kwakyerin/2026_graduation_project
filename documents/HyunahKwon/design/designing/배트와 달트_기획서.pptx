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</p:sldMasterIdLst>
  <p:sldIdLst>
    <p:sldId id="256" r:id="rId3"/>
    <p:sldId id="281" r:id="rId4"/>
    <p:sldId id="257" r:id="rId5"/>
    <p:sldId id="258" r:id="rId6"/>
    <p:sldId id="259" r:id="rId7"/>
    <p:sldId id="261" r:id="rId8"/>
    <p:sldId id="265" r:id="rId9"/>
    <p:sldId id="260" r:id="rId10"/>
    <p:sldId id="271" r:id="rId11"/>
    <p:sldId id="268" r:id="rId12"/>
    <p:sldId id="272" r:id="rId13"/>
    <p:sldId id="273" r:id="rId14"/>
    <p:sldId id="278" r:id="rId15"/>
    <p:sldId id="280" r:id="rId16"/>
    <p:sldId id="277" r:id="rId17"/>
    <p:sldId id="279" r:id="rId18"/>
    <p:sldId id="262" r:id="rId19"/>
    <p:sldId id="269" r:id="rId20"/>
    <p:sldId id="274" r:id="rId21"/>
    <p:sldId id="276" r:id="rId22"/>
    <p:sldId id="263" r:id="rId23"/>
    <p:sldId id="270" r:id="rId24"/>
    <p:sldId id="264" r:id="rId25"/>
    <p:sldId id="285" r:id="rId26"/>
    <p:sldId id="284" r:id="rId27"/>
    <p:sldId id="275" r:id="rId28"/>
    <p:sldId id="282" r:id="rId29"/>
    <p:sldId id="283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94D01-0EC0-583E-AF02-DDCDEA8D0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A9843C-2E0B-D9E6-B5D7-6909186C5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4646B0-B772-A89B-6DD6-32E649924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AAF6E5-FE5A-F08E-367B-7F725EE78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BBBE15-E2E0-4779-6B21-BFB77CB3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025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BB8CD-C4A3-1802-10F5-5B440080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F547B4-8C2F-A47C-8938-C10B3A083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EAB59-3152-0BB2-0ABA-7639B18A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E4868-DDBD-A97E-E556-D8686D6E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D85D4-B83D-258D-AD10-D91FEA02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79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C4AC8-AB3F-5038-2C5D-ECFD0DFE5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4F8DD8-EBF7-C7CA-A7B3-4DE84D449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AD840D-91BA-8969-733C-760C0CC25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E8C701-6832-9922-1B55-3528A9A78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F3C741-5C5C-4E0D-9516-F82616A88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E3BD39-8A43-2222-3ED7-DB6770AB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05E65C6-0631-C506-DCD0-0A1E0616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26683C-E239-4914-EF7F-7026E3333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524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CB2BC-D0E5-D763-5DAF-13D16567F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581A45-90C6-16CA-2AF2-8E5ED7FC9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6040AB-764F-3822-9F18-4DF9939C2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BF953-F401-6B6F-B1F2-05302E425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9149C9-6AFC-7EEA-5BCD-1477D94C2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DAE919-E01F-1035-FAA8-43BFDBE5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89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4AB656-48C0-0972-7E76-32CE1D6D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A4A784-0DEB-4142-8F8E-8EC7A5B21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B73C37-B926-C476-D4EA-AB10FA416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33CFE-BA4B-AFFC-8407-2909DE310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CD7999-E7B8-52AC-818C-67668266A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46B130-BCE7-300C-3277-EE150134F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10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09296-21E3-A9FC-A4DB-7B03A6CA7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506C92-FCD2-1EE5-65CA-960BAD86D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85C27E-9FD6-CB00-CDB5-49439619F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50D4-9086-4998-AA40-EC3A5E96598E}" type="datetime1">
              <a:rPr lang="en-US" altLang="ko-KR" smtClean="0"/>
              <a:t>9/21/2026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FAF181-B144-901E-B753-06600F2EB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23318B-EB45-18D5-4A5B-0DCED4DA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B8A04A8B-D800-31FA-0770-95221831AB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94264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F307C-4412-EB5A-8D2D-EA89E00F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292B6C-4F9A-BA5C-6E3C-F6E047CAC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D6D48A-7F6B-8326-0930-0DE24BF81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17B666-EF3E-7582-FF42-000C51D11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9/21/2026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96DC83-9D08-7CE4-6BCC-51434ACF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DCDA60-E2AC-817E-7561-D9E1121AB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D8193305-12D2-4DF2-56CE-EB42263E53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699198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4CFDA-2672-2E64-250A-F85C4C1EB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F9F220-64B1-A520-D359-97A2A45A8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80CB-DB40-47CE-A8D2-A12CB1478785}" type="datetime1">
              <a:rPr lang="en-US" altLang="ko-KR" smtClean="0"/>
              <a:t>9/21/2026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239E46-EEFA-DE87-E99F-562046BD8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BF63DD-7AC8-650C-4263-EE4C217D3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내용 개체 틀 9">
            <a:extLst>
              <a:ext uri="{FF2B5EF4-FFF2-40B4-BE49-F238E27FC236}">
                <a16:creationId xmlns:a16="http://schemas.microsoft.com/office/drawing/2014/main" id="{4CF38ABA-E54E-6711-1E63-96557E15BF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318870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BB8CD-C4A3-1802-10F5-5B440080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F547B4-8C2F-A47C-8938-C10B3A083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EAB59-3152-0BB2-0ABA-7639B18A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E4868-DDBD-A97E-E556-D8686D6E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D85D4-B83D-258D-AD10-D91FEA02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056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B2A50D-47D3-E02F-D339-3BB790B0B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0D3744-B54A-DCB5-B319-D1D7784B5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9EF6D5-B8B1-F18C-1A8C-E7CE5CC4D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D5073-3D75-4506-8C91-5119827B979E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36C4B4-7272-9E1C-45ED-CBAA88D01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E65CEA-97AE-D52F-4F97-A5C1CFD89F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684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650182-8DBB-2193-E636-2E6C9CD0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116286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F94A67-557E-E664-B632-8621D9595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830F72-E992-E233-953E-48FDE883B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A07D7-17C4-4932-A5CB-22BA65F5FC8D}" type="datetime1">
              <a:rPr lang="en-US" altLang="ko-KR" smtClean="0"/>
              <a:t>9/21/2026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CA9C8A-AB1D-DC51-B767-4B47C5CB4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8B049B-DBEB-F397-5C41-CA1F52FC9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3B8842A-CF3B-4DC9-FF99-31C497E908FF}"/>
              </a:ext>
            </a:extLst>
          </p:cNvPr>
          <p:cNvCxnSpPr/>
          <p:nvPr/>
        </p:nvCxnSpPr>
        <p:spPr>
          <a:xfrm>
            <a:off x="0" y="662782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830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r/PartyAnimalsGame/comments/1b0dmqw/how_to_get_a_new_exclusive_tiagra_skin/" TargetMode="External"/><Relationship Id="rId7" Type="http://schemas.openxmlformats.org/officeDocument/2006/relationships/hyperlink" Target="https://kor.pngtree.com/so/%EB%A7%88%EC%9A%B0%EC%8A%A4" TargetMode="External"/><Relationship Id="rId2" Type="http://schemas.openxmlformats.org/officeDocument/2006/relationships/hyperlink" Target="https://namu.wiki/w/%EB%8F%99%EB%AC%BC%EC%9D%98%20%EC%88%B2%20%EC%8B%9C%EB%A6%AC%EC%A6%88/%EC%9D%BC%EB%B0%98%20%EC%A3%BC%EB%AF%BC/%EA%B3%B0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creatorjoseph.com/268#google_vignette" TargetMode="External"/><Relationship Id="rId5" Type="http://schemas.openxmlformats.org/officeDocument/2006/relationships/hyperlink" Target="https://velog.io/@dev_sensational/Unity-3%EC%9D%B8%EC%B9%AD-Back-view-%EC%8A%88%ED%8C%85%EA%B2%8C%EC%9E%84TPS-%ED%94%84%EB%A1%9C%EC%A0%9D%ED%8A%B8-%EC%8B%9C%EC%9E%91" TargetMode="External"/><Relationship Id="rId4" Type="http://schemas.openxmlformats.org/officeDocument/2006/relationships/hyperlink" Target="https://page.onstove.com/indie/global/view/9597749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arca.live/b/fallout76/19323367" TargetMode="Externa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hyperlink" Target="https://gameuidatabase.com/index.php?&amp;scrn=71&amp;set=1&amp;plat=1&amp;tag=131&amp;series=106&amp;sort=2&amp;r=4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constante.tistory.com/entry/%EA%B7%B8%EB%A6%B0-%ED%97%ACGreen-Hell-%EC%B4%88%EB%B3%B4%EA%B0%80%EC%9D%B4%EB%93%9C-%ED%8A%9C%ED%86%A0%EB%A6%AC%EC%96%BC-%ED%95%B4%EC%95%BC-%ED%95%98%EB%8A%94-%EC%9D%B4%EC%9C%A0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9611B6-C59D-7CE5-FEE2-1D6ED048E7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배트와 </a:t>
            </a:r>
            <a:r>
              <a:rPr lang="ko-KR" altLang="en-US" dirty="0" err="1"/>
              <a:t>달트</a:t>
            </a:r>
            <a:br>
              <a:rPr lang="en-US" altLang="ko-KR" dirty="0"/>
            </a:br>
            <a:r>
              <a:rPr lang="ko-KR" altLang="en-US" sz="4800" dirty="0"/>
              <a:t>기획서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A18EEF-9CC0-5ACA-83D1-C1A0C24EE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곽예린</a:t>
            </a:r>
            <a:r>
              <a:rPr lang="ko-KR" altLang="en-US" dirty="0"/>
              <a:t> 권현아 김진아</a:t>
            </a:r>
          </a:p>
        </p:txBody>
      </p:sp>
    </p:spTree>
    <p:extLst>
      <p:ext uri="{BB962C8B-B14F-4D97-AF65-F5344CB8AC3E}">
        <p14:creationId xmlns:p14="http://schemas.microsoft.com/office/powerpoint/2010/main" val="3633518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AD08547-37A1-E3B2-6FAD-B80A29232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용어 정리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84E81B8-0B77-EDAD-6246-69BCE7BA2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5250"/>
            <a:ext cx="10515600" cy="4811713"/>
          </a:xfrm>
        </p:spPr>
        <p:txBody>
          <a:bodyPr/>
          <a:lstStyle/>
          <a:p>
            <a:r>
              <a:rPr lang="ko-KR" altLang="en-US" dirty="0" err="1"/>
              <a:t>배송품</a:t>
            </a:r>
            <a:r>
              <a:rPr lang="en-US" altLang="ko-KR" dirty="0"/>
              <a:t>, </a:t>
            </a:r>
            <a:r>
              <a:rPr lang="ko-KR" altLang="en-US" dirty="0" err="1"/>
              <a:t>배달품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모두 동일한 의미로 사용됨</a:t>
            </a:r>
            <a:r>
              <a:rPr lang="en-US" altLang="ko-KR" dirty="0"/>
              <a:t>, </a:t>
            </a:r>
            <a:r>
              <a:rPr lang="ko-KR" altLang="en-US" dirty="0"/>
              <a:t>플레이어가 배달을 진행해야 하는 아이템</a:t>
            </a:r>
            <a:endParaRPr lang="en-US" altLang="ko-KR" dirty="0"/>
          </a:p>
          <a:p>
            <a:r>
              <a:rPr lang="ko-KR" altLang="en-US" dirty="0"/>
              <a:t>방향전환율</a:t>
            </a:r>
            <a:r>
              <a:rPr lang="en-US" altLang="ko-KR" dirty="0"/>
              <a:t>, </a:t>
            </a:r>
            <a:r>
              <a:rPr lang="ko-KR" altLang="en-US" dirty="0"/>
              <a:t>방향회전율 </a:t>
            </a:r>
            <a:r>
              <a:rPr lang="en-US" altLang="ko-KR" dirty="0"/>
              <a:t>: </a:t>
            </a:r>
            <a:r>
              <a:rPr lang="ko-KR" altLang="en-US" dirty="0"/>
              <a:t>모두 동일한 의미로 사용됨</a:t>
            </a:r>
            <a:r>
              <a:rPr lang="en-US" altLang="ko-KR" dirty="0"/>
              <a:t>, </a:t>
            </a:r>
            <a:r>
              <a:rPr lang="ko-KR" altLang="en-US" dirty="0"/>
              <a:t>플레이어가 회전하는 정도</a:t>
            </a:r>
            <a:endParaRPr lang="en-US" altLang="ko-KR" dirty="0"/>
          </a:p>
          <a:p>
            <a:r>
              <a:rPr lang="ko-KR" altLang="en-US" dirty="0"/>
              <a:t>도우미 </a:t>
            </a:r>
            <a:r>
              <a:rPr lang="en-US" altLang="ko-KR"/>
              <a:t>AI : 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7E5AFA-7451-4018-1D9E-19765E5907E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해당 문서에서 자주 사용되는 단어들</a:t>
            </a:r>
          </a:p>
        </p:txBody>
      </p:sp>
    </p:spTree>
    <p:extLst>
      <p:ext uri="{BB962C8B-B14F-4D97-AF65-F5344CB8AC3E}">
        <p14:creationId xmlns:p14="http://schemas.microsoft.com/office/powerpoint/2010/main" val="2449433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3BA673A-9754-955E-E2BE-50FEE6222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2144712" cy="1600200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CA3521E-F03E-CCD2-5860-75445C058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8201" y="987425"/>
            <a:ext cx="7977188" cy="4873625"/>
          </a:xfrm>
        </p:spPr>
        <p:txBody>
          <a:bodyPr numCol="2"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sz="2400" b="1" dirty="0"/>
              <a:t>게임 소개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게임 정보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기획 목표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게임 플로우</a:t>
            </a:r>
            <a:endParaRPr lang="en-US" altLang="ko-KR" sz="24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2400" b="1" dirty="0"/>
              <a:t>컨텐츠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스토리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 err="1"/>
              <a:t>플레이어블</a:t>
            </a:r>
            <a:r>
              <a:rPr lang="ko-KR" altLang="en-US" sz="2400" dirty="0"/>
              <a:t> 캐릭터</a:t>
            </a:r>
            <a:br>
              <a:rPr lang="en-US" altLang="ko-KR" sz="2400" dirty="0"/>
            </a:br>
            <a:r>
              <a:rPr lang="en-US" altLang="ko-KR" sz="2400" dirty="0"/>
              <a:t>&gt; NPC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반응 생물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주민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맵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상호작용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지형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 err="1"/>
              <a:t>배달품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생물</a:t>
            </a:r>
            <a:endParaRPr lang="en-US" altLang="ko-KR" sz="24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2400" b="1" dirty="0"/>
              <a:t>시스템</a:t>
            </a:r>
            <a:br>
              <a:rPr lang="en-US" altLang="ko-KR" sz="2400" dirty="0"/>
            </a:br>
            <a:r>
              <a:rPr lang="en-US" altLang="ko-KR" sz="2400" dirty="0"/>
              <a:t>&gt; UI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플로우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세부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컨트롤</a:t>
            </a:r>
            <a:endParaRPr lang="en-US" altLang="ko-KR" sz="24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2400" b="1" dirty="0"/>
              <a:t>참고문헌 및 출처</a:t>
            </a:r>
            <a:endParaRPr lang="en-US" altLang="ko-KR" sz="2400" b="1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2400" b="1" dirty="0"/>
              <a:t>부록</a:t>
            </a:r>
          </a:p>
        </p:txBody>
      </p:sp>
    </p:spTree>
    <p:extLst>
      <p:ext uri="{BB962C8B-B14F-4D97-AF65-F5344CB8AC3E}">
        <p14:creationId xmlns:p14="http://schemas.microsoft.com/office/powerpoint/2010/main" val="145431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5650F7EC-D74B-E9B7-50BF-6581D2454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C69F915-976F-6F2C-D6C5-17B19A21E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647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03E1773-B3C9-B24D-04A3-63300D288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정보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E8E3620E-D6D8-CBB7-2945-88565D4630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8410909"/>
              </p:ext>
            </p:extLst>
          </p:nvPr>
        </p:nvGraphicFramePr>
        <p:xfrm>
          <a:off x="838200" y="1825625"/>
          <a:ext cx="10515600" cy="38472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7458">
                  <a:extLst>
                    <a:ext uri="{9D8B030D-6E8A-4147-A177-3AD203B41FA5}">
                      <a16:colId xmlns:a16="http://schemas.microsoft.com/office/drawing/2014/main" val="1481076814"/>
                    </a:ext>
                  </a:extLst>
                </a:gridCol>
                <a:gridCol w="7918142">
                  <a:extLst>
                    <a:ext uri="{9D8B030D-6E8A-4147-A177-3AD203B41FA5}">
                      <a16:colId xmlns:a16="http://schemas.microsoft.com/office/drawing/2014/main" val="2932042606"/>
                    </a:ext>
                  </a:extLst>
                </a:gridCol>
              </a:tblGrid>
              <a:tr h="1282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장르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lang="ko-KR" altLang="en-US" sz="1800" dirty="0">
                          <a:solidFill>
                            <a:srgbClr val="000000"/>
                          </a:solidFill>
                        </a:rPr>
                        <a:t>인칭 2인 협동 FPS 배달 전략 게임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308725"/>
                  </a:ext>
                </a:extLst>
              </a:tr>
              <a:tr h="1282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컨셉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strike="noStrike" dirty="0"/>
                        <a:t>도우미 </a:t>
                      </a:r>
                      <a:r>
                        <a:rPr lang="en-US" altLang="ko-KR" sz="1800" strike="noStrike" dirty="0"/>
                        <a:t>ai</a:t>
                      </a:r>
                      <a:r>
                        <a:rPr lang="ko-KR" altLang="en-US" sz="1800" strike="noStrike" dirty="0"/>
                        <a:t>의 안내를 능동적으로 판단하고 주위의 적들과 변하는 생태계를 견제하며 제한 시간 안에 배달을 완료하는 게임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4467976"/>
                  </a:ext>
                </a:extLst>
              </a:tr>
              <a:tr h="1282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클리어 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</a:rPr>
                        <a:t>시간 안에 배달을 성공적으로 완료하고 보수를 충분히 받아 떠나는 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0212067"/>
                  </a:ext>
                </a:extLst>
              </a:tr>
            </a:tbl>
          </a:graphicData>
        </a:graphic>
      </p:graphicFrame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1BF454-365A-4CEC-2BD8-96FB70A429D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</p:spTree>
    <p:extLst>
      <p:ext uri="{BB962C8B-B14F-4D97-AF65-F5344CB8AC3E}">
        <p14:creationId xmlns:p14="http://schemas.microsoft.com/office/powerpoint/2010/main" val="3686803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96757B4-D983-2D61-C39C-50D61C95F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기획 목표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8C2045-45F9-E24E-D52C-0E759A40405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10" name="설명선: 아래쪽 화살표 9">
            <a:extLst>
              <a:ext uri="{FF2B5EF4-FFF2-40B4-BE49-F238E27FC236}">
                <a16:creationId xmlns:a16="http://schemas.microsoft.com/office/drawing/2014/main" id="{A4C07938-75C4-DE26-9294-60E25770CCFC}"/>
              </a:ext>
            </a:extLst>
          </p:cNvPr>
          <p:cNvSpPr/>
          <p:nvPr/>
        </p:nvSpPr>
        <p:spPr>
          <a:xfrm>
            <a:off x="5167222" y="1680712"/>
            <a:ext cx="1857555" cy="1748287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>
                <a:solidFill>
                  <a:sysClr val="windowText" lastClr="000000"/>
                </a:solidFill>
              </a:rPr>
              <a:t>배달과 FPS의</a:t>
            </a:r>
            <a:br>
              <a:rPr lang="en-US" altLang="ko-KR">
                <a:solidFill>
                  <a:sysClr val="windowText" lastClr="000000"/>
                </a:solidFill>
              </a:rPr>
            </a:br>
            <a:r>
              <a:rPr lang="ko-KR" altLang="ko-KR">
                <a:solidFill>
                  <a:sysClr val="windowText" lastClr="000000"/>
                </a:solidFill>
              </a:rPr>
              <a:t>결합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설명선: 아래쪽 화살표 11">
            <a:extLst>
              <a:ext uri="{FF2B5EF4-FFF2-40B4-BE49-F238E27FC236}">
                <a16:creationId xmlns:a16="http://schemas.microsoft.com/office/drawing/2014/main" id="{B5EC5924-72B1-84C9-1D16-C4C50C418DF0}"/>
              </a:ext>
            </a:extLst>
          </p:cNvPr>
          <p:cNvSpPr/>
          <p:nvPr/>
        </p:nvSpPr>
        <p:spPr>
          <a:xfrm>
            <a:off x="1629365" y="1680711"/>
            <a:ext cx="1857555" cy="1748287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>
                <a:solidFill>
                  <a:sysClr val="windowText" lastClr="000000"/>
                </a:solidFill>
              </a:rPr>
              <a:t>귀여움과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유쾌함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4" name="설명선: 아래쪽 화살표 13">
            <a:extLst>
              <a:ext uri="{FF2B5EF4-FFF2-40B4-BE49-F238E27FC236}">
                <a16:creationId xmlns:a16="http://schemas.microsoft.com/office/drawing/2014/main" id="{97DD45C7-29FA-5479-D86C-595907BB3A60}"/>
              </a:ext>
            </a:extLst>
          </p:cNvPr>
          <p:cNvSpPr/>
          <p:nvPr/>
        </p:nvSpPr>
        <p:spPr>
          <a:xfrm>
            <a:off x="8705079" y="1680710"/>
            <a:ext cx="1857555" cy="1748287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>
                <a:solidFill>
                  <a:sysClr val="windowText" lastClr="000000"/>
                </a:solidFill>
              </a:rPr>
              <a:t>긴장감과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자율성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E6C605-483C-5B04-7AB1-4462287A507F}"/>
              </a:ext>
            </a:extLst>
          </p:cNvPr>
          <p:cNvSpPr txBox="1"/>
          <p:nvPr/>
        </p:nvSpPr>
        <p:spPr>
          <a:xfrm>
            <a:off x="1146289" y="3428997"/>
            <a:ext cx="2823713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ko-KR" dirty="0"/>
              <a:t>돌발 상황과</a:t>
            </a:r>
            <a:endParaRPr lang="en-US" altLang="ko-KR" dirty="0"/>
          </a:p>
          <a:p>
            <a:pPr algn="ctr"/>
            <a:r>
              <a:rPr lang="ko-KR" altLang="ko-KR" dirty="0"/>
              <a:t>귀여운 캐릭터를 통해</a:t>
            </a:r>
            <a:br>
              <a:rPr lang="en-US" altLang="ko-KR" dirty="0"/>
            </a:br>
            <a:r>
              <a:rPr lang="ko-KR" altLang="en-US" dirty="0"/>
              <a:t>유쾌하고 </a:t>
            </a:r>
            <a:r>
              <a:rPr lang="ko-KR" altLang="ko-KR" dirty="0"/>
              <a:t>즐거운 플레이 경험 제공</a:t>
            </a:r>
            <a:endParaRPr lang="en-US" altLang="ko-K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5CC909-81B5-6FE4-D3FE-574030106179}"/>
              </a:ext>
            </a:extLst>
          </p:cNvPr>
          <p:cNvSpPr txBox="1"/>
          <p:nvPr/>
        </p:nvSpPr>
        <p:spPr>
          <a:xfrm>
            <a:off x="8221999" y="3496892"/>
            <a:ext cx="2823713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ko-KR" dirty="0"/>
              <a:t>실시간 변화와 </a:t>
            </a:r>
            <a:br>
              <a:rPr lang="en-US" altLang="ko-KR" dirty="0"/>
            </a:br>
            <a:r>
              <a:rPr lang="ko-KR" altLang="ko-KR" dirty="0"/>
              <a:t>예상 시간 정보를 </a:t>
            </a:r>
            <a:br>
              <a:rPr lang="en-US" altLang="ko-KR" dirty="0"/>
            </a:br>
            <a:r>
              <a:rPr lang="ko-KR" altLang="ko-KR" dirty="0"/>
              <a:t>바탕으로 플레이어의 </a:t>
            </a:r>
            <a:br>
              <a:rPr lang="en-US" altLang="ko-KR" dirty="0"/>
            </a:br>
            <a:r>
              <a:rPr lang="ko-KR" altLang="ko-KR" dirty="0"/>
              <a:t>판단과 행동 유도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1EAE55-8E3C-2011-4161-75B651D4D74C}"/>
              </a:ext>
            </a:extLst>
          </p:cNvPr>
          <p:cNvSpPr txBox="1"/>
          <p:nvPr/>
        </p:nvSpPr>
        <p:spPr>
          <a:xfrm>
            <a:off x="4607944" y="3549126"/>
            <a:ext cx="297611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ko-KR" dirty="0"/>
              <a:t>배달 목표에</a:t>
            </a:r>
            <a:br>
              <a:rPr lang="en-US" altLang="ko-KR" dirty="0"/>
            </a:br>
            <a:r>
              <a:rPr lang="ko-KR" altLang="ko-KR" dirty="0"/>
              <a:t>전투와 경로 전략을 결합한</a:t>
            </a:r>
            <a:br>
              <a:rPr lang="en-US" altLang="ko-KR" dirty="0"/>
            </a:br>
            <a:r>
              <a:rPr lang="ko-KR" altLang="ko-KR" dirty="0"/>
              <a:t>새로운 협동 경험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8917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DED9C-A03C-CDA7-4415-B1144A65C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플로우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C997EA9-4378-21C7-ADBE-D0A611CC26F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C45B6D-63B9-873F-DBE3-6DC7DABF0988}"/>
              </a:ext>
            </a:extLst>
          </p:cNvPr>
          <p:cNvSpPr/>
          <p:nvPr/>
        </p:nvSpPr>
        <p:spPr>
          <a:xfrm>
            <a:off x="2373422" y="1150976"/>
            <a:ext cx="1404937" cy="738187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 물품 결정됨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C1CAF-576E-1488-11D4-30F676842111}"/>
              </a:ext>
            </a:extLst>
          </p:cNvPr>
          <p:cNvSpPr/>
          <p:nvPr/>
        </p:nvSpPr>
        <p:spPr>
          <a:xfrm>
            <a:off x="4431785" y="1022125"/>
            <a:ext cx="1818245" cy="1009422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두 플레이어 중 누가 </a:t>
            </a:r>
            <a:r>
              <a:rPr lang="ko-KR" altLang="en-US" dirty="0">
                <a:solidFill>
                  <a:srgbClr val="000000"/>
                </a:solidFill>
              </a:rPr>
              <a:t>배달품을 </a:t>
            </a:r>
            <a:r>
              <a:rPr lang="ko-KR" altLang="en-US">
                <a:solidFill>
                  <a:srgbClr val="000000"/>
                </a:solidFill>
              </a:rPr>
              <a:t>운반할지 결정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9FF80D-A8A7-69B1-1782-63B801C66AC9}"/>
              </a:ext>
            </a:extLst>
          </p:cNvPr>
          <p:cNvSpPr/>
          <p:nvPr/>
        </p:nvSpPr>
        <p:spPr>
          <a:xfrm>
            <a:off x="6768033" y="1066651"/>
            <a:ext cx="1495527" cy="92036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배달품의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배송지 파악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E7DC57-BC47-6584-EE22-F10C5A51640D}"/>
              </a:ext>
            </a:extLst>
          </p:cNvPr>
          <p:cNvSpPr/>
          <p:nvPr/>
        </p:nvSpPr>
        <p:spPr>
          <a:xfrm>
            <a:off x="1400683" y="2535546"/>
            <a:ext cx="1687574" cy="875190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협동하며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경로와 안내를 따라 진행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CB9408-71A5-5E20-7103-632695B94B6B}"/>
              </a:ext>
            </a:extLst>
          </p:cNvPr>
          <p:cNvSpPr/>
          <p:nvPr/>
        </p:nvSpPr>
        <p:spPr>
          <a:xfrm>
            <a:off x="3753168" y="2326045"/>
            <a:ext cx="2074261" cy="857522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시간 안에 배달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성공 시 보수 지급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F46F548-1FCF-F79F-7E48-1C06AE818767}"/>
              </a:ext>
            </a:extLst>
          </p:cNvPr>
          <p:cNvSpPr/>
          <p:nvPr/>
        </p:nvSpPr>
        <p:spPr>
          <a:xfrm>
            <a:off x="3753168" y="3428667"/>
            <a:ext cx="2074261" cy="738187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 시간 초과 시 </a:t>
            </a:r>
            <a:r>
              <a:rPr lang="ko-KR" altLang="en-US">
                <a:solidFill>
                  <a:srgbClr val="000000"/>
                </a:solidFill>
              </a:rPr>
              <a:t>보수 미지급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BD95DDE-1CB1-AA6F-72CB-36E1348A8E42}"/>
              </a:ext>
            </a:extLst>
          </p:cNvPr>
          <p:cNvSpPr/>
          <p:nvPr/>
        </p:nvSpPr>
        <p:spPr>
          <a:xfrm>
            <a:off x="5503543" y="5571286"/>
            <a:ext cx="1460848" cy="101773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충분한 보수 보유</a:t>
            </a:r>
          </a:p>
        </p:txBody>
      </p:sp>
      <p:cxnSp>
        <p:nvCxnSpPr>
          <p:cNvPr id="17" name="화살표 12">
            <a:extLst>
              <a:ext uri="{FF2B5EF4-FFF2-40B4-BE49-F238E27FC236}">
                <a16:creationId xmlns:a16="http://schemas.microsoft.com/office/drawing/2014/main" id="{946DD478-AFD6-6E16-7F4B-2B9634DE5BF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3778359" y="1520070"/>
            <a:ext cx="653426" cy="676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화살표 13">
            <a:extLst>
              <a:ext uri="{FF2B5EF4-FFF2-40B4-BE49-F238E27FC236}">
                <a16:creationId xmlns:a16="http://schemas.microsoft.com/office/drawing/2014/main" id="{7565030A-3172-2EDE-FAF6-A040EA22A7D4}"/>
              </a:ext>
            </a:extLst>
          </p:cNvPr>
          <p:cNvCxnSpPr>
            <a:cxnSpLocks/>
            <a:stCxn id="11" idx="3"/>
            <a:endCxn id="49" idx="1"/>
          </p:cNvCxnSpPr>
          <p:nvPr/>
        </p:nvCxnSpPr>
        <p:spPr>
          <a:xfrm>
            <a:off x="8263560" y="1526836"/>
            <a:ext cx="809864" cy="41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화살표 14">
            <a:extLst>
              <a:ext uri="{FF2B5EF4-FFF2-40B4-BE49-F238E27FC236}">
                <a16:creationId xmlns:a16="http://schemas.microsoft.com/office/drawing/2014/main" id="{D96781D8-0E33-6D94-0150-DFDF34A99B49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6250030" y="1526836"/>
            <a:ext cx="51800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양쪽 화살표 연결선 18">
            <a:extLst>
              <a:ext uri="{FF2B5EF4-FFF2-40B4-BE49-F238E27FC236}">
                <a16:creationId xmlns:a16="http://schemas.microsoft.com/office/drawing/2014/main" id="{E2B73A7F-A7CE-2433-6311-93E4F09C1B61}"/>
              </a:ext>
            </a:extLst>
          </p:cNvPr>
          <p:cNvCxnSpPr>
            <a:cxnSpLocks/>
            <a:stCxn id="13" idx="3"/>
            <a:endCxn id="231" idx="1"/>
          </p:cNvCxnSpPr>
          <p:nvPr/>
        </p:nvCxnSpPr>
        <p:spPr>
          <a:xfrm>
            <a:off x="5827429" y="2754806"/>
            <a:ext cx="777462" cy="32242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양쪽 화살표 연결선 20">
            <a:extLst>
              <a:ext uri="{FF2B5EF4-FFF2-40B4-BE49-F238E27FC236}">
                <a16:creationId xmlns:a16="http://schemas.microsoft.com/office/drawing/2014/main" id="{3A2FF051-9A15-87BC-BE39-D8338AC29156}"/>
              </a:ext>
            </a:extLst>
          </p:cNvPr>
          <p:cNvCxnSpPr>
            <a:cxnSpLocks/>
            <a:stCxn id="14" idx="3"/>
            <a:endCxn id="231" idx="1"/>
          </p:cNvCxnSpPr>
          <p:nvPr/>
        </p:nvCxnSpPr>
        <p:spPr>
          <a:xfrm flipV="1">
            <a:off x="5827429" y="3077234"/>
            <a:ext cx="777462" cy="72052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3696255-9AC7-7098-E14E-B059CC6EB4FD}"/>
              </a:ext>
            </a:extLst>
          </p:cNvPr>
          <p:cNvSpPr/>
          <p:nvPr/>
        </p:nvSpPr>
        <p:spPr>
          <a:xfrm>
            <a:off x="5503543" y="4498615"/>
            <a:ext cx="1460849" cy="101773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충분한 보수 </a:t>
            </a:r>
            <a:r>
              <a:rPr lang="ko-KR" altLang="en-US" dirty="0" err="1">
                <a:solidFill>
                  <a:srgbClr val="000000"/>
                </a:solidFill>
              </a:rPr>
              <a:t>미보유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AC0BD66-F6A8-D200-8A64-573B6FF1E851}"/>
              </a:ext>
            </a:extLst>
          </p:cNvPr>
          <p:cNvSpPr/>
          <p:nvPr/>
        </p:nvSpPr>
        <p:spPr>
          <a:xfrm>
            <a:off x="9073424" y="1070766"/>
            <a:ext cx="2091248" cy="92036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AI</a:t>
            </a:r>
            <a:r>
              <a:rPr lang="ko-KR" altLang="en-US" dirty="0">
                <a:solidFill>
                  <a:srgbClr val="000000"/>
                </a:solidFill>
              </a:rPr>
              <a:t>가 배송지까지의 경로별 예측 시간 계산</a:t>
            </a:r>
          </a:p>
        </p:txBody>
      </p:sp>
      <p:cxnSp>
        <p:nvCxnSpPr>
          <p:cNvPr id="52" name="화살표 12">
            <a:extLst>
              <a:ext uri="{FF2B5EF4-FFF2-40B4-BE49-F238E27FC236}">
                <a16:creationId xmlns:a16="http://schemas.microsoft.com/office/drawing/2014/main" id="{0C443044-ADF4-1AD6-57BB-DB3D06E23E23}"/>
              </a:ext>
            </a:extLst>
          </p:cNvPr>
          <p:cNvCxnSpPr>
            <a:cxnSpLocks/>
            <a:stCxn id="185" idx="3"/>
            <a:endCxn id="9" idx="1"/>
          </p:cNvCxnSpPr>
          <p:nvPr/>
        </p:nvCxnSpPr>
        <p:spPr>
          <a:xfrm flipV="1">
            <a:off x="1855419" y="1520070"/>
            <a:ext cx="518003" cy="720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양쪽 화살표 연결선 20">
            <a:extLst>
              <a:ext uri="{FF2B5EF4-FFF2-40B4-BE49-F238E27FC236}">
                <a16:creationId xmlns:a16="http://schemas.microsoft.com/office/drawing/2014/main" id="{5050FD88-7B39-90B7-1FCA-E14B9FC079A0}"/>
              </a:ext>
            </a:extLst>
          </p:cNvPr>
          <p:cNvCxnSpPr>
            <a:cxnSpLocks/>
            <a:stCxn id="49" idx="3"/>
            <a:endCxn id="12" idx="1"/>
          </p:cNvCxnSpPr>
          <p:nvPr/>
        </p:nvCxnSpPr>
        <p:spPr>
          <a:xfrm flipH="1">
            <a:off x="1400683" y="1530951"/>
            <a:ext cx="9763989" cy="1442190"/>
          </a:xfrm>
          <a:prstGeom prst="bentConnector5">
            <a:avLst>
              <a:gd name="adj1" fmla="val -2341"/>
              <a:gd name="adj2" fmla="val 50783"/>
              <a:gd name="adj3" fmla="val 102341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양쪽 화살표 연결선 18">
            <a:extLst>
              <a:ext uri="{FF2B5EF4-FFF2-40B4-BE49-F238E27FC236}">
                <a16:creationId xmlns:a16="http://schemas.microsoft.com/office/drawing/2014/main" id="{E527CE0B-EFFE-FD35-729A-032C4A73E92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3088257" y="2754806"/>
            <a:ext cx="664911" cy="2183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양쪽 화살표 연결선 18">
            <a:extLst>
              <a:ext uri="{FF2B5EF4-FFF2-40B4-BE49-F238E27FC236}">
                <a16:creationId xmlns:a16="http://schemas.microsoft.com/office/drawing/2014/main" id="{B6D72026-6FB4-1B73-F158-711B6BFF2CBC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3088257" y="2973141"/>
            <a:ext cx="664911" cy="82462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꺾인 양쪽 화살표 연결선 20">
            <a:extLst>
              <a:ext uri="{FF2B5EF4-FFF2-40B4-BE49-F238E27FC236}">
                <a16:creationId xmlns:a16="http://schemas.microsoft.com/office/drawing/2014/main" id="{A8F461C8-7C7F-1922-87C5-FDE6AADA274B}"/>
              </a:ext>
            </a:extLst>
          </p:cNvPr>
          <p:cNvCxnSpPr>
            <a:cxnSpLocks/>
            <a:stCxn id="218" idx="3"/>
            <a:endCxn id="25" idx="1"/>
          </p:cNvCxnSpPr>
          <p:nvPr/>
        </p:nvCxnSpPr>
        <p:spPr>
          <a:xfrm flipV="1">
            <a:off x="5258942" y="5007485"/>
            <a:ext cx="244601" cy="47922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양쪽 화살표 연결선 20">
            <a:extLst>
              <a:ext uri="{FF2B5EF4-FFF2-40B4-BE49-F238E27FC236}">
                <a16:creationId xmlns:a16="http://schemas.microsoft.com/office/drawing/2014/main" id="{717B3273-3A06-5D28-939E-C1E05316F045}"/>
              </a:ext>
            </a:extLst>
          </p:cNvPr>
          <p:cNvCxnSpPr>
            <a:cxnSpLocks/>
            <a:stCxn id="218" idx="3"/>
            <a:endCxn id="16" idx="1"/>
          </p:cNvCxnSpPr>
          <p:nvPr/>
        </p:nvCxnSpPr>
        <p:spPr>
          <a:xfrm>
            <a:off x="5258942" y="5486712"/>
            <a:ext cx="244601" cy="59344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꺾인 양쪽 화살표 연결선 20">
            <a:extLst>
              <a:ext uri="{FF2B5EF4-FFF2-40B4-BE49-F238E27FC236}">
                <a16:creationId xmlns:a16="http://schemas.microsoft.com/office/drawing/2014/main" id="{1A4AA5AA-9DC4-0634-4FF2-F18D2DE18CD2}"/>
              </a:ext>
            </a:extLst>
          </p:cNvPr>
          <p:cNvCxnSpPr>
            <a:cxnSpLocks/>
            <a:stCxn id="231" idx="3"/>
            <a:endCxn id="218" idx="1"/>
          </p:cNvCxnSpPr>
          <p:nvPr/>
        </p:nvCxnSpPr>
        <p:spPr>
          <a:xfrm flipH="1">
            <a:off x="3154788" y="3077234"/>
            <a:ext cx="5399553" cy="2409478"/>
          </a:xfrm>
          <a:prstGeom prst="bentConnector5">
            <a:avLst>
              <a:gd name="adj1" fmla="val -4234"/>
              <a:gd name="adj2" fmla="val 52266"/>
              <a:gd name="adj3" fmla="val 104234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화살표 14">
            <a:extLst>
              <a:ext uri="{FF2B5EF4-FFF2-40B4-BE49-F238E27FC236}">
                <a16:creationId xmlns:a16="http://schemas.microsoft.com/office/drawing/2014/main" id="{EA7D0152-A2F7-948A-192D-6E87224D83E0}"/>
              </a:ext>
            </a:extLst>
          </p:cNvPr>
          <p:cNvCxnSpPr>
            <a:cxnSpLocks/>
            <a:stCxn id="25" idx="3"/>
            <a:endCxn id="207" idx="1"/>
          </p:cNvCxnSpPr>
          <p:nvPr/>
        </p:nvCxnSpPr>
        <p:spPr>
          <a:xfrm flipV="1">
            <a:off x="6964392" y="5007484"/>
            <a:ext cx="547805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화살표 14">
            <a:extLst>
              <a:ext uri="{FF2B5EF4-FFF2-40B4-BE49-F238E27FC236}">
                <a16:creationId xmlns:a16="http://schemas.microsoft.com/office/drawing/2014/main" id="{608F9B70-EB20-B4DA-62CF-55A033638183}"/>
              </a:ext>
            </a:extLst>
          </p:cNvPr>
          <p:cNvCxnSpPr>
            <a:cxnSpLocks/>
            <a:stCxn id="16" idx="3"/>
            <a:endCxn id="212" idx="1"/>
          </p:cNvCxnSpPr>
          <p:nvPr/>
        </p:nvCxnSpPr>
        <p:spPr>
          <a:xfrm flipV="1">
            <a:off x="6964391" y="6080155"/>
            <a:ext cx="547806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8C36E804-7C2C-F33A-08DD-E2370734D9B0}"/>
              </a:ext>
            </a:extLst>
          </p:cNvPr>
          <p:cNvSpPr/>
          <p:nvPr/>
        </p:nvSpPr>
        <p:spPr>
          <a:xfrm>
            <a:off x="429839" y="1148366"/>
            <a:ext cx="1425580" cy="7578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플레이어</a:t>
            </a:r>
            <a:br>
              <a:rPr lang="en-US" altLang="ko-KR">
                <a:solidFill>
                  <a:srgbClr val="000000"/>
                </a:solidFill>
              </a:rPr>
            </a:br>
            <a:r>
              <a:rPr lang="en-US" altLang="ko-KR">
                <a:solidFill>
                  <a:srgbClr val="000000"/>
                </a:solidFill>
              </a:rPr>
              <a:t>2</a:t>
            </a:r>
            <a:r>
              <a:rPr lang="ko-KR" altLang="en-US">
                <a:solidFill>
                  <a:srgbClr val="000000"/>
                </a:solidFill>
              </a:rPr>
              <a:t>인 접속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4A94AE49-04F1-8AA2-6634-923DED43A1EE}"/>
              </a:ext>
            </a:extLst>
          </p:cNvPr>
          <p:cNvSpPr/>
          <p:nvPr/>
        </p:nvSpPr>
        <p:spPr>
          <a:xfrm>
            <a:off x="7512197" y="4624518"/>
            <a:ext cx="1501630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생태계 파괴 엔딩</a:t>
            </a:r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67890A33-FA56-B7B1-F425-056DB749BC06}"/>
              </a:ext>
            </a:extLst>
          </p:cNvPr>
          <p:cNvSpPr/>
          <p:nvPr/>
        </p:nvSpPr>
        <p:spPr>
          <a:xfrm>
            <a:off x="7512197" y="5697189"/>
            <a:ext cx="1501630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생태계 복구 엔딩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34B48A11-9583-38BC-9FC2-C3562B4A0A4D}"/>
              </a:ext>
            </a:extLst>
          </p:cNvPr>
          <p:cNvSpPr/>
          <p:nvPr/>
        </p:nvSpPr>
        <p:spPr>
          <a:xfrm>
            <a:off x="3154788" y="5103746"/>
            <a:ext cx="2104154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지정된 모든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 err="1">
                <a:solidFill>
                  <a:srgbClr val="000000"/>
                </a:solidFill>
              </a:rPr>
              <a:t>배달품</a:t>
            </a:r>
            <a:r>
              <a:rPr lang="ko-KR" altLang="en-US" dirty="0">
                <a:solidFill>
                  <a:srgbClr val="000000"/>
                </a:solidFill>
              </a:rPr>
              <a:t> 배달 완료</a:t>
            </a:r>
          </a:p>
        </p:txBody>
      </p:sp>
      <p:sp>
        <p:nvSpPr>
          <p:cNvPr id="231" name="순서도: 천공 테이프 230">
            <a:extLst>
              <a:ext uri="{FF2B5EF4-FFF2-40B4-BE49-F238E27FC236}">
                <a16:creationId xmlns:a16="http://schemas.microsoft.com/office/drawing/2014/main" id="{EC25D784-F19A-1ED0-EC94-F1376817D020}"/>
              </a:ext>
            </a:extLst>
          </p:cNvPr>
          <p:cNvSpPr/>
          <p:nvPr/>
        </p:nvSpPr>
        <p:spPr>
          <a:xfrm>
            <a:off x="6604891" y="2585083"/>
            <a:ext cx="1949450" cy="984302"/>
          </a:xfrm>
          <a:prstGeom prst="flowChartPunchedTap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다른 배달품들도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동일하게 진행</a:t>
            </a:r>
          </a:p>
        </p:txBody>
      </p:sp>
      <p:sp>
        <p:nvSpPr>
          <p:cNvPr id="239" name="사각형: 둥근 모서리 238">
            <a:extLst>
              <a:ext uri="{FF2B5EF4-FFF2-40B4-BE49-F238E27FC236}">
                <a16:creationId xmlns:a16="http://schemas.microsoft.com/office/drawing/2014/main" id="{FFD3E3DD-10B3-9E30-A0FC-53457BA7D122}"/>
              </a:ext>
            </a:extLst>
          </p:cNvPr>
          <p:cNvSpPr/>
          <p:nvPr/>
        </p:nvSpPr>
        <p:spPr>
          <a:xfrm>
            <a:off x="10119048" y="4311423"/>
            <a:ext cx="1714353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특정 플로우의 </a:t>
            </a:r>
            <a:r>
              <a:rPr lang="ko-KR" altLang="en-US">
                <a:solidFill>
                  <a:srgbClr val="000000"/>
                </a:solidFill>
              </a:rPr>
              <a:t>시작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끝</a:t>
            </a:r>
          </a:p>
        </p:txBody>
      </p:sp>
      <p:sp>
        <p:nvSpPr>
          <p:cNvPr id="241" name="순서도: 천공 테이프 240">
            <a:extLst>
              <a:ext uri="{FF2B5EF4-FFF2-40B4-BE49-F238E27FC236}">
                <a16:creationId xmlns:a16="http://schemas.microsoft.com/office/drawing/2014/main" id="{5DF6D138-F63A-80A7-A5E5-C3F4B88289F5}"/>
              </a:ext>
            </a:extLst>
          </p:cNvPr>
          <p:cNvSpPr/>
          <p:nvPr/>
        </p:nvSpPr>
        <p:spPr>
          <a:xfrm>
            <a:off x="10119048" y="5145718"/>
            <a:ext cx="1764061" cy="868959"/>
          </a:xfrm>
          <a:prstGeom prst="flowChartPunchedTap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플로우 진행 중</a:t>
            </a:r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449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0A9B4F-A65A-750D-C0EB-430131037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19408-1360-0951-37B4-FE64C5EBC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595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8F810B-8A0E-AB8E-012B-5A3B3929B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스토리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F5A7B401-3726-3058-8321-23D9614CDA6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982488"/>
            <a:ext cx="5181600" cy="3370502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458BC6-D69C-A1A2-A6B1-13DF8BEF77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dirty="0"/>
              <a:t> 당신들은 자부심 넘치는 </a:t>
            </a:r>
            <a:br>
              <a:rPr lang="en-US" altLang="ko-KR" dirty="0"/>
            </a:br>
            <a:r>
              <a:rPr lang="ko-KR" altLang="en-US" dirty="0"/>
              <a:t>우주배달부입니다</a:t>
            </a:r>
            <a:r>
              <a:rPr lang="en-US" altLang="ko-KR" dirty="0"/>
              <a:t>!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오늘은 이 행성에 배달을 왔군요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그런데 이런</a:t>
            </a:r>
            <a:r>
              <a:rPr lang="en-US" altLang="ko-KR" dirty="0"/>
              <a:t>!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여러분의 배달 품목에는 조금</a:t>
            </a:r>
            <a:br>
              <a:rPr lang="en-US" altLang="ko-KR" dirty="0"/>
            </a:br>
            <a:r>
              <a:rPr lang="en-US" altLang="ko-KR" dirty="0"/>
              <a:t>“</a:t>
            </a:r>
            <a:r>
              <a:rPr lang="ko-KR" altLang="en-US" dirty="0"/>
              <a:t>위험한</a:t>
            </a:r>
            <a:r>
              <a:rPr lang="en-US" altLang="ko-KR" dirty="0"/>
              <a:t>”</a:t>
            </a:r>
            <a:r>
              <a:rPr lang="ko-KR" altLang="en-US" dirty="0"/>
              <a:t>것들이 있네요</a:t>
            </a:r>
            <a:r>
              <a:rPr lang="en-US" altLang="ko-KR" dirty="0"/>
              <a:t>…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하지만 걱정할 것 없죠</a:t>
            </a:r>
            <a:r>
              <a:rPr lang="en-US" altLang="ko-KR" dirty="0"/>
              <a:t>!</a:t>
            </a:r>
            <a:br>
              <a:rPr lang="en-US" altLang="ko-KR" dirty="0"/>
            </a:br>
            <a:r>
              <a:rPr lang="ko-KR" altLang="en-US" dirty="0"/>
              <a:t>여러분은 전문 </a:t>
            </a:r>
            <a:r>
              <a:rPr lang="ko-KR" altLang="en-US" dirty="0" err="1"/>
              <a:t>배달부니까요</a:t>
            </a:r>
            <a:r>
              <a:rPr lang="en-US" altLang="ko-KR" dirty="0"/>
              <a:t>!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 과연 오늘도 제한 시간 안에 모든 배달을 마치고 귀환할 수 있을까요</a:t>
            </a:r>
            <a:r>
              <a:rPr lang="en-US" altLang="ko-KR" dirty="0"/>
              <a:t>?</a:t>
            </a:r>
          </a:p>
          <a:p>
            <a:pPr marL="0" indent="0">
              <a:lnSpc>
                <a:spcPct val="110000"/>
              </a:lnSpc>
              <a:buNone/>
            </a:pPr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48225F-E085-E798-1354-AE4ED8350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9/21/2026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C67C09-42E5-89D8-6707-AA2602E11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AEE668E-625C-3F6B-736B-BACF027D5AA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ACDC9D-F3E2-685F-9CA3-3259AAF33DA1}"/>
              </a:ext>
            </a:extLst>
          </p:cNvPr>
          <p:cNvSpPr txBox="1"/>
          <p:nvPr/>
        </p:nvSpPr>
        <p:spPr>
          <a:xfrm>
            <a:off x="838199" y="5352990"/>
            <a:ext cx="2974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자료</a:t>
            </a:r>
            <a:r>
              <a:rPr lang="en-US" altLang="ko-KR" sz="1200" dirty="0"/>
              <a:t>1[</a:t>
            </a:r>
            <a:r>
              <a:rPr lang="ko-KR" altLang="en-US" sz="1200" dirty="0"/>
              <a:t>게임</a:t>
            </a:r>
            <a:r>
              <a:rPr lang="en-US" altLang="ko-KR" sz="1200" dirty="0"/>
              <a:t>”run pizza run”</a:t>
            </a:r>
            <a:r>
              <a:rPr lang="ko-KR" altLang="en-US" sz="1200" dirty="0"/>
              <a:t> 플레이화면</a:t>
            </a:r>
            <a:r>
              <a:rPr lang="en-US" altLang="ko-KR" sz="1200" dirty="0"/>
              <a:t>]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01643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85C9215-8215-D4B2-FF11-B22CEE31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플레이어블</a:t>
            </a:r>
            <a:r>
              <a:rPr lang="ko-KR" altLang="en-US" dirty="0"/>
              <a:t> 캐릭터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D2AE0A-0A6D-FA31-4890-32CBA0C9D0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디자인 컨셉 </a:t>
            </a:r>
            <a:r>
              <a:rPr lang="en-US" altLang="ko-KR" sz="2400" dirty="0"/>
              <a:t>: </a:t>
            </a:r>
            <a:r>
              <a:rPr lang="ko-KR" altLang="en-US" sz="2400" dirty="0"/>
              <a:t>자료 이미지처럼 </a:t>
            </a:r>
            <a:br>
              <a:rPr lang="en-US" altLang="ko-KR" sz="2400" dirty="0"/>
            </a:br>
            <a:r>
              <a:rPr lang="ko-KR" altLang="en-US" sz="2400" dirty="0"/>
              <a:t>동글동글한 이족보행 동물 캐릭터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가능한 동작 </a:t>
            </a:r>
            <a:r>
              <a:rPr lang="en-US" altLang="ko-KR" sz="2400" dirty="0"/>
              <a:t>:</a:t>
            </a:r>
            <a:br>
              <a:rPr lang="en-US" altLang="ko-KR" sz="2400" dirty="0"/>
            </a:br>
            <a:r>
              <a:rPr lang="ko-KR" altLang="en-US" sz="2400" dirty="0"/>
              <a:t>걷기</a:t>
            </a:r>
            <a:r>
              <a:rPr lang="en-US" altLang="ko-KR" sz="2400" dirty="0"/>
              <a:t>, </a:t>
            </a:r>
            <a:r>
              <a:rPr lang="ko-KR" altLang="en-US" sz="2400" dirty="0"/>
              <a:t>달리기</a:t>
            </a:r>
            <a:r>
              <a:rPr lang="en-US" altLang="ko-KR" sz="2400" dirty="0"/>
              <a:t>, </a:t>
            </a:r>
            <a:r>
              <a:rPr lang="ko-KR" altLang="en-US" sz="2400" dirty="0"/>
              <a:t>상호작용</a:t>
            </a:r>
            <a:r>
              <a:rPr lang="en-US" altLang="ko-KR" sz="2400" dirty="0"/>
              <a:t>(</a:t>
            </a:r>
            <a:r>
              <a:rPr lang="ko-KR" altLang="en-US" sz="2400" dirty="0"/>
              <a:t>물품 들기</a:t>
            </a:r>
            <a:r>
              <a:rPr lang="en-US" altLang="ko-KR" sz="2400" dirty="0"/>
              <a:t>), </a:t>
            </a:r>
            <a:r>
              <a:rPr lang="ko-KR" altLang="en-US" sz="2400" dirty="0"/>
              <a:t>총 조준</a:t>
            </a:r>
            <a:r>
              <a:rPr lang="en-US" altLang="ko-KR" sz="2400" dirty="0"/>
              <a:t>, </a:t>
            </a:r>
            <a:r>
              <a:rPr lang="ko-KR" altLang="en-US" sz="2400" dirty="0"/>
              <a:t>총 발사</a:t>
            </a:r>
            <a:r>
              <a:rPr lang="en-US" altLang="ko-KR" sz="2400" dirty="0"/>
              <a:t>, </a:t>
            </a:r>
            <a:r>
              <a:rPr lang="ko-KR" altLang="en-US" sz="2400" dirty="0"/>
              <a:t>점프 등 기본적인 동작들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BB22C15-86A3-F2D5-9514-7E238DE9E2F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13F6286-6394-F0E6-3780-8AA2C10C9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64" y="1825625"/>
            <a:ext cx="1809575" cy="257516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2FF547D-36F8-6D92-DD89-2ABCCA505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629" y="1660362"/>
            <a:ext cx="2324463" cy="28928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A06497-C397-ADAA-3DA5-1A99263FA041}"/>
              </a:ext>
            </a:extLst>
          </p:cNvPr>
          <p:cNvSpPr txBox="1"/>
          <p:nvPr/>
        </p:nvSpPr>
        <p:spPr>
          <a:xfrm>
            <a:off x="3365020" y="4584972"/>
            <a:ext cx="2582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자료</a:t>
            </a:r>
            <a:r>
              <a:rPr lang="en-US" altLang="ko-KR" sz="1200" dirty="0"/>
              <a:t>3[</a:t>
            </a:r>
            <a:r>
              <a:rPr lang="ko-KR" altLang="en-US" sz="1200" dirty="0"/>
              <a:t>게임</a:t>
            </a:r>
            <a:r>
              <a:rPr lang="en-US" altLang="ko-KR" sz="1200" dirty="0"/>
              <a:t>”</a:t>
            </a:r>
            <a:r>
              <a:rPr lang="ko-KR" altLang="en-US" sz="1200" dirty="0" err="1"/>
              <a:t>파티애니멀즈</a:t>
            </a:r>
            <a:r>
              <a:rPr lang="en-US" altLang="ko-KR" sz="1200" dirty="0"/>
              <a:t>”</a:t>
            </a:r>
            <a:r>
              <a:rPr lang="ko-KR" altLang="en-US" sz="1200" dirty="0"/>
              <a:t> 캐릭터</a:t>
            </a:r>
            <a:r>
              <a:rPr lang="en-US" altLang="ko-KR" sz="1200" dirty="0"/>
              <a:t>]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DBF9A6-4880-3185-2CC3-6B9E831CD0CB}"/>
              </a:ext>
            </a:extLst>
          </p:cNvPr>
          <p:cNvSpPr txBox="1"/>
          <p:nvPr/>
        </p:nvSpPr>
        <p:spPr>
          <a:xfrm>
            <a:off x="1000664" y="4553190"/>
            <a:ext cx="2582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자료</a:t>
            </a:r>
            <a:r>
              <a:rPr lang="en-US" altLang="ko-KR" sz="1200" dirty="0"/>
              <a:t>2[</a:t>
            </a:r>
            <a:r>
              <a:rPr lang="ko-KR" altLang="en-US" sz="1200" dirty="0"/>
              <a:t>게임</a:t>
            </a:r>
            <a:r>
              <a:rPr lang="en-US" altLang="ko-KR" sz="1200" dirty="0"/>
              <a:t>”</a:t>
            </a:r>
            <a:r>
              <a:rPr lang="ko-KR" altLang="en-US" sz="1200" dirty="0"/>
              <a:t>동물의 숲</a:t>
            </a:r>
            <a:r>
              <a:rPr lang="en-US" altLang="ko-KR" sz="1200" dirty="0"/>
              <a:t>”</a:t>
            </a:r>
            <a:r>
              <a:rPr lang="ko-KR" altLang="en-US" sz="1200" dirty="0"/>
              <a:t> 캐릭터</a:t>
            </a:r>
            <a:r>
              <a:rPr lang="en-US" altLang="ko-KR" sz="1200" dirty="0"/>
              <a:t>]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85226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21B812-CDBB-9D5A-A6C7-F92F8C0FA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NPC_</a:t>
            </a:r>
            <a:r>
              <a:rPr lang="ko-KR" altLang="en-US" dirty="0"/>
              <a:t>반응 생물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F01151-47B6-C912-B338-FDB800779E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이미지 추가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6A9D90-F02E-F595-E620-71D0297E2E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설명 </a:t>
            </a:r>
            <a:r>
              <a:rPr lang="en-US" altLang="ko-KR" sz="2400" dirty="0"/>
              <a:t>: </a:t>
            </a:r>
            <a:r>
              <a:rPr lang="ko-KR" altLang="en-US" sz="2400" dirty="0"/>
              <a:t>배송품에 반응하거나</a:t>
            </a:r>
            <a:r>
              <a:rPr lang="en-US" altLang="ko-KR" sz="2400" dirty="0"/>
              <a:t>, </a:t>
            </a:r>
            <a:br>
              <a:rPr lang="en-US" altLang="ko-KR" sz="2400" dirty="0"/>
            </a:br>
            <a:r>
              <a:rPr lang="ko-KR" altLang="en-US" sz="2400" dirty="0"/>
              <a:t>다른 생물에 반응하거나</a:t>
            </a:r>
            <a:r>
              <a:rPr lang="en-US" altLang="ko-KR" sz="2400" dirty="0"/>
              <a:t>, </a:t>
            </a:r>
            <a:br>
              <a:rPr lang="en-US" altLang="ko-KR" sz="2400" dirty="0"/>
            </a:br>
            <a:r>
              <a:rPr lang="ko-KR" altLang="en-US" sz="2400" dirty="0"/>
              <a:t>플레이어의 행동에 반응해 </a:t>
            </a:r>
            <a:br>
              <a:rPr lang="en-US" altLang="ko-KR" sz="2400" dirty="0"/>
            </a:br>
            <a:r>
              <a:rPr lang="ko-KR" altLang="en-US" sz="2400" dirty="0"/>
              <a:t>배송 시간에 영향을 주는 모든 </a:t>
            </a:r>
            <a:br>
              <a:rPr lang="en-US" altLang="ko-KR" sz="2400" dirty="0"/>
            </a:br>
            <a:r>
              <a:rPr lang="ko-KR" altLang="en-US" sz="2400" dirty="0"/>
              <a:t>생물들을 통틀어 부르는 말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특이사항 </a:t>
            </a:r>
            <a:r>
              <a:rPr lang="en-US" altLang="ko-KR" sz="2400" dirty="0"/>
              <a:t>: </a:t>
            </a:r>
            <a:r>
              <a:rPr lang="ko-KR" altLang="en-US" sz="2400" dirty="0"/>
              <a:t>상황에 따라</a:t>
            </a:r>
            <a:r>
              <a:rPr lang="en-US" altLang="ko-KR" sz="2400" dirty="0"/>
              <a:t> </a:t>
            </a:r>
            <a:r>
              <a:rPr lang="ko-KR" altLang="en-US" sz="2400" dirty="0"/>
              <a:t>행동반경이</a:t>
            </a:r>
            <a:br>
              <a:rPr lang="en-US" altLang="ko-KR" sz="2400" dirty="0"/>
            </a:br>
            <a:r>
              <a:rPr lang="ko-KR" altLang="en-US" sz="2400" dirty="0"/>
              <a:t>서식지에서 크게 벗어날 수 있음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5260F7-3325-2433-9A2E-9ADBDA865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9/21/2026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11B074-D4F3-9E87-21AC-400E1D7EA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019D52D-25D6-D3FB-B5F8-0C1637DFE92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</p:spTree>
    <p:extLst>
      <p:ext uri="{BB962C8B-B14F-4D97-AF65-F5344CB8AC3E}">
        <p14:creationId xmlns:p14="http://schemas.microsoft.com/office/powerpoint/2010/main" val="3964365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4EEE1-7513-70FD-A7D8-685ADD62B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NPC_</a:t>
            </a:r>
            <a:r>
              <a:rPr lang="ko-KR" altLang="en-US" dirty="0"/>
              <a:t>주민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44275D-3DDE-E1B9-C73E-BF0F2457C4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이미지 추가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5E10D-98DC-8DAC-4F62-6C32F0F5A6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설명 </a:t>
            </a:r>
            <a:r>
              <a:rPr lang="en-US" altLang="ko-KR" sz="2400" dirty="0"/>
              <a:t>: </a:t>
            </a:r>
            <a:r>
              <a:rPr lang="ko-KR" altLang="en-US" sz="2400" dirty="0"/>
              <a:t>배달품을 주문해 전달받는 행성 주민</a:t>
            </a:r>
            <a:br>
              <a:rPr lang="en-US" altLang="ko-KR" sz="2400" dirty="0"/>
            </a:br>
            <a:endParaRPr lang="en-US" altLang="ko-KR" sz="2400" dirty="0"/>
          </a:p>
          <a:p>
            <a:r>
              <a:rPr lang="ko-KR" altLang="en-US" sz="2400" dirty="0"/>
              <a:t>특징 </a:t>
            </a:r>
            <a:r>
              <a:rPr lang="en-US" altLang="ko-KR" sz="2400" dirty="0"/>
              <a:t>: </a:t>
            </a:r>
            <a:r>
              <a:rPr lang="ko-KR" altLang="en-US" sz="2400" dirty="0"/>
              <a:t>반응 생물들과는 달리 직접 플레이어가 방문하지</a:t>
            </a:r>
            <a:r>
              <a:rPr lang="en-US" altLang="ko-KR" sz="2400" dirty="0"/>
              <a:t> </a:t>
            </a:r>
            <a:r>
              <a:rPr lang="ko-KR" altLang="en-US" sz="2400" dirty="0"/>
              <a:t>않는 이상 </a:t>
            </a:r>
            <a:br>
              <a:rPr lang="en-US" altLang="ko-KR" sz="2400" dirty="0"/>
            </a:br>
            <a:r>
              <a:rPr lang="ko-KR" altLang="en-US" sz="2400" dirty="0"/>
              <a:t>주거지에서 나오지 않음 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0A206D-048B-30A6-A29E-89FB4AC2C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9/21/2026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ECEE5D-A882-C018-91BC-370AA20C2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7E42B92-E8FB-2528-B25F-EE8DC6E90A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</p:spTree>
    <p:extLst>
      <p:ext uri="{BB962C8B-B14F-4D97-AF65-F5344CB8AC3E}">
        <p14:creationId xmlns:p14="http://schemas.microsoft.com/office/powerpoint/2010/main" val="3685600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6D9241-79B3-37D9-7734-9FF6357F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08174C-9B5D-792B-E720-012AFFC733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4E6293-565F-03C4-5B79-01CA873D73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주거지 </a:t>
            </a:r>
            <a:r>
              <a:rPr lang="en-US" altLang="ko-KR" dirty="0"/>
              <a:t>: 5 </a:t>
            </a:r>
            <a:r>
              <a:rPr lang="ko-KR" altLang="en-US" dirty="0"/>
              <a:t>개</a:t>
            </a:r>
            <a:endParaRPr lang="en-US" altLang="ko-KR" dirty="0"/>
          </a:p>
          <a:p>
            <a:r>
              <a:rPr lang="ko-KR" altLang="en-US" dirty="0"/>
              <a:t>지형 </a:t>
            </a:r>
            <a:r>
              <a:rPr lang="en-US" altLang="ko-KR" dirty="0"/>
              <a:t>: </a:t>
            </a:r>
            <a:r>
              <a:rPr lang="ko-KR" altLang="en-US" dirty="0"/>
              <a:t>숲</a:t>
            </a:r>
            <a:r>
              <a:rPr lang="en-US" altLang="ko-KR" dirty="0"/>
              <a:t>, </a:t>
            </a:r>
            <a:r>
              <a:rPr lang="ko-KR" altLang="en-US" dirty="0"/>
              <a:t>산</a:t>
            </a:r>
            <a:r>
              <a:rPr lang="en-US" altLang="ko-KR" dirty="0"/>
              <a:t>, </a:t>
            </a:r>
            <a:r>
              <a:rPr lang="ko-KR" altLang="en-US" dirty="0"/>
              <a:t>강</a:t>
            </a:r>
            <a:r>
              <a:rPr lang="en-US" altLang="ko-KR" dirty="0"/>
              <a:t>, </a:t>
            </a:r>
            <a:r>
              <a:rPr lang="ko-KR" altLang="en-US" dirty="0"/>
              <a:t>모래언덕</a:t>
            </a:r>
            <a:r>
              <a:rPr lang="en-US" altLang="ko-KR" dirty="0"/>
              <a:t>, </a:t>
            </a:r>
            <a:r>
              <a:rPr lang="ko-KR" altLang="en-US" dirty="0"/>
              <a:t>늪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숲 </a:t>
            </a:r>
            <a:r>
              <a:rPr lang="en-US" altLang="ko-KR" dirty="0"/>
              <a:t>: </a:t>
            </a:r>
            <a:r>
              <a:rPr lang="ko-KR" altLang="en-US" dirty="0"/>
              <a:t>일반적으로 지나갈 수 없을 정도로 강한 존재가 있음</a:t>
            </a:r>
            <a:endParaRPr lang="en-US" altLang="ko-KR" dirty="0"/>
          </a:p>
          <a:p>
            <a:r>
              <a:rPr lang="ko-KR" altLang="en-US" dirty="0"/>
              <a:t>모래언덕 </a:t>
            </a:r>
            <a:r>
              <a:rPr lang="en-US" altLang="ko-KR" dirty="0"/>
              <a:t>: </a:t>
            </a:r>
            <a:r>
              <a:rPr lang="ko-KR" altLang="en-US" dirty="0"/>
              <a:t>몬스터 없음</a:t>
            </a:r>
            <a:endParaRPr lang="en-US" altLang="ko-KR"/>
          </a:p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2B0FA1-82F3-0039-88C7-7C3C72B33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9/21/2026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CEE71C-B75F-0B4E-BD40-2F4B46188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AD10239-9783-2237-1C6F-0FCA432FF6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</p:spTree>
    <p:extLst>
      <p:ext uri="{BB962C8B-B14F-4D97-AF65-F5344CB8AC3E}">
        <p14:creationId xmlns:p14="http://schemas.microsoft.com/office/powerpoint/2010/main" val="3365822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38F8F5-9C4C-79DD-7420-0D1733DB1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상호작용</a:t>
            </a:r>
            <a:r>
              <a:rPr lang="en-US" altLang="ko-KR" dirty="0"/>
              <a:t>_</a:t>
            </a:r>
            <a:r>
              <a:rPr lang="ko-KR" altLang="en-US" dirty="0"/>
              <a:t>지형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888EA2-7512-05DB-7F46-4C0E22175F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모래 지형 </a:t>
            </a:r>
            <a:r>
              <a:rPr lang="en-US" altLang="ko-KR" dirty="0"/>
              <a:t>: </a:t>
            </a:r>
            <a:r>
              <a:rPr lang="ko-KR" altLang="en-US" dirty="0"/>
              <a:t>플레이어 이동속도 </a:t>
            </a:r>
            <a:r>
              <a:rPr lang="en-US" altLang="ko-KR" dirty="0"/>
              <a:t>1/3 </a:t>
            </a:r>
            <a:r>
              <a:rPr lang="ko-KR" altLang="en-US" dirty="0"/>
              <a:t>감소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늪 지형 </a:t>
            </a:r>
            <a:r>
              <a:rPr lang="en-US" altLang="ko-KR" dirty="0"/>
              <a:t>: </a:t>
            </a:r>
            <a:r>
              <a:rPr lang="ko-KR" altLang="en-US" dirty="0"/>
              <a:t>플레이어 이동속도 </a:t>
            </a:r>
            <a:r>
              <a:rPr lang="en-US" altLang="ko-KR" dirty="0"/>
              <a:t>1/2 </a:t>
            </a:r>
            <a:r>
              <a:rPr lang="ko-KR" altLang="en-US" dirty="0"/>
              <a:t>감소</a:t>
            </a:r>
            <a:r>
              <a:rPr lang="en-US" altLang="ko-KR" dirty="0"/>
              <a:t>, </a:t>
            </a:r>
            <a:r>
              <a:rPr lang="ko-KR" altLang="en-US" dirty="0"/>
              <a:t>방향전환율 </a:t>
            </a:r>
            <a:r>
              <a:rPr lang="en-US" altLang="ko-KR" dirty="0"/>
              <a:t>1/4 </a:t>
            </a:r>
            <a:r>
              <a:rPr lang="ko-KR" altLang="en-US" dirty="0"/>
              <a:t>감소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수중 지형 </a:t>
            </a:r>
            <a:r>
              <a:rPr lang="en-US" altLang="ko-KR" dirty="0"/>
              <a:t>: </a:t>
            </a:r>
            <a:r>
              <a:rPr lang="ko-KR" altLang="en-US" dirty="0"/>
              <a:t>플레이어에게 묻은 냄새 제거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2955F8-9FAA-C941-AFEE-CCD6E5FB5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9/21/2026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F7C073-3C7C-4ABC-39B1-77D967780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0041A52-4D25-29A6-20D2-B902585E720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7CC0537B-2D9C-E857-41CC-0A210225D3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6419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9B108-C7FB-752A-B8FF-FD74F9A33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상호작용</a:t>
            </a:r>
            <a:r>
              <a:rPr lang="en-US" altLang="ko-KR" dirty="0"/>
              <a:t>_</a:t>
            </a:r>
            <a:r>
              <a:rPr lang="ko-KR" altLang="en-US" dirty="0" err="1"/>
              <a:t>배달품</a:t>
            </a:r>
            <a:r>
              <a:rPr lang="en-US" altLang="ko-KR" dirty="0">
                <a:solidFill>
                  <a:schemeClr val="accent3"/>
                </a:solidFill>
              </a:rPr>
              <a:t>_</a:t>
            </a:r>
            <a:r>
              <a:rPr lang="ko-KR" altLang="en-US" dirty="0">
                <a:solidFill>
                  <a:schemeClr val="accent3"/>
                </a:solidFill>
              </a:rPr>
              <a:t>예시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A8B8630-EB4F-A5EB-39E9-475AD1C7529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cxnSp>
        <p:nvCxnSpPr>
          <p:cNvPr id="16" name="꺾인 양쪽 화살표 연결선 18">
            <a:extLst>
              <a:ext uri="{FF2B5EF4-FFF2-40B4-BE49-F238E27FC236}">
                <a16:creationId xmlns:a16="http://schemas.microsoft.com/office/drawing/2014/main" id="{56F6801E-A777-D7E2-3F7D-FE70833DC17E}"/>
              </a:ext>
            </a:extLst>
          </p:cNvPr>
          <p:cNvCxnSpPr>
            <a:cxnSpLocks/>
            <a:stCxn id="37" idx="3"/>
            <a:endCxn id="48" idx="1"/>
          </p:cNvCxnSpPr>
          <p:nvPr/>
        </p:nvCxnSpPr>
        <p:spPr>
          <a:xfrm>
            <a:off x="8503153" y="4148177"/>
            <a:ext cx="864860" cy="1973394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양쪽 화살표 연결선 18">
            <a:extLst>
              <a:ext uri="{FF2B5EF4-FFF2-40B4-BE49-F238E27FC236}">
                <a16:creationId xmlns:a16="http://schemas.microsoft.com/office/drawing/2014/main" id="{EAE3C6E4-905B-F746-6227-97B6038FD9CE}"/>
              </a:ext>
            </a:extLst>
          </p:cNvPr>
          <p:cNvCxnSpPr>
            <a:cxnSpLocks/>
            <a:stCxn id="129" idx="3"/>
            <a:endCxn id="29" idx="1"/>
          </p:cNvCxnSpPr>
          <p:nvPr/>
        </p:nvCxnSpPr>
        <p:spPr>
          <a:xfrm flipV="1">
            <a:off x="2219172" y="2994316"/>
            <a:ext cx="501944" cy="66550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9179219-7D61-354A-E365-1F27ABBEE98F}"/>
              </a:ext>
            </a:extLst>
          </p:cNvPr>
          <p:cNvSpPr/>
          <p:nvPr/>
        </p:nvSpPr>
        <p:spPr>
          <a:xfrm>
            <a:off x="2721116" y="2668631"/>
            <a:ext cx="1897821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>
                <a:solidFill>
                  <a:srgbClr val="000000"/>
                </a:solidFill>
              </a:rPr>
              <a:t>a_</a:t>
            </a:r>
            <a:r>
              <a:rPr lang="ko-KR" altLang="en-US" dirty="0">
                <a:solidFill>
                  <a:srgbClr val="000000"/>
                </a:solidFill>
              </a:rPr>
              <a:t>숲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직선 거리</a:t>
            </a:r>
            <a:r>
              <a:rPr lang="en-US" altLang="ko-KR" dirty="0">
                <a:solidFill>
                  <a:srgbClr val="000000"/>
                </a:solidFill>
              </a:rPr>
              <a:t>[40T] 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0F3819E-3AFB-EA66-9364-82EF1C520019}"/>
              </a:ext>
            </a:extLst>
          </p:cNvPr>
          <p:cNvSpPr/>
          <p:nvPr/>
        </p:nvSpPr>
        <p:spPr>
          <a:xfrm>
            <a:off x="2676829" y="3989070"/>
            <a:ext cx="1942107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>
                <a:solidFill>
                  <a:srgbClr val="000000"/>
                </a:solidFill>
              </a:rPr>
              <a:t>b_</a:t>
            </a:r>
            <a:r>
              <a:rPr lang="ko-KR" altLang="en-US" dirty="0">
                <a:solidFill>
                  <a:srgbClr val="000000"/>
                </a:solidFill>
              </a:rPr>
              <a:t>모래언덕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곡선 거리</a:t>
            </a:r>
            <a:r>
              <a:rPr lang="en-US" altLang="ko-KR" dirty="0">
                <a:solidFill>
                  <a:srgbClr val="000000"/>
                </a:solidFill>
              </a:rPr>
              <a:t>[80T]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E17D59C-8575-F0A7-0903-28793FD4E8D3}"/>
              </a:ext>
            </a:extLst>
          </p:cNvPr>
          <p:cNvSpPr/>
          <p:nvPr/>
        </p:nvSpPr>
        <p:spPr>
          <a:xfrm>
            <a:off x="6513951" y="1404947"/>
            <a:ext cx="1947707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 err="1">
                <a:solidFill>
                  <a:srgbClr val="000000"/>
                </a:solidFill>
              </a:rPr>
              <a:t>a_a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숲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곡선 거리</a:t>
            </a:r>
            <a:r>
              <a:rPr lang="en-US" altLang="ko-KR" dirty="0">
                <a:solidFill>
                  <a:srgbClr val="000000"/>
                </a:solidFill>
              </a:rPr>
              <a:t>[20T] 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CAA3893-299B-A643-F7AB-7FAF127ACB8F}"/>
              </a:ext>
            </a:extLst>
          </p:cNvPr>
          <p:cNvSpPr/>
          <p:nvPr/>
        </p:nvSpPr>
        <p:spPr>
          <a:xfrm>
            <a:off x="6561043" y="3822492"/>
            <a:ext cx="194211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 err="1">
                <a:solidFill>
                  <a:srgbClr val="000000"/>
                </a:solidFill>
              </a:rPr>
              <a:t>a_b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늪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직선 거리</a:t>
            </a:r>
            <a:r>
              <a:rPr lang="en-US" altLang="ko-KR" dirty="0">
                <a:solidFill>
                  <a:srgbClr val="000000"/>
                </a:solidFill>
              </a:rPr>
              <a:t>[10T] 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41" name="꺾인 양쪽 화살표 연결선 18">
            <a:extLst>
              <a:ext uri="{FF2B5EF4-FFF2-40B4-BE49-F238E27FC236}">
                <a16:creationId xmlns:a16="http://schemas.microsoft.com/office/drawing/2014/main" id="{ADAD90DE-F6E9-A2FB-0C2C-B653BCD7729D}"/>
              </a:ext>
            </a:extLst>
          </p:cNvPr>
          <p:cNvCxnSpPr>
            <a:cxnSpLocks/>
            <a:stCxn id="129" idx="3"/>
            <a:endCxn id="33" idx="1"/>
          </p:cNvCxnSpPr>
          <p:nvPr/>
        </p:nvCxnSpPr>
        <p:spPr>
          <a:xfrm>
            <a:off x="2219172" y="3659817"/>
            <a:ext cx="457657" cy="654938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C84C43D-6067-0DF0-B9A6-B76471F4F9D7}"/>
              </a:ext>
            </a:extLst>
          </p:cNvPr>
          <p:cNvSpPr/>
          <p:nvPr/>
        </p:nvSpPr>
        <p:spPr>
          <a:xfrm>
            <a:off x="9368013" y="5795886"/>
            <a:ext cx="1316825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주거지</a:t>
            </a:r>
            <a:r>
              <a:rPr lang="en-US" altLang="ko-KR" dirty="0">
                <a:solidFill>
                  <a:srgbClr val="000000"/>
                </a:solidFill>
              </a:rPr>
              <a:t>3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도착</a:t>
            </a:r>
          </a:p>
        </p:txBody>
      </p:sp>
      <p:cxnSp>
        <p:nvCxnSpPr>
          <p:cNvPr id="52" name="꺾인 양쪽 화살표 연결선 18">
            <a:extLst>
              <a:ext uri="{FF2B5EF4-FFF2-40B4-BE49-F238E27FC236}">
                <a16:creationId xmlns:a16="http://schemas.microsoft.com/office/drawing/2014/main" id="{D7DA4324-C9E0-8070-3D26-EBAE550692AB}"/>
              </a:ext>
            </a:extLst>
          </p:cNvPr>
          <p:cNvCxnSpPr>
            <a:cxnSpLocks/>
            <a:stCxn id="35" idx="3"/>
            <a:endCxn id="48" idx="1"/>
          </p:cNvCxnSpPr>
          <p:nvPr/>
        </p:nvCxnSpPr>
        <p:spPr>
          <a:xfrm>
            <a:off x="8461658" y="1730632"/>
            <a:ext cx="906355" cy="4390939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양쪽 화살표 연결선 18">
            <a:extLst>
              <a:ext uri="{FF2B5EF4-FFF2-40B4-BE49-F238E27FC236}">
                <a16:creationId xmlns:a16="http://schemas.microsoft.com/office/drawing/2014/main" id="{AA4BF786-2129-746A-9AA3-9A21F4DA95DC}"/>
              </a:ext>
            </a:extLst>
          </p:cNvPr>
          <p:cNvCxnSpPr>
            <a:cxnSpLocks/>
            <a:stCxn id="33" idx="3"/>
            <a:endCxn id="48" idx="1"/>
          </p:cNvCxnSpPr>
          <p:nvPr/>
        </p:nvCxnSpPr>
        <p:spPr>
          <a:xfrm>
            <a:off x="4618936" y="4314755"/>
            <a:ext cx="4749077" cy="1806816"/>
          </a:xfrm>
          <a:prstGeom prst="bentConnector3">
            <a:avLst>
              <a:gd name="adj1" fmla="val 16038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양쪽 화살표 연결선 18">
            <a:extLst>
              <a:ext uri="{FF2B5EF4-FFF2-40B4-BE49-F238E27FC236}">
                <a16:creationId xmlns:a16="http://schemas.microsoft.com/office/drawing/2014/main" id="{33A2FA1F-665E-2689-2ACB-CEAC982402CF}"/>
              </a:ext>
            </a:extLst>
          </p:cNvPr>
          <p:cNvCxnSpPr>
            <a:cxnSpLocks/>
            <a:stCxn id="29" idx="3"/>
            <a:endCxn id="37" idx="1"/>
          </p:cNvCxnSpPr>
          <p:nvPr/>
        </p:nvCxnSpPr>
        <p:spPr>
          <a:xfrm>
            <a:off x="4618937" y="2994316"/>
            <a:ext cx="1942106" cy="115386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양쪽 화살표 연결선 18">
            <a:extLst>
              <a:ext uri="{FF2B5EF4-FFF2-40B4-BE49-F238E27FC236}">
                <a16:creationId xmlns:a16="http://schemas.microsoft.com/office/drawing/2014/main" id="{3D03D58E-FB20-BB79-DE7C-06A42C45BB70}"/>
              </a:ext>
            </a:extLst>
          </p:cNvPr>
          <p:cNvCxnSpPr>
            <a:cxnSpLocks/>
            <a:stCxn id="29" idx="3"/>
            <a:endCxn id="35" idx="1"/>
          </p:cNvCxnSpPr>
          <p:nvPr/>
        </p:nvCxnSpPr>
        <p:spPr>
          <a:xfrm flipV="1">
            <a:off x="4618937" y="1730632"/>
            <a:ext cx="1895014" cy="1263684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다이아몬드 90">
            <a:extLst>
              <a:ext uri="{FF2B5EF4-FFF2-40B4-BE49-F238E27FC236}">
                <a16:creationId xmlns:a16="http://schemas.microsoft.com/office/drawing/2014/main" id="{74CC2370-1DBC-167A-14C8-CAF8233671AE}"/>
              </a:ext>
            </a:extLst>
          </p:cNvPr>
          <p:cNvSpPr/>
          <p:nvPr/>
        </p:nvSpPr>
        <p:spPr>
          <a:xfrm>
            <a:off x="2448748" y="4656985"/>
            <a:ext cx="2390498" cy="1693186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 지형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플레이어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1/3</a:t>
            </a:r>
            <a:r>
              <a:rPr lang="ko-KR" altLang="en-US" dirty="0">
                <a:solidFill>
                  <a:sysClr val="windowText" lastClr="000000"/>
                </a:solidFill>
              </a:rPr>
              <a:t>감소</a:t>
            </a:r>
          </a:p>
        </p:txBody>
      </p:sp>
      <p:sp>
        <p:nvSpPr>
          <p:cNvPr id="94" name="다이아몬드 93">
            <a:extLst>
              <a:ext uri="{FF2B5EF4-FFF2-40B4-BE49-F238E27FC236}">
                <a16:creationId xmlns:a16="http://schemas.microsoft.com/office/drawing/2014/main" id="{7A49AC89-C484-B2DE-89BB-FD81F1C06155}"/>
              </a:ext>
            </a:extLst>
          </p:cNvPr>
          <p:cNvSpPr/>
          <p:nvPr/>
        </p:nvSpPr>
        <p:spPr>
          <a:xfrm>
            <a:off x="6340736" y="4473562"/>
            <a:ext cx="2390498" cy="1222580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 지형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1/2</a:t>
            </a:r>
            <a:r>
              <a:rPr lang="ko-KR" altLang="en-US" dirty="0">
                <a:solidFill>
                  <a:sysClr val="windowText" lastClr="000000"/>
                </a:solidFill>
              </a:rPr>
              <a:t>감소</a:t>
            </a: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965E803D-03E1-AABC-C5D7-6F77D3F2729E}"/>
              </a:ext>
            </a:extLst>
          </p:cNvPr>
          <p:cNvSpPr/>
          <p:nvPr/>
        </p:nvSpPr>
        <p:spPr>
          <a:xfrm>
            <a:off x="4624535" y="2343962"/>
            <a:ext cx="2190204" cy="130070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곰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dirty="0">
                <a:solidFill>
                  <a:sysClr val="windowText" lastClr="000000"/>
                </a:solidFill>
              </a:rPr>
              <a:t>: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배달품</a:t>
            </a:r>
            <a:r>
              <a:rPr lang="ko-KR" altLang="en-US" dirty="0">
                <a:solidFill>
                  <a:sysClr val="windowText" lastClr="000000"/>
                </a:solidFill>
              </a:rPr>
              <a:t> 강탈 시도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최대 </a:t>
            </a:r>
            <a:r>
              <a:rPr lang="en-US" altLang="ko-KR" dirty="0">
                <a:solidFill>
                  <a:sysClr val="windowText" lastClr="000000"/>
                </a:solidFill>
              </a:rPr>
              <a:t>[20T] </a:t>
            </a:r>
            <a:r>
              <a:rPr lang="ko-KR" altLang="en-US" dirty="0">
                <a:solidFill>
                  <a:sysClr val="windowText" lastClr="000000"/>
                </a:solidFill>
              </a:rPr>
              <a:t>지속</a:t>
            </a: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A8042C3D-45F7-D27A-3EBC-34591A33679D}"/>
              </a:ext>
            </a:extLst>
          </p:cNvPr>
          <p:cNvSpPr/>
          <p:nvPr/>
        </p:nvSpPr>
        <p:spPr>
          <a:xfrm>
            <a:off x="8467256" y="901440"/>
            <a:ext cx="3601601" cy="16779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벌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dirty="0">
                <a:solidFill>
                  <a:sysClr val="windowText" lastClr="000000"/>
                </a:solidFill>
              </a:rPr>
              <a:t>: </a:t>
            </a:r>
            <a:r>
              <a:rPr lang="ko-KR" altLang="en-US" dirty="0">
                <a:solidFill>
                  <a:sysClr val="windowText" lastClr="000000"/>
                </a:solidFill>
              </a:rPr>
              <a:t>플레이어 방해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플레이어 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6/5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방향회전율 </a:t>
            </a:r>
            <a:r>
              <a:rPr lang="en-US" altLang="ko-KR" dirty="0">
                <a:solidFill>
                  <a:sysClr val="windowText" lastClr="000000"/>
                </a:solidFill>
              </a:rPr>
              <a:t>3/2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최대 </a:t>
            </a:r>
            <a:r>
              <a:rPr lang="en-US" altLang="ko-KR" dirty="0">
                <a:solidFill>
                  <a:sysClr val="windowText" lastClr="000000"/>
                </a:solidFill>
              </a:rPr>
              <a:t>[15T] </a:t>
            </a:r>
            <a:r>
              <a:rPr lang="ko-KR" altLang="en-US" dirty="0">
                <a:solidFill>
                  <a:sysClr val="windowText" lastClr="000000"/>
                </a:solidFill>
              </a:rPr>
              <a:t>지속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1601F852-A91A-A0DF-CC44-F42BB55A71EC}"/>
              </a:ext>
            </a:extLst>
          </p:cNvPr>
          <p:cNvGrpSpPr/>
          <p:nvPr/>
        </p:nvGrpSpPr>
        <p:grpSpPr>
          <a:xfrm>
            <a:off x="123143" y="802178"/>
            <a:ext cx="4046434" cy="1754326"/>
            <a:chOff x="9079016" y="0"/>
            <a:chExt cx="4046434" cy="175432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CC55629-E4F3-57CF-CC18-E93B5BE95B2E}"/>
                </a:ext>
              </a:extLst>
            </p:cNvPr>
            <p:cNvSpPr txBox="1"/>
            <p:nvPr/>
          </p:nvSpPr>
          <p:spPr>
            <a:xfrm>
              <a:off x="9079016" y="0"/>
              <a:ext cx="4046434" cy="175432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제한시간 </a:t>
              </a:r>
              <a:r>
                <a:rPr lang="en-US" altLang="ko-KR" dirty="0"/>
                <a:t>= 100T (T</a:t>
              </a:r>
              <a:r>
                <a:rPr lang="ko-KR" altLang="en-US" dirty="0"/>
                <a:t>는 임의의 수</a:t>
              </a:r>
              <a:r>
                <a:rPr lang="en-US" altLang="ko-KR" dirty="0"/>
                <a:t>)</a:t>
              </a:r>
              <a:br>
                <a:rPr lang="en-US" altLang="ko-KR" dirty="0"/>
              </a:br>
              <a:r>
                <a:rPr lang="en-US" altLang="ko-KR" dirty="0"/>
                <a:t>[</a:t>
              </a:r>
              <a:r>
                <a:rPr lang="en-US" altLang="ko-KR" dirty="0" err="1"/>
                <a:t>nT</a:t>
              </a:r>
              <a:r>
                <a:rPr lang="en-US" altLang="ko-KR" dirty="0"/>
                <a:t>] : </a:t>
              </a:r>
              <a:r>
                <a:rPr lang="ko-KR" altLang="en-US" dirty="0"/>
                <a:t>직선 거리기반 예측 시간</a:t>
              </a:r>
              <a:endParaRPr lang="en-US" altLang="ko-KR" dirty="0"/>
            </a:p>
            <a:p>
              <a:r>
                <a:rPr lang="en-US" altLang="ko-KR" dirty="0"/>
                <a:t>     : 1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거리 기반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: 2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지형 기반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: 3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생물 기반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: </a:t>
              </a:r>
              <a:r>
                <a:rPr lang="en-US" altLang="ko-KR" dirty="0">
                  <a:solidFill>
                    <a:schemeClr val="accent3"/>
                  </a:solidFill>
                </a:rPr>
                <a:t>4</a:t>
              </a:r>
              <a:r>
                <a:rPr lang="ko-KR" altLang="en-US" dirty="0">
                  <a:solidFill>
                    <a:schemeClr val="accent3"/>
                  </a:solidFill>
                </a:rPr>
                <a:t>차 요소</a:t>
              </a:r>
              <a:r>
                <a:rPr lang="en-US" altLang="ko-KR" dirty="0">
                  <a:solidFill>
                    <a:schemeClr val="accent3"/>
                  </a:solidFill>
                </a:rPr>
                <a:t>(</a:t>
              </a:r>
              <a:r>
                <a:rPr lang="ko-KR" altLang="en-US" dirty="0">
                  <a:solidFill>
                    <a:schemeClr val="accent3"/>
                  </a:solidFill>
                </a:rPr>
                <a:t>이전 </a:t>
              </a:r>
              <a:r>
                <a:rPr lang="ko-KR" altLang="en-US" dirty="0" err="1">
                  <a:solidFill>
                    <a:schemeClr val="accent3"/>
                  </a:solidFill>
                </a:rPr>
                <a:t>배달품</a:t>
              </a:r>
              <a:r>
                <a:rPr lang="ko-KR" altLang="en-US" dirty="0">
                  <a:solidFill>
                    <a:schemeClr val="accent3"/>
                  </a:solidFill>
                </a:rPr>
                <a:t> 결과 기반</a:t>
              </a:r>
              <a:r>
                <a:rPr lang="en-US" altLang="ko-KR" dirty="0">
                  <a:solidFill>
                    <a:schemeClr val="accent3"/>
                  </a:solidFill>
                </a:rPr>
                <a:t>)</a:t>
              </a:r>
            </a:p>
          </p:txBody>
        </p:sp>
        <p:sp>
          <p:nvSpPr>
            <p:cNvPr id="97" name="다이아몬드 96">
              <a:extLst>
                <a:ext uri="{FF2B5EF4-FFF2-40B4-BE49-F238E27FC236}">
                  <a16:creationId xmlns:a16="http://schemas.microsoft.com/office/drawing/2014/main" id="{5611A8C6-9AFC-15AE-4E74-434A6FECAF3A}"/>
                </a:ext>
              </a:extLst>
            </p:cNvPr>
            <p:cNvSpPr/>
            <p:nvPr/>
          </p:nvSpPr>
          <p:spPr>
            <a:xfrm>
              <a:off x="9120807" y="904332"/>
              <a:ext cx="398820" cy="271347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32C9CC5E-83D7-4903-86B4-80FF36DDA064}"/>
                </a:ext>
              </a:extLst>
            </p:cNvPr>
            <p:cNvSpPr/>
            <p:nvPr/>
          </p:nvSpPr>
          <p:spPr>
            <a:xfrm>
              <a:off x="9137515" y="652463"/>
              <a:ext cx="365403" cy="224700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71225554-CD4A-1C98-996D-29327B292E34}"/>
                </a:ext>
              </a:extLst>
            </p:cNvPr>
            <p:cNvSpPr/>
            <p:nvPr/>
          </p:nvSpPr>
          <p:spPr>
            <a:xfrm>
              <a:off x="9137515" y="1203406"/>
              <a:ext cx="339383" cy="2208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7" name="화살표: 오각형 106">
              <a:extLst>
                <a:ext uri="{FF2B5EF4-FFF2-40B4-BE49-F238E27FC236}">
                  <a16:creationId xmlns:a16="http://schemas.microsoft.com/office/drawing/2014/main" id="{7B7CE380-9A89-F522-64BF-395A3A4E5C83}"/>
                </a:ext>
              </a:extLst>
            </p:cNvPr>
            <p:cNvSpPr/>
            <p:nvPr/>
          </p:nvSpPr>
          <p:spPr>
            <a:xfrm>
              <a:off x="9158812" y="1501064"/>
              <a:ext cx="360815" cy="178894"/>
            </a:xfrm>
            <a:prstGeom prst="homePlat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F28FC141-8401-ECBB-69D9-2C923EE18BCD}"/>
              </a:ext>
            </a:extLst>
          </p:cNvPr>
          <p:cNvSpPr/>
          <p:nvPr/>
        </p:nvSpPr>
        <p:spPr>
          <a:xfrm>
            <a:off x="351333" y="3260695"/>
            <a:ext cx="1867839" cy="798243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배달품</a:t>
            </a:r>
            <a:r>
              <a:rPr lang="en-US" altLang="ko-KR">
                <a:solidFill>
                  <a:srgbClr val="000000"/>
                </a:solidFill>
              </a:rPr>
              <a:t>_</a:t>
            </a:r>
            <a:r>
              <a:rPr lang="ko-KR" altLang="en-US">
                <a:solidFill>
                  <a:srgbClr val="000000"/>
                </a:solidFill>
              </a:rPr>
              <a:t>꿀</a:t>
            </a:r>
            <a:br>
              <a:rPr lang="en-US" altLang="ko-KR">
                <a:solidFill>
                  <a:srgbClr val="000000"/>
                </a:solidFill>
              </a:rPr>
            </a:br>
            <a:r>
              <a:rPr lang="ko-KR" altLang="en-US">
                <a:solidFill>
                  <a:srgbClr val="000000"/>
                </a:solidFill>
              </a:rPr>
              <a:t>배송지</a:t>
            </a:r>
            <a:r>
              <a:rPr lang="en-US" altLang="ko-KR">
                <a:solidFill>
                  <a:srgbClr val="000000"/>
                </a:solidFill>
              </a:rPr>
              <a:t>_</a:t>
            </a:r>
            <a:r>
              <a:rPr lang="ko-KR" altLang="en-US">
                <a:solidFill>
                  <a:srgbClr val="000000"/>
                </a:solidFill>
              </a:rPr>
              <a:t>주거지</a:t>
            </a:r>
            <a:r>
              <a:rPr lang="en-US" altLang="ko-KR">
                <a:solidFill>
                  <a:srgbClr val="000000"/>
                </a:solidFill>
              </a:rPr>
              <a:t>3</a:t>
            </a:r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561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E00DDE-0906-FC8D-58B6-95985F608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상호작용</a:t>
            </a:r>
            <a:r>
              <a:rPr lang="en-US" altLang="ko-KR" dirty="0"/>
              <a:t>_</a:t>
            </a:r>
            <a:r>
              <a:rPr lang="ko-KR" altLang="en-US" dirty="0"/>
              <a:t>생물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D0F576-7438-39F6-8BE1-E8373982D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9/21/2026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0DF2F7-73D5-1737-BFAE-4E9778FE8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5889B58-BCF1-B3D9-1AC1-037522E0F1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750CDE-980B-7773-CE68-54A3FCBD3B52}"/>
              </a:ext>
            </a:extLst>
          </p:cNvPr>
          <p:cNvSpPr/>
          <p:nvPr/>
        </p:nvSpPr>
        <p:spPr>
          <a:xfrm>
            <a:off x="7058821" y="2029088"/>
            <a:ext cx="721259" cy="45424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방해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36438FF-507B-870C-936B-BE08A6DB07CD}"/>
              </a:ext>
            </a:extLst>
          </p:cNvPr>
          <p:cNvSpPr/>
          <p:nvPr/>
        </p:nvSpPr>
        <p:spPr>
          <a:xfrm>
            <a:off x="6815969" y="2999054"/>
            <a:ext cx="213825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방해 </a:t>
            </a:r>
            <a:r>
              <a:rPr lang="en-US" altLang="ko-KR" dirty="0">
                <a:solidFill>
                  <a:srgbClr val="000000"/>
                </a:solidFill>
              </a:rPr>
              <a:t>:</a:t>
            </a:r>
            <a:r>
              <a:rPr lang="ko-KR" altLang="en-US" dirty="0">
                <a:solidFill>
                  <a:srgbClr val="000000"/>
                </a:solidFill>
              </a:rPr>
              <a:t> </a:t>
            </a:r>
            <a:r>
              <a:rPr lang="en-US" altLang="ko-KR" dirty="0">
                <a:solidFill>
                  <a:srgbClr val="000000"/>
                </a:solidFill>
              </a:rPr>
              <a:t>[30T]</a:t>
            </a:r>
            <a:r>
              <a:rPr lang="ko-KR" altLang="en-US" dirty="0">
                <a:solidFill>
                  <a:srgbClr val="000000"/>
                </a:solidFill>
              </a:rPr>
              <a:t>로 증가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</a:p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기억 활성화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cxnSp>
        <p:nvCxnSpPr>
          <p:cNvPr id="36" name="꺾인 양쪽 화살표 연결선 18">
            <a:extLst>
              <a:ext uri="{FF2B5EF4-FFF2-40B4-BE49-F238E27FC236}">
                <a16:creationId xmlns:a16="http://schemas.microsoft.com/office/drawing/2014/main" id="{EA5EE0CD-6DE1-F1E1-9FA4-953AA954B678}"/>
              </a:ext>
            </a:extLst>
          </p:cNvPr>
          <p:cNvCxnSpPr>
            <a:cxnSpLocks/>
            <a:stCxn id="53" idx="0"/>
            <a:endCxn id="32" idx="1"/>
          </p:cNvCxnSpPr>
          <p:nvPr/>
        </p:nvCxnSpPr>
        <p:spPr>
          <a:xfrm>
            <a:off x="5952226" y="3097413"/>
            <a:ext cx="863743" cy="227326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8E4D8DF-F5C3-FC3E-2FD0-AA56254CC7E5}"/>
              </a:ext>
            </a:extLst>
          </p:cNvPr>
          <p:cNvSpPr/>
          <p:nvPr/>
        </p:nvSpPr>
        <p:spPr>
          <a:xfrm>
            <a:off x="3644569" y="1527208"/>
            <a:ext cx="118662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생물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벌</a:t>
            </a:r>
          </a:p>
        </p:txBody>
      </p:sp>
      <p:sp>
        <p:nvSpPr>
          <p:cNvPr id="53" name="육각형 52">
            <a:extLst>
              <a:ext uri="{FF2B5EF4-FFF2-40B4-BE49-F238E27FC236}">
                <a16:creationId xmlns:a16="http://schemas.microsoft.com/office/drawing/2014/main" id="{B500CAD0-3D19-623E-D213-CE83747B0E05}"/>
              </a:ext>
            </a:extLst>
          </p:cNvPr>
          <p:cNvSpPr/>
          <p:nvPr/>
        </p:nvSpPr>
        <p:spPr>
          <a:xfrm>
            <a:off x="4296831" y="2752314"/>
            <a:ext cx="1655395" cy="690198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벌집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저격 당함</a:t>
            </a:r>
          </a:p>
        </p:txBody>
      </p:sp>
      <p:cxnSp>
        <p:nvCxnSpPr>
          <p:cNvPr id="65" name="꺾인 양쪽 화살표 연결선 18">
            <a:extLst>
              <a:ext uri="{FF2B5EF4-FFF2-40B4-BE49-F238E27FC236}">
                <a16:creationId xmlns:a16="http://schemas.microsoft.com/office/drawing/2014/main" id="{D94BC165-8346-FDBB-557A-85830FFEC502}"/>
              </a:ext>
            </a:extLst>
          </p:cNvPr>
          <p:cNvCxnSpPr>
            <a:cxnSpLocks/>
            <a:stCxn id="78" idx="0"/>
            <a:endCxn id="10" idx="1"/>
          </p:cNvCxnSpPr>
          <p:nvPr/>
        </p:nvCxnSpPr>
        <p:spPr>
          <a:xfrm>
            <a:off x="6451950" y="1911112"/>
            <a:ext cx="606871" cy="345099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403A14B-A0D5-1195-D931-AA09924182A2}"/>
              </a:ext>
            </a:extLst>
          </p:cNvPr>
          <p:cNvSpPr txBox="1"/>
          <p:nvPr/>
        </p:nvSpPr>
        <p:spPr>
          <a:xfrm>
            <a:off x="175347" y="814353"/>
            <a:ext cx="2954748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생물</a:t>
            </a:r>
            <a:r>
              <a:rPr lang="en-US" altLang="ko-KR" dirty="0"/>
              <a:t>_</a:t>
            </a:r>
            <a:r>
              <a:rPr lang="ko-KR" altLang="en-US" dirty="0"/>
              <a:t>벌 </a:t>
            </a:r>
            <a:r>
              <a:rPr lang="en-US" altLang="ko-KR" dirty="0"/>
              <a:t>: </a:t>
            </a:r>
            <a:r>
              <a:rPr lang="ko-KR" altLang="en-US" dirty="0"/>
              <a:t>방해 </a:t>
            </a:r>
            <a:endParaRPr lang="en-US" altLang="ko-KR" dirty="0"/>
          </a:p>
          <a:p>
            <a:r>
              <a:rPr lang="en-US" altLang="ko-KR" dirty="0"/>
              <a:t>= </a:t>
            </a:r>
            <a:r>
              <a:rPr lang="ko-KR" altLang="en-US" dirty="0">
                <a:solidFill>
                  <a:sysClr val="windowText" lastClr="000000"/>
                </a:solidFill>
              </a:rPr>
              <a:t>플레이어 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6/5 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방향회전율 </a:t>
            </a:r>
            <a:r>
              <a:rPr lang="en-US" altLang="ko-KR" dirty="0">
                <a:solidFill>
                  <a:sysClr val="windowText" lastClr="000000"/>
                </a:solidFill>
              </a:rPr>
              <a:t>3/2 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최대 </a:t>
            </a:r>
            <a:r>
              <a:rPr lang="en-US" altLang="ko-KR" dirty="0">
                <a:solidFill>
                  <a:sysClr val="windowText" lastClr="000000"/>
                </a:solidFill>
              </a:rPr>
              <a:t>[15T] </a:t>
            </a:r>
            <a:r>
              <a:rPr lang="ko-KR" altLang="en-US" dirty="0">
                <a:solidFill>
                  <a:sysClr val="windowText" lastClr="000000"/>
                </a:solidFill>
              </a:rPr>
              <a:t>지속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endParaRPr lang="en-US" altLang="ko-KR" dirty="0">
              <a:solidFill>
                <a:sysClr val="windowText" lastClr="000000"/>
              </a:solidFill>
            </a:endParaRPr>
          </a:p>
          <a:p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벌 </a:t>
            </a:r>
            <a:r>
              <a:rPr lang="en-US" altLang="ko-KR" dirty="0">
                <a:solidFill>
                  <a:sysClr val="windowText" lastClr="000000"/>
                </a:solidFill>
              </a:rPr>
              <a:t>: </a:t>
            </a:r>
            <a:r>
              <a:rPr lang="ko-KR" altLang="en-US" dirty="0">
                <a:solidFill>
                  <a:sysClr val="windowText" lastClr="000000"/>
                </a:solidFill>
              </a:rPr>
              <a:t>기억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= </a:t>
            </a:r>
            <a:r>
              <a:rPr lang="ko-KR" altLang="en-US" dirty="0">
                <a:solidFill>
                  <a:sysClr val="windowText" lastClr="000000"/>
                </a:solidFill>
              </a:rPr>
              <a:t>플레이어가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배달품</a:t>
            </a:r>
            <a:r>
              <a:rPr lang="ko-KR" altLang="en-US" dirty="0">
                <a:solidFill>
                  <a:sysClr val="windowText" lastClr="000000"/>
                </a:solidFill>
              </a:rPr>
              <a:t> 미소지 상태에서도 방해를 진행함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기억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스탯은</a:t>
            </a:r>
            <a:r>
              <a:rPr lang="ko-KR" altLang="en-US" dirty="0">
                <a:solidFill>
                  <a:sysClr val="windowText" lastClr="000000"/>
                </a:solidFill>
              </a:rPr>
              <a:t> 제거 불가</a:t>
            </a:r>
            <a:r>
              <a:rPr lang="en-US" altLang="ko-KR" dirty="0">
                <a:solidFill>
                  <a:schemeClr val="accent3"/>
                </a:solidFill>
              </a:rPr>
              <a:t>***</a:t>
            </a:r>
            <a:r>
              <a:rPr lang="ko-KR" altLang="en-US" dirty="0">
                <a:solidFill>
                  <a:schemeClr val="accent3"/>
                </a:solidFill>
              </a:rPr>
              <a:t>방해를 진행할지 방해보다 조금 더 </a:t>
            </a:r>
            <a:r>
              <a:rPr lang="ko-KR" altLang="en-US" dirty="0" err="1">
                <a:solidFill>
                  <a:schemeClr val="accent3"/>
                </a:solidFill>
              </a:rPr>
              <a:t>역동적인걸</a:t>
            </a:r>
            <a:r>
              <a:rPr lang="ko-KR" altLang="en-US" dirty="0">
                <a:solidFill>
                  <a:schemeClr val="accent3"/>
                </a:solidFill>
              </a:rPr>
              <a:t> 진행할지 고민</a:t>
            </a:r>
            <a:endParaRPr lang="en-US" altLang="ko-KR" dirty="0">
              <a:solidFill>
                <a:schemeClr val="accent3"/>
              </a:solidFill>
            </a:endParaRPr>
          </a:p>
          <a:p>
            <a:endParaRPr lang="en-US" altLang="ko-KR" dirty="0">
              <a:solidFill>
                <a:schemeClr val="accent3"/>
              </a:solidFill>
            </a:endParaRPr>
          </a:p>
          <a:p>
            <a:r>
              <a:rPr lang="en-US" altLang="ko-KR" dirty="0">
                <a:solidFill>
                  <a:schemeClr val="accent3"/>
                </a:solidFill>
              </a:rPr>
              <a:t>**</a:t>
            </a:r>
            <a:r>
              <a:rPr lang="ko-KR" altLang="en-US" dirty="0">
                <a:solidFill>
                  <a:schemeClr val="accent3"/>
                </a:solidFill>
              </a:rPr>
              <a:t>인식범위</a:t>
            </a:r>
            <a:r>
              <a:rPr lang="en-US" altLang="ko-KR" dirty="0">
                <a:solidFill>
                  <a:schemeClr val="accent3"/>
                </a:solidFill>
              </a:rPr>
              <a:t> </a:t>
            </a:r>
            <a:r>
              <a:rPr lang="ko-KR" altLang="en-US" dirty="0">
                <a:solidFill>
                  <a:schemeClr val="accent3"/>
                </a:solidFill>
              </a:rPr>
              <a:t>지정</a:t>
            </a:r>
          </a:p>
        </p:txBody>
      </p:sp>
      <p:sp>
        <p:nvSpPr>
          <p:cNvPr id="78" name="육각형 77">
            <a:extLst>
              <a:ext uri="{FF2B5EF4-FFF2-40B4-BE49-F238E27FC236}">
                <a16:creationId xmlns:a16="http://schemas.microsoft.com/office/drawing/2014/main" id="{CBFEB431-A16E-9B12-1D5D-63C1D0E4A5A4}"/>
              </a:ext>
            </a:extLst>
          </p:cNvPr>
          <p:cNvSpPr/>
          <p:nvPr/>
        </p:nvSpPr>
        <p:spPr>
          <a:xfrm>
            <a:off x="5160766" y="1566013"/>
            <a:ext cx="1291184" cy="690198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꿀 인식</a:t>
            </a:r>
          </a:p>
        </p:txBody>
      </p: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767A3001-CCAE-8569-CE94-82CDBEB98D37}"/>
              </a:ext>
            </a:extLst>
          </p:cNvPr>
          <p:cNvCxnSpPr>
            <a:cxnSpLocks/>
            <a:stCxn id="78" idx="3"/>
            <a:endCxn id="43" idx="3"/>
          </p:cNvCxnSpPr>
          <p:nvPr/>
        </p:nvCxnSpPr>
        <p:spPr>
          <a:xfrm rot="10800000">
            <a:off x="4831190" y="1852894"/>
            <a:ext cx="329577" cy="5821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5C898089-26A6-140C-0DCE-4F47DBD9F862}"/>
              </a:ext>
            </a:extLst>
          </p:cNvPr>
          <p:cNvCxnSpPr>
            <a:cxnSpLocks/>
            <a:stCxn id="53" idx="3"/>
            <a:endCxn id="43" idx="2"/>
          </p:cNvCxnSpPr>
          <p:nvPr/>
        </p:nvCxnSpPr>
        <p:spPr>
          <a:xfrm rot="10800000">
            <a:off x="4237879" y="2178579"/>
            <a:ext cx="58952" cy="91883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배지 124">
            <a:extLst>
              <a:ext uri="{FF2B5EF4-FFF2-40B4-BE49-F238E27FC236}">
                <a16:creationId xmlns:a16="http://schemas.microsoft.com/office/drawing/2014/main" id="{84FB7C6B-A2C4-9B63-93A0-56EE3B858A07}"/>
              </a:ext>
            </a:extLst>
          </p:cNvPr>
          <p:cNvSpPr/>
          <p:nvPr/>
        </p:nvSpPr>
        <p:spPr>
          <a:xfrm>
            <a:off x="9389864" y="3111120"/>
            <a:ext cx="1094106" cy="662783"/>
          </a:xfrm>
          <a:prstGeom prst="plaqu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기억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활성화</a:t>
            </a:r>
          </a:p>
        </p:txBody>
      </p:sp>
      <p:cxnSp>
        <p:nvCxnSpPr>
          <p:cNvPr id="128" name="꺾인 양쪽 화살표 연결선 18">
            <a:extLst>
              <a:ext uri="{FF2B5EF4-FFF2-40B4-BE49-F238E27FC236}">
                <a16:creationId xmlns:a16="http://schemas.microsoft.com/office/drawing/2014/main" id="{E843FF79-AE37-F5EB-EB6F-E57DC94FE757}"/>
              </a:ext>
            </a:extLst>
          </p:cNvPr>
          <p:cNvCxnSpPr>
            <a:cxnSpLocks/>
            <a:stCxn id="32" idx="3"/>
            <a:endCxn id="125" idx="1"/>
          </p:cNvCxnSpPr>
          <p:nvPr/>
        </p:nvCxnSpPr>
        <p:spPr>
          <a:xfrm>
            <a:off x="8954219" y="3324739"/>
            <a:ext cx="435645" cy="117773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꺾인 양쪽 화살표 연결선 18">
            <a:extLst>
              <a:ext uri="{FF2B5EF4-FFF2-40B4-BE49-F238E27FC236}">
                <a16:creationId xmlns:a16="http://schemas.microsoft.com/office/drawing/2014/main" id="{B56976AC-6FBC-875A-E681-2FCD1B73471F}"/>
              </a:ext>
            </a:extLst>
          </p:cNvPr>
          <p:cNvCxnSpPr>
            <a:cxnSpLocks/>
            <a:stCxn id="125" idx="3"/>
            <a:endCxn id="10" idx="1"/>
          </p:cNvCxnSpPr>
          <p:nvPr/>
        </p:nvCxnSpPr>
        <p:spPr>
          <a:xfrm flipH="1" flipV="1">
            <a:off x="7058821" y="2256211"/>
            <a:ext cx="3425149" cy="1186301"/>
          </a:xfrm>
          <a:prstGeom prst="bentConnector5">
            <a:avLst>
              <a:gd name="adj1" fmla="val -6674"/>
              <a:gd name="adj2" fmla="val 54395"/>
              <a:gd name="adj3" fmla="val 106674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육각형 146">
            <a:extLst>
              <a:ext uri="{FF2B5EF4-FFF2-40B4-BE49-F238E27FC236}">
                <a16:creationId xmlns:a16="http://schemas.microsoft.com/office/drawing/2014/main" id="{DD409C54-AA99-B28E-D5BA-1A47E5062A2F}"/>
              </a:ext>
            </a:extLst>
          </p:cNvPr>
          <p:cNvSpPr/>
          <p:nvPr/>
        </p:nvSpPr>
        <p:spPr>
          <a:xfrm>
            <a:off x="239516" y="4936242"/>
            <a:ext cx="1291184" cy="690198"/>
          </a:xfrm>
          <a:prstGeom prst="hexagon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이벤트</a:t>
            </a:r>
            <a:r>
              <a:rPr lang="en-US" altLang="ko-KR" dirty="0">
                <a:solidFill>
                  <a:sysClr val="windowText" lastClr="000000"/>
                </a:solidFill>
              </a:rPr>
              <a:t>/</a:t>
            </a:r>
            <a:r>
              <a:rPr lang="ko-KR" altLang="en-US" dirty="0">
                <a:solidFill>
                  <a:sysClr val="windowText" lastClr="000000"/>
                </a:solidFill>
              </a:rPr>
              <a:t>판단</a:t>
            </a:r>
          </a:p>
        </p:txBody>
      </p:sp>
      <p:sp>
        <p:nvSpPr>
          <p:cNvPr id="149" name="배지 148">
            <a:extLst>
              <a:ext uri="{FF2B5EF4-FFF2-40B4-BE49-F238E27FC236}">
                <a16:creationId xmlns:a16="http://schemas.microsoft.com/office/drawing/2014/main" id="{F0230DC3-C964-C99E-73D1-E627296D0ABA}"/>
              </a:ext>
            </a:extLst>
          </p:cNvPr>
          <p:cNvSpPr/>
          <p:nvPr/>
        </p:nvSpPr>
        <p:spPr>
          <a:xfrm>
            <a:off x="1715144" y="4936242"/>
            <a:ext cx="1176977" cy="805683"/>
          </a:xfrm>
          <a:prstGeom prst="plaqu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상태</a:t>
            </a:r>
          </a:p>
        </p:txBody>
      </p:sp>
    </p:spTree>
    <p:extLst>
      <p:ext uri="{BB962C8B-B14F-4D97-AF65-F5344CB8AC3E}">
        <p14:creationId xmlns:p14="http://schemas.microsoft.com/office/powerpoint/2010/main" val="1886462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485D4-54E4-1C7C-981A-CF701762D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BB2DC6-C099-8952-59A6-6E6C490A6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569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7EE5627-6DAA-0602-4EBD-019757279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플로우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5401C6E-1301-7925-0E3C-443629A8981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D7D5C72-3ED1-9651-5CDC-5553A8E7E5A0}"/>
              </a:ext>
            </a:extLst>
          </p:cNvPr>
          <p:cNvSpPr/>
          <p:nvPr/>
        </p:nvSpPr>
        <p:spPr>
          <a:xfrm>
            <a:off x="2202495" y="1234421"/>
            <a:ext cx="1698246" cy="738187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플레이어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2</a:t>
            </a:r>
            <a:r>
              <a:rPr lang="ko-KR" altLang="en-US" dirty="0">
                <a:solidFill>
                  <a:srgbClr val="000000"/>
                </a:solidFill>
              </a:rPr>
              <a:t>인 접속 화면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666780-E618-D0A6-3450-200C04A52676}"/>
              </a:ext>
            </a:extLst>
          </p:cNvPr>
          <p:cNvSpPr/>
          <p:nvPr/>
        </p:nvSpPr>
        <p:spPr>
          <a:xfrm>
            <a:off x="1847175" y="3289203"/>
            <a:ext cx="1186887" cy="66278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게임 진행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1A6B7E1-5C60-3F7D-CC53-7A9095CBE60D}"/>
              </a:ext>
            </a:extLst>
          </p:cNvPr>
          <p:cNvSpPr/>
          <p:nvPr/>
        </p:nvSpPr>
        <p:spPr>
          <a:xfrm>
            <a:off x="416248" y="1235437"/>
            <a:ext cx="1404937" cy="738187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시작 화면</a:t>
            </a:r>
          </a:p>
        </p:txBody>
      </p:sp>
      <p:cxnSp>
        <p:nvCxnSpPr>
          <p:cNvPr id="11" name="화살표 12">
            <a:extLst>
              <a:ext uri="{FF2B5EF4-FFF2-40B4-BE49-F238E27FC236}">
                <a16:creationId xmlns:a16="http://schemas.microsoft.com/office/drawing/2014/main" id="{BEDC569C-FB01-ACC8-35B0-4BF916C5139E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821185" y="1603515"/>
            <a:ext cx="381310" cy="6767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F1A7613-2876-7C8E-A177-2A267D4109F8}"/>
              </a:ext>
            </a:extLst>
          </p:cNvPr>
          <p:cNvSpPr txBox="1"/>
          <p:nvPr/>
        </p:nvSpPr>
        <p:spPr>
          <a:xfrm>
            <a:off x="7564760" y="1618468"/>
            <a:ext cx="1050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게임</a:t>
            </a:r>
            <a:br>
              <a:rPr lang="en-US" altLang="ko-KR" sz="1400" dirty="0"/>
            </a:br>
            <a:r>
              <a:rPr lang="ko-KR" altLang="en-US" sz="1400" dirty="0"/>
              <a:t>나가기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4D5B4C9-7BBF-54CA-AB62-157FFF3ABD11}"/>
              </a:ext>
            </a:extLst>
          </p:cNvPr>
          <p:cNvSpPr/>
          <p:nvPr/>
        </p:nvSpPr>
        <p:spPr>
          <a:xfrm>
            <a:off x="6351883" y="2483540"/>
            <a:ext cx="1186887" cy="662783"/>
          </a:xfrm>
          <a:prstGeom prst="rect">
            <a:avLst/>
          </a:prstGeom>
          <a:solidFill>
            <a:schemeClr val="lt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환경설정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B716EDE-C569-F173-5476-BB9A58D527AD}"/>
              </a:ext>
            </a:extLst>
          </p:cNvPr>
          <p:cNvSpPr/>
          <p:nvPr/>
        </p:nvSpPr>
        <p:spPr>
          <a:xfrm>
            <a:off x="4230941" y="4225903"/>
            <a:ext cx="1567131" cy="662783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배송 시간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예측 분석 </a:t>
            </a:r>
            <a:r>
              <a:rPr lang="en-US" altLang="ko-KR" dirty="0">
                <a:solidFill>
                  <a:srgbClr val="000000"/>
                </a:solidFill>
              </a:rPr>
              <a:t>UI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21" name="꺾인 양쪽 화살표 연결선 18">
            <a:extLst>
              <a:ext uri="{FF2B5EF4-FFF2-40B4-BE49-F238E27FC236}">
                <a16:creationId xmlns:a16="http://schemas.microsoft.com/office/drawing/2014/main" id="{F543E6F6-AADC-822B-5BF6-F714F67A93FA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>
            <a:off x="3034062" y="3620595"/>
            <a:ext cx="1196879" cy="936700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양쪽 화살표 연결선 18">
            <a:extLst>
              <a:ext uri="{FF2B5EF4-FFF2-40B4-BE49-F238E27FC236}">
                <a16:creationId xmlns:a16="http://schemas.microsoft.com/office/drawing/2014/main" id="{9D1694CD-94CF-70B1-F109-E75D3B0C8C3E}"/>
              </a:ext>
            </a:extLst>
          </p:cNvPr>
          <p:cNvCxnSpPr>
            <a:cxnSpLocks/>
            <a:stCxn id="8" idx="3"/>
            <a:endCxn id="16" idx="1"/>
          </p:cNvCxnSpPr>
          <p:nvPr/>
        </p:nvCxnSpPr>
        <p:spPr>
          <a:xfrm flipV="1">
            <a:off x="3034062" y="2814932"/>
            <a:ext cx="3317821" cy="805663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양쪽 화살표 연결선 18">
            <a:extLst>
              <a:ext uri="{FF2B5EF4-FFF2-40B4-BE49-F238E27FC236}">
                <a16:creationId xmlns:a16="http://schemas.microsoft.com/office/drawing/2014/main" id="{F74BFFC4-1AB5-7350-1B7B-2B91013A1AC3}"/>
              </a:ext>
            </a:extLst>
          </p:cNvPr>
          <p:cNvCxnSpPr>
            <a:cxnSpLocks/>
            <a:stCxn id="16" idx="3"/>
            <a:endCxn id="8" idx="1"/>
          </p:cNvCxnSpPr>
          <p:nvPr/>
        </p:nvCxnSpPr>
        <p:spPr>
          <a:xfrm flipH="1">
            <a:off x="1847175" y="2814932"/>
            <a:ext cx="5691595" cy="805663"/>
          </a:xfrm>
          <a:prstGeom prst="bentConnector5">
            <a:avLst>
              <a:gd name="adj1" fmla="val -4016"/>
              <a:gd name="adj2" fmla="val 454332"/>
              <a:gd name="adj3" fmla="val 104016"/>
            </a:avLst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양쪽 화살표 연결선 18">
            <a:extLst>
              <a:ext uri="{FF2B5EF4-FFF2-40B4-BE49-F238E27FC236}">
                <a16:creationId xmlns:a16="http://schemas.microsoft.com/office/drawing/2014/main" id="{D24C7BE5-EFCF-2801-723E-8F2C6A7FAB48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H="1">
            <a:off x="1847175" y="1603515"/>
            <a:ext cx="2053566" cy="2017080"/>
          </a:xfrm>
          <a:prstGeom prst="bentConnector5">
            <a:avLst>
              <a:gd name="adj1" fmla="val -11132"/>
              <a:gd name="adj2" fmla="val 50935"/>
              <a:gd name="adj3" fmla="val 111132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양쪽 화살표 연결선 18">
            <a:extLst>
              <a:ext uri="{FF2B5EF4-FFF2-40B4-BE49-F238E27FC236}">
                <a16:creationId xmlns:a16="http://schemas.microsoft.com/office/drawing/2014/main" id="{FE7D78D8-DB94-9169-0059-9CCD4207E262}"/>
              </a:ext>
            </a:extLst>
          </p:cNvPr>
          <p:cNvCxnSpPr>
            <a:cxnSpLocks/>
            <a:stCxn id="18" idx="3"/>
            <a:endCxn id="8" idx="1"/>
          </p:cNvCxnSpPr>
          <p:nvPr/>
        </p:nvCxnSpPr>
        <p:spPr>
          <a:xfrm flipH="1" flipV="1">
            <a:off x="1847175" y="3620595"/>
            <a:ext cx="3950897" cy="936700"/>
          </a:xfrm>
          <a:prstGeom prst="bentConnector5">
            <a:avLst>
              <a:gd name="adj1" fmla="val -5786"/>
              <a:gd name="adj2" fmla="val -195404"/>
              <a:gd name="adj3" fmla="val 105786"/>
            </a:avLst>
          </a:prstGeom>
          <a:ln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양쪽 화살표 연결선 18">
            <a:extLst>
              <a:ext uri="{FF2B5EF4-FFF2-40B4-BE49-F238E27FC236}">
                <a16:creationId xmlns:a16="http://schemas.microsoft.com/office/drawing/2014/main" id="{D9B7F7A4-B105-1E59-AE46-45BF37B6A0A6}"/>
              </a:ext>
            </a:extLst>
          </p:cNvPr>
          <p:cNvCxnSpPr>
            <a:cxnSpLocks/>
            <a:stCxn id="8" idx="3"/>
            <a:endCxn id="51" idx="1"/>
          </p:cNvCxnSpPr>
          <p:nvPr/>
        </p:nvCxnSpPr>
        <p:spPr>
          <a:xfrm>
            <a:off x="3034062" y="3620595"/>
            <a:ext cx="7310763" cy="4563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189D951-B819-D20F-BAC2-0CE3E2C621AB}"/>
              </a:ext>
            </a:extLst>
          </p:cNvPr>
          <p:cNvSpPr/>
          <p:nvPr/>
        </p:nvSpPr>
        <p:spPr>
          <a:xfrm>
            <a:off x="10344825" y="3334834"/>
            <a:ext cx="1186887" cy="66278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엔딩 화면</a:t>
            </a:r>
            <a:r>
              <a:rPr lang="en-US" altLang="ko-KR" dirty="0">
                <a:solidFill>
                  <a:srgbClr val="000000"/>
                </a:solidFill>
              </a:rPr>
              <a:t>(</a:t>
            </a:r>
            <a:r>
              <a:rPr lang="ko-KR" altLang="en-US" dirty="0" err="1">
                <a:solidFill>
                  <a:srgbClr val="000000"/>
                </a:solidFill>
              </a:rPr>
              <a:t>컷씬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C6BCC5A-3A34-A46A-A919-95A546CA7799}"/>
              </a:ext>
            </a:extLst>
          </p:cNvPr>
          <p:cNvSpPr/>
          <p:nvPr/>
        </p:nvSpPr>
        <p:spPr>
          <a:xfrm>
            <a:off x="4230941" y="5079302"/>
            <a:ext cx="1463506" cy="829381"/>
          </a:xfrm>
          <a:prstGeom prst="rect">
            <a:avLst/>
          </a:prstGeom>
          <a:solidFill>
            <a:schemeClr val="l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 err="1">
                <a:solidFill>
                  <a:srgbClr val="000000"/>
                </a:solidFill>
              </a:rPr>
              <a:t>배달품</a:t>
            </a:r>
            <a:r>
              <a:rPr lang="ko-KR" altLang="en-US" dirty="0">
                <a:solidFill>
                  <a:srgbClr val="000000"/>
                </a:solidFill>
              </a:rPr>
              <a:t> 전달 시 대화</a:t>
            </a:r>
            <a:r>
              <a:rPr lang="en-US" altLang="ko-KR" dirty="0">
                <a:solidFill>
                  <a:srgbClr val="000000"/>
                </a:solidFill>
              </a:rPr>
              <a:t>UI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59" name="꺾인 양쪽 화살표 연결선 18">
            <a:extLst>
              <a:ext uri="{FF2B5EF4-FFF2-40B4-BE49-F238E27FC236}">
                <a16:creationId xmlns:a16="http://schemas.microsoft.com/office/drawing/2014/main" id="{7C80B770-9BEA-7512-8FF0-9C4C9255A8B3}"/>
              </a:ext>
            </a:extLst>
          </p:cNvPr>
          <p:cNvCxnSpPr>
            <a:cxnSpLocks/>
            <a:stCxn id="8" idx="3"/>
            <a:endCxn id="57" idx="1"/>
          </p:cNvCxnSpPr>
          <p:nvPr/>
        </p:nvCxnSpPr>
        <p:spPr>
          <a:xfrm>
            <a:off x="3034062" y="3620595"/>
            <a:ext cx="1196879" cy="187339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양쪽 화살표 연결선 18">
            <a:extLst>
              <a:ext uri="{FF2B5EF4-FFF2-40B4-BE49-F238E27FC236}">
                <a16:creationId xmlns:a16="http://schemas.microsoft.com/office/drawing/2014/main" id="{774289FA-681F-CC30-0B7F-F9B5A0B1D4D0}"/>
              </a:ext>
            </a:extLst>
          </p:cNvPr>
          <p:cNvCxnSpPr>
            <a:cxnSpLocks/>
            <a:stCxn id="57" idx="3"/>
            <a:endCxn id="8" idx="1"/>
          </p:cNvCxnSpPr>
          <p:nvPr/>
        </p:nvCxnSpPr>
        <p:spPr>
          <a:xfrm flipH="1" flipV="1">
            <a:off x="1847175" y="3620595"/>
            <a:ext cx="3847272" cy="1873398"/>
          </a:xfrm>
          <a:prstGeom prst="bentConnector5">
            <a:avLst>
              <a:gd name="adj1" fmla="val -5942"/>
              <a:gd name="adj2" fmla="val -43702"/>
              <a:gd name="adj3" fmla="val 105942"/>
            </a:avLst>
          </a:prstGeom>
          <a:ln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양쪽 화살표 연결선 18">
            <a:extLst>
              <a:ext uri="{FF2B5EF4-FFF2-40B4-BE49-F238E27FC236}">
                <a16:creationId xmlns:a16="http://schemas.microsoft.com/office/drawing/2014/main" id="{29D6C60E-BE35-B144-B708-8521782BE45E}"/>
              </a:ext>
            </a:extLst>
          </p:cNvPr>
          <p:cNvCxnSpPr>
            <a:cxnSpLocks/>
            <a:stCxn id="16" idx="3"/>
            <a:endCxn id="10" idx="1"/>
          </p:cNvCxnSpPr>
          <p:nvPr/>
        </p:nvCxnSpPr>
        <p:spPr>
          <a:xfrm flipH="1" flipV="1">
            <a:off x="416248" y="1604531"/>
            <a:ext cx="7122522" cy="1210401"/>
          </a:xfrm>
          <a:prstGeom prst="bentConnector5">
            <a:avLst>
              <a:gd name="adj1" fmla="val -3210"/>
              <a:gd name="adj2" fmla="val 150120"/>
              <a:gd name="adj3" fmla="val 103210"/>
            </a:avLst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69C68A32-AD56-9D15-31AB-10B5CBE82878}"/>
              </a:ext>
            </a:extLst>
          </p:cNvPr>
          <p:cNvSpPr txBox="1"/>
          <p:nvPr/>
        </p:nvSpPr>
        <p:spPr>
          <a:xfrm>
            <a:off x="4053141" y="2125008"/>
            <a:ext cx="1257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로딩화면</a:t>
            </a:r>
          </a:p>
        </p:txBody>
      </p:sp>
    </p:spTree>
    <p:extLst>
      <p:ext uri="{BB962C8B-B14F-4D97-AF65-F5344CB8AC3E}">
        <p14:creationId xmlns:p14="http://schemas.microsoft.com/office/powerpoint/2010/main" val="2195402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3757E-1FD6-215F-E156-3C3139CE3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플레이화면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C8F59C-44FB-521C-E1F3-6DA8A98B20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C8D78D-3ED4-2311-EA63-537F5F77C1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**</a:t>
            </a:r>
            <a:r>
              <a:rPr lang="ko-KR" altLang="en-US" dirty="0" err="1"/>
              <a:t>파티애니멀즈</a:t>
            </a:r>
            <a:r>
              <a:rPr lang="en-US" altLang="ko-KR" dirty="0"/>
              <a:t>, </a:t>
            </a:r>
            <a:r>
              <a:rPr lang="ko-KR" altLang="en-US" dirty="0" err="1"/>
              <a:t>젤다</a:t>
            </a:r>
            <a:r>
              <a:rPr lang="ko-KR" altLang="en-US" dirty="0"/>
              <a:t> 참고</a:t>
            </a:r>
            <a:r>
              <a:rPr lang="en-US" altLang="ko-KR" dirty="0"/>
              <a:t>, </a:t>
            </a:r>
            <a:r>
              <a:rPr lang="ko-KR" altLang="en-US" dirty="0"/>
              <a:t>크기</a:t>
            </a:r>
            <a:r>
              <a:rPr lang="en-US" altLang="ko-KR" dirty="0"/>
              <a:t>, UX, </a:t>
            </a:r>
            <a:r>
              <a:rPr lang="ko-KR" altLang="en-US" dirty="0"/>
              <a:t>비율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**</a:t>
            </a:r>
            <a:r>
              <a:rPr lang="ko-KR" altLang="en-US" b="1" dirty="0"/>
              <a:t>화면에 필요한 것</a:t>
            </a:r>
            <a:br>
              <a:rPr lang="en-US" altLang="ko-KR" b="1" dirty="0"/>
            </a:br>
            <a:r>
              <a:rPr lang="ko-KR" altLang="en-US" b="1" dirty="0"/>
              <a:t>어디 경로 선택지 표시</a:t>
            </a:r>
            <a:r>
              <a:rPr lang="en-US" altLang="ko-KR" b="1" dirty="0"/>
              <a:t>, </a:t>
            </a:r>
            <a:r>
              <a:rPr lang="ko-KR" altLang="en-US" b="1" dirty="0"/>
              <a:t>경로 선택 후 경로를 안내하는 화살표</a:t>
            </a:r>
            <a:endParaRPr lang="en-US" altLang="ko-KR" b="1" dirty="0"/>
          </a:p>
          <a:p>
            <a:endParaRPr lang="en-US" altLang="ko-KR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5CE34-8468-8FBD-5332-DFDBCB879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9/21/2026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99FD26-AF90-A1CC-A66F-C817032E6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DB089F7A-7CA1-E010-5F87-17E27A80294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</p:spTree>
    <p:extLst>
      <p:ext uri="{BB962C8B-B14F-4D97-AF65-F5344CB8AC3E}">
        <p14:creationId xmlns:p14="http://schemas.microsoft.com/office/powerpoint/2010/main" val="2600675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333BD40-EB3C-F125-C0D7-3AAE9CB0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1132867"/>
            <a:ext cx="10248975" cy="32670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7E1F475-5B50-81EF-0BF8-C560EC3EE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컨트롤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CF930E-0FCE-98B8-C18D-FD71745D0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9/21/2026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1665B5-D155-106B-9932-0B5F391F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C7A1E43-FD2C-0569-0801-ACD96B52052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2E81E2-7069-3A85-302B-DD8B8E805CA9}"/>
              </a:ext>
            </a:extLst>
          </p:cNvPr>
          <p:cNvSpPr txBox="1"/>
          <p:nvPr/>
        </p:nvSpPr>
        <p:spPr>
          <a:xfrm>
            <a:off x="914399" y="829386"/>
            <a:ext cx="359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키보드 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F7D3B37-9922-FA4D-C1D6-952C9C98416A}"/>
              </a:ext>
            </a:extLst>
          </p:cNvPr>
          <p:cNvSpPr/>
          <p:nvPr/>
        </p:nvSpPr>
        <p:spPr>
          <a:xfrm>
            <a:off x="1130291" y="3223458"/>
            <a:ext cx="1022350" cy="441325"/>
          </a:xfrm>
          <a:prstGeom prst="roundRect">
            <a:avLst/>
          </a:prstGeom>
          <a:solidFill>
            <a:srgbClr val="00B050">
              <a:alpha val="10000"/>
            </a:srgbClr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E8921969-C1B1-A917-3B99-E3440B3EC178}"/>
              </a:ext>
            </a:extLst>
          </p:cNvPr>
          <p:cNvSpPr/>
          <p:nvPr/>
        </p:nvSpPr>
        <p:spPr>
          <a:xfrm>
            <a:off x="1932668" y="2386592"/>
            <a:ext cx="1250950" cy="825500"/>
          </a:xfrm>
          <a:custGeom>
            <a:avLst/>
            <a:gdLst>
              <a:gd name="csX0" fmla="*/ 3175 w 1250950"/>
              <a:gd name="csY0" fmla="*/ 793750 h 825500"/>
              <a:gd name="csX1" fmla="*/ 0 w 1250950"/>
              <a:gd name="csY1" fmla="*/ 422275 h 825500"/>
              <a:gd name="csX2" fmla="*/ 384175 w 1250950"/>
              <a:gd name="csY2" fmla="*/ 420687 h 825500"/>
              <a:gd name="csX3" fmla="*/ 376237 w 1250950"/>
              <a:gd name="csY3" fmla="*/ 52387 h 825500"/>
              <a:gd name="csX4" fmla="*/ 392112 w 1250950"/>
              <a:gd name="csY4" fmla="*/ 1587 h 825500"/>
              <a:gd name="csX5" fmla="*/ 746125 w 1250950"/>
              <a:gd name="csY5" fmla="*/ 0 h 825500"/>
              <a:gd name="csX6" fmla="*/ 763587 w 1250950"/>
              <a:gd name="csY6" fmla="*/ 34925 h 825500"/>
              <a:gd name="csX7" fmla="*/ 766762 w 1250950"/>
              <a:gd name="csY7" fmla="*/ 406400 h 825500"/>
              <a:gd name="csX8" fmla="*/ 1225550 w 1250950"/>
              <a:gd name="csY8" fmla="*/ 409575 h 825500"/>
              <a:gd name="csX9" fmla="*/ 1250950 w 1250950"/>
              <a:gd name="csY9" fmla="*/ 442912 h 825500"/>
              <a:gd name="csX10" fmla="*/ 1250950 w 1250950"/>
              <a:gd name="csY10" fmla="*/ 825500 h 825500"/>
              <a:gd name="csX11" fmla="*/ 3175 w 1250950"/>
              <a:gd name="csY11" fmla="*/ 793750 h 825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50950" h="825500">
                <a:moveTo>
                  <a:pt x="3175" y="793750"/>
                </a:moveTo>
                <a:cubicBezTo>
                  <a:pt x="2117" y="669925"/>
                  <a:pt x="1058" y="546100"/>
                  <a:pt x="0" y="422275"/>
                </a:cubicBezTo>
                <a:lnTo>
                  <a:pt x="384175" y="420687"/>
                </a:lnTo>
                <a:lnTo>
                  <a:pt x="376237" y="52387"/>
                </a:lnTo>
                <a:lnTo>
                  <a:pt x="392112" y="1587"/>
                </a:lnTo>
                <a:lnTo>
                  <a:pt x="746125" y="0"/>
                </a:lnTo>
                <a:lnTo>
                  <a:pt x="763587" y="34925"/>
                </a:lnTo>
                <a:cubicBezTo>
                  <a:pt x="764645" y="158750"/>
                  <a:pt x="765704" y="282575"/>
                  <a:pt x="766762" y="406400"/>
                </a:cubicBezTo>
                <a:lnTo>
                  <a:pt x="1225550" y="409575"/>
                </a:lnTo>
                <a:lnTo>
                  <a:pt x="1250950" y="442912"/>
                </a:lnTo>
                <a:lnTo>
                  <a:pt x="1250950" y="825500"/>
                </a:lnTo>
                <a:lnTo>
                  <a:pt x="3175" y="793750"/>
                </a:lnTo>
                <a:close/>
              </a:path>
            </a:pathLst>
          </a:custGeom>
          <a:solidFill>
            <a:srgbClr val="00B0F0">
              <a:alpha val="10000"/>
            </a:srgbClr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37AB85A-A0C8-478E-EC10-D48FDA6884AA}"/>
              </a:ext>
            </a:extLst>
          </p:cNvPr>
          <p:cNvSpPr/>
          <p:nvPr/>
        </p:nvSpPr>
        <p:spPr>
          <a:xfrm>
            <a:off x="2731697" y="2395538"/>
            <a:ext cx="385314" cy="401248"/>
          </a:xfrm>
          <a:prstGeom prst="roundRect">
            <a:avLst/>
          </a:prstGeom>
          <a:solidFill>
            <a:srgbClr val="FFFF00">
              <a:alpha val="10000"/>
            </a:srgbClr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01BF91F3-EA1B-0448-3869-385EB7C2C5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80" t="2892" r="9749" b="6038"/>
          <a:stretch>
            <a:fillRect/>
          </a:stretch>
        </p:blipFill>
        <p:spPr>
          <a:xfrm>
            <a:off x="8206594" y="3893389"/>
            <a:ext cx="1390510" cy="2237206"/>
          </a:xfrm>
          <a:prstGeom prst="rect">
            <a:avLst/>
          </a:prstGeom>
        </p:spPr>
      </p:pic>
      <p:sp>
        <p:nvSpPr>
          <p:cNvPr id="37" name="화살표: 원형 36">
            <a:extLst>
              <a:ext uri="{FF2B5EF4-FFF2-40B4-BE49-F238E27FC236}">
                <a16:creationId xmlns:a16="http://schemas.microsoft.com/office/drawing/2014/main" id="{7D3EFD1A-46A5-80C5-0981-E03920FB202C}"/>
              </a:ext>
            </a:extLst>
          </p:cNvPr>
          <p:cNvSpPr/>
          <p:nvPr/>
        </p:nvSpPr>
        <p:spPr>
          <a:xfrm>
            <a:off x="8014729" y="3151130"/>
            <a:ext cx="1763275" cy="1712893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6206914"/>
              <a:gd name="adj5" fmla="val 125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화살표: 원형 38">
            <a:extLst>
              <a:ext uri="{FF2B5EF4-FFF2-40B4-BE49-F238E27FC236}">
                <a16:creationId xmlns:a16="http://schemas.microsoft.com/office/drawing/2014/main" id="{24CD729B-A746-3626-939D-76DBCB9606BC}"/>
              </a:ext>
            </a:extLst>
          </p:cNvPr>
          <p:cNvSpPr/>
          <p:nvPr/>
        </p:nvSpPr>
        <p:spPr>
          <a:xfrm flipH="1">
            <a:off x="8014729" y="3151130"/>
            <a:ext cx="1763275" cy="1712893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6012437"/>
              <a:gd name="adj5" fmla="val 125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E61092D-CA78-4AD5-ADDD-2FC61FB7D9A6}"/>
              </a:ext>
            </a:extLst>
          </p:cNvPr>
          <p:cNvSpPr/>
          <p:nvPr/>
        </p:nvSpPr>
        <p:spPr>
          <a:xfrm>
            <a:off x="8248650" y="3957638"/>
            <a:ext cx="519776" cy="1119393"/>
          </a:xfrm>
          <a:prstGeom prst="roundRect">
            <a:avLst>
              <a:gd name="adj" fmla="val 30053"/>
            </a:avLst>
          </a:prstGeom>
          <a:solidFill>
            <a:srgbClr val="FF0000">
              <a:alpha val="10000"/>
            </a:srgb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7" name="내용 개체 틀 46">
            <a:extLst>
              <a:ext uri="{FF2B5EF4-FFF2-40B4-BE49-F238E27FC236}">
                <a16:creationId xmlns:a16="http://schemas.microsoft.com/office/drawing/2014/main" id="{61E8C7A1-E3C6-696C-EA1C-AC3FC83E9A7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65430189"/>
              </p:ext>
            </p:extLst>
          </p:nvPr>
        </p:nvGraphicFramePr>
        <p:xfrm>
          <a:off x="999461" y="4359709"/>
          <a:ext cx="4235101" cy="20431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8652">
                  <a:extLst>
                    <a:ext uri="{9D8B030D-6E8A-4147-A177-3AD203B41FA5}">
                      <a16:colId xmlns:a16="http://schemas.microsoft.com/office/drawing/2014/main" val="1309999356"/>
                    </a:ext>
                  </a:extLst>
                </a:gridCol>
                <a:gridCol w="2506449">
                  <a:extLst>
                    <a:ext uri="{9D8B030D-6E8A-4147-A177-3AD203B41FA5}">
                      <a16:colId xmlns:a16="http://schemas.microsoft.com/office/drawing/2014/main" val="4288692516"/>
                    </a:ext>
                  </a:extLst>
                </a:gridCol>
              </a:tblGrid>
              <a:tr h="3348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이동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wasd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7644082"/>
                  </a:ext>
                </a:extLst>
              </a:tr>
              <a:tr h="3348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달리기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Shift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9168936"/>
                  </a:ext>
                </a:extLst>
              </a:tr>
              <a:tr h="3348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상호작용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들기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7925836"/>
                  </a:ext>
                </a:extLst>
              </a:tr>
              <a:tr h="3348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회전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마우스 좌우 움직임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5204424"/>
                  </a:ext>
                </a:extLst>
              </a:tr>
              <a:tr h="3348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총 발사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마우스 </a:t>
                      </a:r>
                      <a:r>
                        <a:rPr lang="ko-KR" altLang="en-US" sz="1600" dirty="0" err="1"/>
                        <a:t>좌클릭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978254"/>
                  </a:ext>
                </a:extLst>
              </a:tr>
              <a:tr h="3667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accent3"/>
                          </a:solidFill>
                        </a:rPr>
                        <a:t>**</a:t>
                      </a:r>
                      <a:r>
                        <a:rPr lang="ko-KR" altLang="en-US" sz="1600" dirty="0">
                          <a:solidFill>
                            <a:schemeClr val="accent3"/>
                          </a:solidFill>
                        </a:rPr>
                        <a:t>총 조준</a:t>
                      </a:r>
                      <a:r>
                        <a:rPr lang="en-US" altLang="ko-KR" sz="1600" dirty="0">
                          <a:solidFill>
                            <a:schemeClr val="accent3"/>
                          </a:solidFill>
                        </a:rPr>
                        <a:t>??</a:t>
                      </a:r>
                      <a:endParaRPr lang="ko-KR" altLang="en-US" sz="1600" dirty="0">
                        <a:solidFill>
                          <a:schemeClr val="accent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0389162"/>
                  </a:ext>
                </a:extLst>
              </a:tr>
            </a:tbl>
          </a:graphicData>
        </a:graphic>
      </p:graphicFrame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466DFFCD-665A-9180-2324-D7660BE4778B}"/>
              </a:ext>
            </a:extLst>
          </p:cNvPr>
          <p:cNvSpPr/>
          <p:nvPr/>
        </p:nvSpPr>
        <p:spPr>
          <a:xfrm>
            <a:off x="8768426" y="4177627"/>
            <a:ext cx="276927" cy="525820"/>
          </a:xfrm>
          <a:prstGeom prst="roundRect">
            <a:avLst/>
          </a:prstGeom>
          <a:solidFill>
            <a:srgbClr val="FFFF00">
              <a:alpha val="10000"/>
            </a:srgbClr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734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EEDB22-F445-1C8F-61D8-CBB7CD53A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참고문헌 및 출처</a:t>
            </a: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6B7D82-5A93-A32E-08C0-ED202AFB5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060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53B8EAFD-03FA-8944-B1DF-F230D2C49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이미지 자료 출처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D8BD448A-07B9-B4A3-5EB1-9258F8A86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1396"/>
            <a:ext cx="10515600" cy="5285567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자료</a:t>
            </a:r>
            <a:r>
              <a:rPr lang="en-US" altLang="ko-KR" sz="1600" dirty="0"/>
              <a:t>1 </a:t>
            </a:r>
            <a:r>
              <a:rPr lang="ko-KR" altLang="en-US" sz="1600" dirty="0" err="1"/>
              <a:t>플레임</a:t>
            </a:r>
            <a:r>
              <a:rPr lang="en-US" altLang="ko-KR" sz="1600" dirty="0"/>
              <a:t>&lt;</a:t>
            </a:r>
            <a:r>
              <a:rPr lang="ko-KR" altLang="en-US" sz="1600" dirty="0"/>
              <a:t>나 배달 </a:t>
            </a:r>
            <a:r>
              <a:rPr lang="ko-KR" altLang="en-US" sz="1600" dirty="0" err="1"/>
              <a:t>안해</a:t>
            </a:r>
            <a:r>
              <a:rPr lang="en-US" altLang="ko-KR" sz="1600" dirty="0"/>
              <a:t>&gt;</a:t>
            </a:r>
            <a:r>
              <a:rPr lang="ko-KR" altLang="en-US" sz="1600" dirty="0"/>
              <a:t>영상</a:t>
            </a:r>
            <a:endParaRPr lang="en-US" altLang="ko-KR" sz="1600" dirty="0"/>
          </a:p>
          <a:p>
            <a:r>
              <a:rPr lang="ko-KR" altLang="en-US" sz="1600" dirty="0"/>
              <a:t>자료</a:t>
            </a:r>
            <a:r>
              <a:rPr lang="en-US" altLang="ko-KR" sz="1600" dirty="0"/>
              <a:t>2  </a:t>
            </a:r>
            <a:r>
              <a:rPr lang="en-US" altLang="ko-KR" sz="1600" dirty="0">
                <a:hlinkClick r:id="rId2"/>
              </a:rPr>
              <a:t>https://namu.wiki/w/%EB%8F%99%EB%AC%BC%EC%9D%98%20%EC%88%B2%20%EC%8B%9C%EB%A6%AC%EC%A6%88/%EC%9D%BC%EB%B0%98%20%EC%A3%BC%EB%AF%BC/%EA%B3%B0</a:t>
            </a:r>
            <a:endParaRPr lang="en-US" altLang="ko-KR" sz="1600" dirty="0"/>
          </a:p>
          <a:p>
            <a:r>
              <a:rPr lang="ko-KR" altLang="en-US" sz="1600" dirty="0"/>
              <a:t>자료</a:t>
            </a:r>
            <a:r>
              <a:rPr lang="en-US" altLang="ko-KR" sz="1600" dirty="0"/>
              <a:t>3 </a:t>
            </a:r>
            <a:r>
              <a:rPr lang="en-US" altLang="ko-KR" sz="1600" dirty="0">
                <a:hlinkClick r:id="rId3"/>
              </a:rPr>
              <a:t>https://www.reddit.com/r/PartyAnimalsGame/comments/1b0dmqw/how_to_get_a_new_exclusive_tiagra_skin/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*</a:t>
            </a:r>
            <a:r>
              <a:rPr lang="ko-KR" altLang="en-US" sz="1600" dirty="0" err="1"/>
              <a:t>어떤느낌</a:t>
            </a:r>
            <a:r>
              <a:rPr lang="ko-KR" altLang="en-US" sz="1600" dirty="0"/>
              <a:t> 이미지 </a:t>
            </a:r>
            <a:r>
              <a:rPr lang="en-US" altLang="ko-KR" sz="1600" dirty="0"/>
              <a:t>2</a:t>
            </a:r>
            <a:r>
              <a:rPr lang="ko-KR" altLang="en-US" sz="1600" dirty="0"/>
              <a:t>개</a:t>
            </a:r>
            <a:r>
              <a:rPr lang="en-US" altLang="ko-KR" sz="1600" dirty="0"/>
              <a:t>,</a:t>
            </a:r>
            <a:r>
              <a:rPr lang="ko-KR" altLang="en-US" sz="1600" dirty="0" err="1"/>
              <a:t>이프선셋</a:t>
            </a:r>
            <a:r>
              <a:rPr lang="en-US" altLang="ko-KR" sz="1600" dirty="0"/>
              <a:t>, </a:t>
            </a:r>
            <a:r>
              <a:rPr lang="ko-KR" altLang="en-US" sz="1600" dirty="0"/>
              <a:t>베틀그라운드 </a:t>
            </a:r>
            <a:r>
              <a:rPr lang="en-US" altLang="ko-KR" sz="1600" dirty="0">
                <a:hlinkClick r:id="rId4"/>
              </a:rPr>
              <a:t>https://page.onstove.com/indie/global/view/9597749</a:t>
            </a:r>
            <a:r>
              <a:rPr lang="en-US" altLang="ko-KR" sz="1600" dirty="0"/>
              <a:t> </a:t>
            </a:r>
          </a:p>
          <a:p>
            <a:r>
              <a:rPr lang="en-US" altLang="ko-KR" sz="1600" dirty="0">
                <a:hlinkClick r:id="rId5"/>
              </a:rPr>
              <a:t>https://velog.io/@dev_sensational/Unity-3%EC%9D%B8%EC%B9%AD-Back-view-%EC%8A%88%ED%8C%85%EA%B2%8C%EC%9E%84TPS-%ED%94%84%EB%A1%9C%EC%A0%9D%ED%8A%B8-%EC%8B%9C%EC%9E%91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키보드 이미지 </a:t>
            </a:r>
            <a:r>
              <a:rPr lang="en-US" altLang="ko-KR" sz="1600" dirty="0">
                <a:hlinkClick r:id="rId6"/>
              </a:rPr>
              <a:t>https://creatorjoseph.com/268#google_vignette</a:t>
            </a:r>
            <a:endParaRPr lang="en-US" altLang="ko-KR" sz="1600" dirty="0"/>
          </a:p>
          <a:p>
            <a:r>
              <a:rPr lang="ko-KR" altLang="en-US" sz="1600" dirty="0"/>
              <a:t>마우스 이미지 </a:t>
            </a:r>
            <a:r>
              <a:rPr lang="en-US" altLang="ko-KR" sz="1600" dirty="0">
                <a:hlinkClick r:id="rId7"/>
              </a:rPr>
              <a:t>https://kor.pngtree.com/so/%EB%A7%88%EC%9A%B0%EC%8A%A4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ko-KR" altLang="en-US" sz="16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226ECB-2B1C-B2A7-4CB5-00358793D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9/21/2026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C2F74C-0F26-5025-9369-77AED6627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8907003B-E921-5E38-C139-5AE6158C740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9752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8F28EA2-B6EC-2C56-5371-0EECDFFF0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33751F5-E589-0C0E-0160-489D30238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배달게임</a:t>
            </a:r>
          </a:p>
          <a:p>
            <a:pPr lvl="0">
              <a:defRPr/>
            </a:pPr>
            <a:r>
              <a:rPr lang="en-US" altLang="ko-KR" dirty="0"/>
              <a:t>fps</a:t>
            </a:r>
          </a:p>
          <a:p>
            <a:pPr lvl="0">
              <a:defRPr/>
            </a:pPr>
            <a:r>
              <a:rPr lang="ko-KR" altLang="en-US" dirty="0" err="1"/>
              <a:t>동물의숲</a:t>
            </a:r>
            <a:endParaRPr lang="ko-KR" altLang="en-US" dirty="0"/>
          </a:p>
          <a:p>
            <a:pPr lvl="0">
              <a:defRPr/>
            </a:pPr>
            <a:r>
              <a:rPr lang="ko-KR" altLang="en-US" dirty="0"/>
              <a:t>도우미</a:t>
            </a:r>
            <a:r>
              <a:rPr lang="en-US" altLang="ko-KR" dirty="0"/>
              <a:t>ai</a:t>
            </a:r>
          </a:p>
          <a:p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DDC6CE-B9CF-01BE-5E7A-7BA7BCA714E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08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317DE-7DC4-1DA0-74CB-001BCA1C0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20C2E3-6320-9489-4E68-947F5A32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부록</a:t>
            </a:r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2FD4BF-BA8A-6F73-F997-07EC85AC1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추가 설명란과 폐기된 아이디어</a:t>
            </a:r>
          </a:p>
        </p:txBody>
      </p:sp>
    </p:spTree>
    <p:extLst>
      <p:ext uri="{BB962C8B-B14F-4D97-AF65-F5344CB8AC3E}">
        <p14:creationId xmlns:p14="http://schemas.microsoft.com/office/powerpoint/2010/main" val="36120210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DE68E-C719-1ACF-9826-B291D554D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ADE472-1214-16BA-71F1-766245EA7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5664679" cy="662782"/>
          </a:xfrm>
        </p:spPr>
        <p:txBody>
          <a:bodyPr>
            <a:normAutofit/>
          </a:bodyPr>
          <a:lstStyle/>
          <a:p>
            <a:r>
              <a:rPr lang="en-US" altLang="ko-KR" dirty="0"/>
              <a:t>*********</a:t>
            </a:r>
            <a:endParaRPr lang="ko-KR" altLang="en-US" dirty="0">
              <a:solidFill>
                <a:schemeClr val="accent3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09C683-C725-7210-ABF7-877B5B0FC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905555"/>
            <a:ext cx="5181600" cy="1271408"/>
          </a:xfrm>
        </p:spPr>
        <p:txBody>
          <a:bodyPr>
            <a:normAutofit/>
          </a:bodyPr>
          <a:lstStyle/>
          <a:p>
            <a:r>
              <a:rPr lang="en-US" altLang="ko-KR" dirty="0"/>
              <a:t>? </a:t>
            </a:r>
            <a:r>
              <a:rPr lang="ko-KR" altLang="en-US" dirty="0"/>
              <a:t>어떤 느낌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584383-40AF-56A3-6982-0581FD8FAE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8CC5F9-B0BB-DA99-2ECA-D46F7BC55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9/21/2026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92BDE3-9CB6-BFB2-575E-45C33E9A7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250EA01-64C0-D50C-89E7-38DCDF819C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4678" y="0"/>
            <a:ext cx="6527322" cy="662782"/>
          </a:xfrm>
        </p:spPr>
        <p:txBody>
          <a:bodyPr/>
          <a:lstStyle/>
          <a:p>
            <a:r>
              <a:rPr lang="ko-KR" altLang="en-US" dirty="0"/>
              <a:t>시스템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942213C-15BB-62F5-8747-F9E8817F0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950" y="3276398"/>
            <a:ext cx="4908250" cy="275898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13DB8EA-95D8-90E1-DF6A-B9B0FA23E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896" y="1020800"/>
            <a:ext cx="4904862" cy="2758985"/>
          </a:xfrm>
          <a:prstGeom prst="rect">
            <a:avLst/>
          </a:prstGeom>
        </p:spPr>
      </p:pic>
      <p:pic>
        <p:nvPicPr>
          <p:cNvPr id="22" name="그림 21" descr="4">
            <a:extLst>
              <a:ext uri="{FF2B5EF4-FFF2-40B4-BE49-F238E27FC236}">
                <a16:creationId xmlns:a16="http://schemas.microsoft.com/office/drawing/2014/main" id="{904EB6A6-D9F2-1BFC-4313-8113377B9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950" y="729216"/>
            <a:ext cx="4654911" cy="261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3141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94D51-F217-67D8-15C1-2C6574975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5664679" cy="662782"/>
          </a:xfrm>
        </p:spPr>
        <p:txBody>
          <a:bodyPr>
            <a:normAutofit fontScale="90000"/>
          </a:bodyPr>
          <a:lstStyle/>
          <a:p>
            <a:r>
              <a:rPr lang="en-US" altLang="ko-KR"/>
              <a:t>UI_</a:t>
            </a:r>
            <a:r>
              <a:rPr lang="ko-KR" altLang="en-US"/>
              <a:t>세부</a:t>
            </a:r>
            <a:r>
              <a:rPr lang="en-US" altLang="ko-KR"/>
              <a:t>_</a:t>
            </a:r>
            <a:r>
              <a:rPr lang="ko-KR" altLang="en-US"/>
              <a:t>시간예측분석</a:t>
            </a:r>
            <a:r>
              <a:rPr lang="en-US" altLang="ko-KR"/>
              <a:t>UI</a:t>
            </a:r>
            <a:r>
              <a:rPr lang="en-US" altLang="ko-KR">
                <a:solidFill>
                  <a:schemeClr val="accent3"/>
                </a:solidFill>
              </a:rPr>
              <a:t>_</a:t>
            </a:r>
            <a:r>
              <a:rPr lang="ko-KR" altLang="en-US">
                <a:solidFill>
                  <a:schemeClr val="accent3"/>
                </a:solidFill>
              </a:rPr>
              <a:t>후보</a:t>
            </a:r>
            <a:r>
              <a:rPr lang="en-US" altLang="ko-KR">
                <a:solidFill>
                  <a:schemeClr val="accent3"/>
                </a:solidFill>
              </a:rPr>
              <a:t>1</a:t>
            </a:r>
            <a:endParaRPr lang="ko-KR" altLang="en-US" dirty="0">
              <a:solidFill>
                <a:schemeClr val="accent3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57975F-8ACE-F4FA-8AB0-07475DFB43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5F8528-CD96-16F4-2F05-6811FC9837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ko-KR" altLang="en-US" sz="2400" dirty="0"/>
              <a:t>결과 </a:t>
            </a:r>
            <a:r>
              <a:rPr lang="en-US" altLang="ko-KR" sz="2400" dirty="0"/>
              <a:t>: </a:t>
            </a:r>
            <a:r>
              <a:rPr lang="ko-KR" altLang="en-US" sz="2400" dirty="0"/>
              <a:t>폐기</a:t>
            </a:r>
            <a:endParaRPr lang="en-US" altLang="ko-KR" sz="2400" dirty="0"/>
          </a:p>
          <a:p>
            <a:pPr>
              <a:lnSpc>
                <a:spcPct val="110000"/>
              </a:lnSpc>
            </a:pPr>
            <a:r>
              <a:rPr lang="ko-KR" altLang="en-US" sz="2400" dirty="0"/>
              <a:t>까닭 </a:t>
            </a:r>
            <a:r>
              <a:rPr lang="en-US" altLang="ko-KR" sz="2400" dirty="0"/>
              <a:t>: </a:t>
            </a:r>
            <a:r>
              <a:rPr lang="ko-KR" altLang="en-US" sz="2400" dirty="0"/>
              <a:t>다른 후보들에 비해 가장 쉽게 </a:t>
            </a:r>
            <a:r>
              <a:rPr lang="en-US" altLang="ko-KR" sz="2400" dirty="0"/>
              <a:t>3</a:t>
            </a:r>
            <a:r>
              <a:rPr lang="ko-KR" altLang="en-US" sz="2400" dirty="0"/>
              <a:t>인칭에 녹여낼 있으나</a:t>
            </a:r>
            <a:r>
              <a:rPr lang="en-US" altLang="ko-KR" sz="2400" dirty="0"/>
              <a:t>, </a:t>
            </a:r>
            <a:r>
              <a:rPr lang="ko-KR" altLang="en-US" sz="2400" dirty="0"/>
              <a:t>마찬가지로 다른 </a:t>
            </a:r>
            <a:r>
              <a:rPr lang="en-US" altLang="ko-KR" sz="2400" dirty="0"/>
              <a:t>3</a:t>
            </a:r>
            <a:r>
              <a:rPr lang="ko-KR" altLang="en-US" sz="2400" dirty="0"/>
              <a:t>인칭 </a:t>
            </a:r>
            <a:r>
              <a:rPr lang="en-US" altLang="ko-KR" sz="2400" dirty="0"/>
              <a:t>UI</a:t>
            </a:r>
            <a:r>
              <a:rPr lang="ko-KR" altLang="en-US" sz="2400" dirty="0"/>
              <a:t>에서 아이디어를 얻거나 통합하는 것이 더 나은 방안이라 판단함</a:t>
            </a:r>
            <a:endParaRPr lang="en-US" altLang="ko-KR" sz="2400" dirty="0"/>
          </a:p>
          <a:p>
            <a:pPr>
              <a:lnSpc>
                <a:spcPct val="110000"/>
              </a:lnSpc>
            </a:pPr>
            <a:endParaRPr lang="en-US" altLang="ko-KR" sz="2400" dirty="0"/>
          </a:p>
          <a:p>
            <a:pPr>
              <a:lnSpc>
                <a:spcPct val="110000"/>
              </a:lnSpc>
            </a:pPr>
            <a:r>
              <a:rPr lang="ko-KR" altLang="en-US" sz="2400" dirty="0" err="1"/>
              <a:t>핍보이</a:t>
            </a:r>
            <a:r>
              <a:rPr lang="ko-KR" altLang="en-US" sz="2400" dirty="0"/>
              <a:t> </a:t>
            </a:r>
            <a:r>
              <a:rPr lang="en-US" altLang="ko-KR" sz="2400" dirty="0"/>
              <a:t>UI </a:t>
            </a:r>
            <a:r>
              <a:rPr lang="ko-KR" altLang="en-US" sz="2400" dirty="0"/>
              <a:t>이미지 </a:t>
            </a:r>
            <a:r>
              <a:rPr lang="en-US" altLang="ko-KR" sz="2400" dirty="0">
                <a:hlinkClick r:id="rId2"/>
              </a:rPr>
              <a:t>https://arca.live/b/fallout76/19323367</a:t>
            </a:r>
            <a:endParaRPr lang="en-US" altLang="ko-KR" sz="24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8EFC82-39C1-37D5-A2C1-BD7109103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9/21/2026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1AC843-7DC9-A361-45FE-6B5FA433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7C3D725-686D-219D-E3F9-FCDBA59832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4678" y="0"/>
            <a:ext cx="6527322" cy="662782"/>
          </a:xfrm>
        </p:spPr>
        <p:txBody>
          <a:bodyPr/>
          <a:lstStyle/>
          <a:p>
            <a:r>
              <a:rPr lang="ko-KR" altLang="en-US" dirty="0"/>
              <a:t>시스템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FC82763-7EB2-6DBD-BD2A-89C2169C8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92060"/>
            <a:ext cx="5266640" cy="296248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47BB6AC-574F-23F8-798C-FE5AED8C901E}"/>
              </a:ext>
            </a:extLst>
          </p:cNvPr>
          <p:cNvSpPr/>
          <p:nvPr/>
        </p:nvSpPr>
        <p:spPr>
          <a:xfrm>
            <a:off x="9667335" y="9705"/>
            <a:ext cx="2524665" cy="8396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폐기됨</a:t>
            </a:r>
          </a:p>
        </p:txBody>
      </p:sp>
    </p:spTree>
    <p:extLst>
      <p:ext uri="{BB962C8B-B14F-4D97-AF65-F5344CB8AC3E}">
        <p14:creationId xmlns:p14="http://schemas.microsoft.com/office/powerpoint/2010/main" val="30664055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3ED21-0446-B325-480B-8AEDED03E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2B022-CC93-5BD3-2FB3-7C520F271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5664679" cy="662782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시간예측분석</a:t>
            </a:r>
            <a:r>
              <a:rPr lang="en-US" altLang="ko-KR" dirty="0"/>
              <a:t>UI</a:t>
            </a:r>
            <a:r>
              <a:rPr lang="en-US" altLang="ko-KR" dirty="0">
                <a:solidFill>
                  <a:schemeClr val="accent3"/>
                </a:solidFill>
              </a:rPr>
              <a:t>_</a:t>
            </a:r>
            <a:r>
              <a:rPr lang="ko-KR" altLang="en-US" dirty="0">
                <a:solidFill>
                  <a:schemeClr val="accent3"/>
                </a:solidFill>
              </a:rPr>
              <a:t>후보</a:t>
            </a:r>
            <a:r>
              <a:rPr lang="en-US" altLang="ko-KR" dirty="0">
                <a:solidFill>
                  <a:schemeClr val="accent3"/>
                </a:solidFill>
              </a:rPr>
              <a:t>2</a:t>
            </a:r>
            <a:endParaRPr lang="ko-KR" altLang="en-US" dirty="0">
              <a:solidFill>
                <a:schemeClr val="accent3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20B2E1-7D68-E4DC-0EA7-BE29AF19FB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1FF18E-C4C2-7C23-480E-50C00075266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ko-KR" altLang="en-US" sz="1600" dirty="0" err="1"/>
              <a:t>테블릿</a:t>
            </a:r>
            <a:r>
              <a:rPr lang="ko-KR" altLang="en-US" sz="1600" dirty="0"/>
              <a:t> </a:t>
            </a:r>
            <a:r>
              <a:rPr lang="en-US" altLang="ko-KR" sz="1600" dirty="0"/>
              <a:t>UI </a:t>
            </a:r>
            <a:r>
              <a:rPr lang="ko-KR" altLang="en-US" sz="1600" dirty="0"/>
              <a:t>차용 시 </a:t>
            </a:r>
            <a:r>
              <a:rPr lang="en-US" altLang="ko-KR" sz="1600" dirty="0"/>
              <a:t>:</a:t>
            </a:r>
            <a:br>
              <a:rPr lang="en-US" altLang="ko-KR" sz="1600" dirty="0"/>
            </a:br>
            <a:r>
              <a:rPr lang="ko-KR" altLang="en-US" sz="1600" dirty="0"/>
              <a:t>화면을 덮을 크기</a:t>
            </a:r>
            <a:r>
              <a:rPr lang="en-US" altLang="ko-KR" sz="1600" dirty="0"/>
              <a:t>, </a:t>
            </a:r>
            <a:r>
              <a:rPr lang="ko-KR" altLang="en-US" sz="1600" dirty="0"/>
              <a:t>투명도는 방식에 따라 필요가 </a:t>
            </a:r>
            <a:r>
              <a:rPr lang="ko-KR" altLang="en-US" sz="1600" dirty="0" err="1"/>
              <a:t>정해짐</a:t>
            </a:r>
            <a:r>
              <a:rPr lang="en-US" altLang="ko-KR" sz="1600" dirty="0"/>
              <a:t>, </a:t>
            </a:r>
            <a:r>
              <a:rPr lang="ko-KR" altLang="en-US" sz="1600" dirty="0"/>
              <a:t>만약 </a:t>
            </a:r>
            <a:r>
              <a:rPr lang="ko-KR" altLang="en-US" sz="1600" dirty="0" err="1"/>
              <a:t>미니맵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탑뷰로</a:t>
            </a:r>
            <a:r>
              <a:rPr lang="ko-KR" altLang="en-US" sz="1600" dirty="0"/>
              <a:t> 경로를 알려준다면 투명도 필요 없음</a:t>
            </a:r>
            <a:r>
              <a:rPr lang="en-US" altLang="ko-KR" sz="1600" dirty="0"/>
              <a:t>, </a:t>
            </a:r>
            <a:r>
              <a:rPr lang="ko-KR" altLang="en-US" sz="1600" dirty="0"/>
              <a:t>눈 앞의 경로를 알려준다면 투명도 필요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/>
              <a:t>결과 </a:t>
            </a:r>
            <a:r>
              <a:rPr lang="en-US" altLang="ko-KR" sz="1600" dirty="0"/>
              <a:t>: </a:t>
            </a:r>
            <a:r>
              <a:rPr lang="ko-KR" altLang="en-US" sz="1600" dirty="0"/>
              <a:t>폐기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/>
              <a:t>까닭 </a:t>
            </a:r>
            <a:r>
              <a:rPr lang="en-US" altLang="ko-KR" sz="1600" dirty="0"/>
              <a:t>: 3</a:t>
            </a:r>
            <a:r>
              <a:rPr lang="ko-KR" altLang="en-US" sz="1600" dirty="0"/>
              <a:t>인칭 진행에서 자연스럽게 디자인할 방안을 찾지 못함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 err="1"/>
              <a:t>서브노티카</a:t>
            </a:r>
            <a:r>
              <a:rPr lang="en-US" altLang="ko-KR" sz="1600" dirty="0"/>
              <a:t> UI </a:t>
            </a:r>
            <a:r>
              <a:rPr lang="ko-KR" altLang="en-US" sz="1600" dirty="0"/>
              <a:t>이미지 </a:t>
            </a:r>
            <a:r>
              <a:rPr lang="en-US" altLang="ko-KR" sz="1600" dirty="0">
                <a:hlinkClick r:id="rId2"/>
              </a:rPr>
              <a:t>https://gameuidatabase.com/index.php?&amp;scrn=71&amp;set=1&amp;plat=1&amp;tag=131&amp;series=106&amp;sort=2&amp;r=4</a:t>
            </a:r>
            <a:endParaRPr lang="en-US" altLang="ko-KR" sz="16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AEB7CD-9D5E-B089-9D35-D9AF3542D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9/21/2026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5F2533-7743-0CAA-E193-5A96F503B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920614F1-FB8C-4B4B-8C14-E7CF485B3A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4678" y="0"/>
            <a:ext cx="6527322" cy="662782"/>
          </a:xfrm>
        </p:spPr>
        <p:txBody>
          <a:bodyPr/>
          <a:lstStyle/>
          <a:p>
            <a:r>
              <a:rPr lang="ko-KR" altLang="en-US" dirty="0"/>
              <a:t>시스템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4E6418C-1FA6-12EF-E3A5-687928F69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64" y="1119112"/>
            <a:ext cx="5197870" cy="29238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A6E254F-D347-9C8F-D15D-BFD13989A0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019" y="4065917"/>
            <a:ext cx="5003961" cy="211104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28EEAA-D802-B5E2-4634-5801BDADAFC3}"/>
              </a:ext>
            </a:extLst>
          </p:cNvPr>
          <p:cNvSpPr/>
          <p:nvPr/>
        </p:nvSpPr>
        <p:spPr>
          <a:xfrm>
            <a:off x="9667335" y="9705"/>
            <a:ext cx="2524665" cy="8396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폐기됨</a:t>
            </a:r>
          </a:p>
        </p:txBody>
      </p:sp>
    </p:spTree>
    <p:extLst>
      <p:ext uri="{BB962C8B-B14F-4D97-AF65-F5344CB8AC3E}">
        <p14:creationId xmlns:p14="http://schemas.microsoft.com/office/powerpoint/2010/main" val="29541052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05E5E-B71B-3E00-C88E-EB1061C3E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6DB0DB-4DCE-11D7-B365-3F83F6782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5664679" cy="662782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시간예측분석</a:t>
            </a:r>
            <a:r>
              <a:rPr lang="en-US" altLang="ko-KR" dirty="0"/>
              <a:t>UI</a:t>
            </a:r>
            <a:r>
              <a:rPr lang="en-US" altLang="ko-KR" dirty="0">
                <a:solidFill>
                  <a:schemeClr val="accent3"/>
                </a:solidFill>
              </a:rPr>
              <a:t>_</a:t>
            </a:r>
            <a:r>
              <a:rPr lang="ko-KR" altLang="en-US" dirty="0">
                <a:solidFill>
                  <a:schemeClr val="accent3"/>
                </a:solidFill>
              </a:rPr>
              <a:t>후보</a:t>
            </a:r>
            <a:r>
              <a:rPr lang="en-US" altLang="ko-KR" dirty="0">
                <a:solidFill>
                  <a:schemeClr val="accent3"/>
                </a:solidFill>
              </a:rPr>
              <a:t>3</a:t>
            </a:r>
            <a:endParaRPr lang="ko-KR" altLang="en-US" dirty="0">
              <a:solidFill>
                <a:schemeClr val="accent3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283826-6FD3-BF10-B452-319AE5A86E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CC3A1F-E50B-52CB-1E8A-D38165C47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81916"/>
            <a:ext cx="5181600" cy="499504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ko-KR" altLang="en-US" sz="1600" dirty="0"/>
              <a:t>시계 </a:t>
            </a:r>
            <a:r>
              <a:rPr lang="en-US" altLang="ko-KR" sz="1600" dirty="0"/>
              <a:t>UI </a:t>
            </a:r>
            <a:r>
              <a:rPr lang="ko-KR" altLang="en-US" sz="1600" dirty="0"/>
              <a:t>차용 시</a:t>
            </a:r>
            <a:r>
              <a:rPr lang="en-US" altLang="ko-KR" sz="1600" dirty="0"/>
              <a:t> :</a:t>
            </a:r>
            <a:br>
              <a:rPr lang="en-US" altLang="ko-KR" sz="1600" dirty="0"/>
            </a:br>
            <a:r>
              <a:rPr lang="ko-KR" altLang="en-US" sz="1600" dirty="0"/>
              <a:t>시계는 크기가 </a:t>
            </a:r>
            <a:r>
              <a:rPr lang="ko-KR" altLang="en-US" sz="1600" dirty="0" err="1"/>
              <a:t>커야함</a:t>
            </a:r>
            <a:r>
              <a:rPr lang="en-US" altLang="ko-KR" sz="1600" dirty="0"/>
              <a:t>, </a:t>
            </a:r>
            <a:r>
              <a:rPr lang="ko-KR" altLang="en-US" sz="1600" dirty="0"/>
              <a:t>직관적이고 선명한 색의 이미지</a:t>
            </a:r>
            <a:r>
              <a:rPr lang="en-US" altLang="ko-KR" sz="1600" dirty="0"/>
              <a:t>, </a:t>
            </a:r>
            <a:r>
              <a:rPr lang="ko-KR" altLang="en-US" sz="1600" dirty="0"/>
              <a:t>중앙에는 화살표로 경로의 위치를 확인할 수 있도록 해야함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/>
              <a:t>결과 </a:t>
            </a:r>
            <a:r>
              <a:rPr lang="en-US" altLang="ko-KR" sz="1600" dirty="0"/>
              <a:t>: </a:t>
            </a:r>
            <a:r>
              <a:rPr lang="ko-KR" altLang="en-US" sz="1600" dirty="0"/>
              <a:t>폐기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/>
              <a:t>까닭 </a:t>
            </a:r>
            <a:r>
              <a:rPr lang="en-US" altLang="ko-KR" sz="1600" dirty="0"/>
              <a:t>: </a:t>
            </a:r>
            <a:r>
              <a:rPr lang="ko-KR" altLang="en-US" sz="1600" dirty="0"/>
              <a:t>실시간 컨셉과 맞지 않다고 판단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배달품</a:t>
            </a:r>
            <a:r>
              <a:rPr lang="ko-KR" altLang="en-US" sz="1600" dirty="0"/>
              <a:t> 소지 시 손목을 볼 수 없거나 구현이 곤란해짐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 err="1"/>
              <a:t>그린헬</a:t>
            </a:r>
            <a:r>
              <a:rPr lang="ko-KR" altLang="en-US" sz="1600" dirty="0"/>
              <a:t> 손목시계 </a:t>
            </a:r>
            <a:r>
              <a:rPr lang="en-US" altLang="ko-KR" sz="1600" dirty="0"/>
              <a:t>UI </a:t>
            </a:r>
            <a:r>
              <a:rPr lang="ko-KR" altLang="en-US" sz="1600" dirty="0"/>
              <a:t>이미지 </a:t>
            </a:r>
            <a:r>
              <a:rPr lang="en-US" altLang="ko-KR" sz="1600" dirty="0">
                <a:hlinkClick r:id="rId2"/>
              </a:rPr>
              <a:t>https://constante.tistory.com/entry/%EA%B7%B8%EB%A6%B0-%ED%97%ACGreen-Hell-%EC%B4%88%EB%B3%B4%EA%B0%80%EC%9D%B4%EB%93%9C-%ED%8A%9C%ED%86%A0%EB%A6%AC%EC%96%BC-%ED%95%B4%EC%95%BC-%ED%95%98%EB%8A%94-%EC%9D%B4%EC%9C%A0</a:t>
            </a:r>
            <a:endParaRPr lang="en-US" altLang="ko-KR" sz="16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C9BB43-0277-F6FA-BBC7-4CA345E2C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9/21/2026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96AA24-EF56-CAB7-B5BB-9D1F17030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68ECF64-4803-31DC-51AA-50E8624A34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4678" y="0"/>
            <a:ext cx="6527322" cy="662782"/>
          </a:xfrm>
        </p:spPr>
        <p:txBody>
          <a:bodyPr/>
          <a:lstStyle/>
          <a:p>
            <a:r>
              <a:rPr lang="ko-KR" altLang="en-US" dirty="0"/>
              <a:t>시스템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AD80CA8-A303-4ECC-BDB8-24B3AFB89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54152"/>
            <a:ext cx="5181600" cy="293228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866009D-C93F-161B-09F5-E69904A8F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181916"/>
            <a:ext cx="5181600" cy="296340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060AB15-8ACC-8D8E-F1D0-86A263E9E1FF}"/>
              </a:ext>
            </a:extLst>
          </p:cNvPr>
          <p:cNvSpPr/>
          <p:nvPr/>
        </p:nvSpPr>
        <p:spPr>
          <a:xfrm>
            <a:off x="9667335" y="9705"/>
            <a:ext cx="2524665" cy="8396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폐기됨</a:t>
            </a:r>
          </a:p>
        </p:txBody>
      </p:sp>
    </p:spTree>
    <p:extLst>
      <p:ext uri="{BB962C8B-B14F-4D97-AF65-F5344CB8AC3E}">
        <p14:creationId xmlns:p14="http://schemas.microsoft.com/office/powerpoint/2010/main" val="751271471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_수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기본_수정" id="{CBA6B7FE-B6CA-4F39-BB51-F79B6C8A8A52}" vid="{D2CEE810-8952-4285-9131-7485780386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기본_수정</Template>
  <TotalTime>756</TotalTime>
  <Words>1513</Words>
  <Application>Microsoft Office PowerPoint</Application>
  <PresentationFormat>와이드스크린</PresentationFormat>
  <Paragraphs>228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28</vt:i4>
      </vt:variant>
    </vt:vector>
  </HeadingPairs>
  <TitlesOfParts>
    <vt:vector size="32" baseType="lpstr">
      <vt:lpstr>맑은 고딕</vt:lpstr>
      <vt:lpstr>Arial</vt:lpstr>
      <vt:lpstr>기본_수정</vt:lpstr>
      <vt:lpstr>디자인 사용자 지정</vt:lpstr>
      <vt:lpstr>배트와 달트 기획서</vt:lpstr>
      <vt:lpstr>용어 정리</vt:lpstr>
      <vt:lpstr>목차</vt:lpstr>
      <vt:lpstr>게임 소개</vt:lpstr>
      <vt:lpstr>게임 정보</vt:lpstr>
      <vt:lpstr>기획 목표</vt:lpstr>
      <vt:lpstr>게임 플로우</vt:lpstr>
      <vt:lpstr>컨텐츠</vt:lpstr>
      <vt:lpstr>스토리</vt:lpstr>
      <vt:lpstr>플레이어블 캐릭터</vt:lpstr>
      <vt:lpstr>NPC_반응 생물</vt:lpstr>
      <vt:lpstr>NPC_주민</vt:lpstr>
      <vt:lpstr>맵</vt:lpstr>
      <vt:lpstr>상호작용_지형</vt:lpstr>
      <vt:lpstr>상호작용_배달품_예시</vt:lpstr>
      <vt:lpstr>상호작용_생물</vt:lpstr>
      <vt:lpstr>시스템</vt:lpstr>
      <vt:lpstr>UI_플로우</vt:lpstr>
      <vt:lpstr>UI_세부_플레이화면</vt:lpstr>
      <vt:lpstr>컨트롤</vt:lpstr>
      <vt:lpstr>참고문헌 및 출처</vt:lpstr>
      <vt:lpstr>이미지 자료 출처</vt:lpstr>
      <vt:lpstr>PowerPoint 프레젠테이션</vt:lpstr>
      <vt:lpstr>부록</vt:lpstr>
      <vt:lpstr>*********</vt:lpstr>
      <vt:lpstr>UI_세부_시간예측분석UI_후보1</vt:lpstr>
      <vt:lpstr>UI_세부_시간예측분석UI_후보2</vt:lpstr>
      <vt:lpstr>UI_세부_시간예측분석UI_후보3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권현아(2023184004)</dc:creator>
  <cp:lastModifiedBy>권현아(2023184004)</cp:lastModifiedBy>
  <cp:revision>83</cp:revision>
  <dcterms:created xsi:type="dcterms:W3CDTF">2026-09-16T19:24:55Z</dcterms:created>
  <dcterms:modified xsi:type="dcterms:W3CDTF">2026-09-21T05:19:28Z</dcterms:modified>
</cp:coreProperties>
</file>