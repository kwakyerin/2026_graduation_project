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sldIdLst>
    <p:sldId id="256" r:id="rId3"/>
    <p:sldId id="281" r:id="rId4"/>
    <p:sldId id="257" r:id="rId5"/>
    <p:sldId id="258" r:id="rId6"/>
    <p:sldId id="259" r:id="rId7"/>
    <p:sldId id="261" r:id="rId8"/>
    <p:sldId id="265" r:id="rId9"/>
    <p:sldId id="260" r:id="rId10"/>
    <p:sldId id="271" r:id="rId11"/>
    <p:sldId id="268" r:id="rId12"/>
    <p:sldId id="272" r:id="rId13"/>
    <p:sldId id="273" r:id="rId14"/>
    <p:sldId id="278" r:id="rId15"/>
    <p:sldId id="280" r:id="rId16"/>
    <p:sldId id="277" r:id="rId17"/>
    <p:sldId id="279" r:id="rId18"/>
    <p:sldId id="262" r:id="rId19"/>
    <p:sldId id="269" r:id="rId20"/>
    <p:sldId id="274" r:id="rId21"/>
    <p:sldId id="284" r:id="rId22"/>
    <p:sldId id="275" r:id="rId23"/>
    <p:sldId id="282" r:id="rId24"/>
    <p:sldId id="283" r:id="rId25"/>
    <p:sldId id="276" r:id="rId26"/>
    <p:sldId id="263" r:id="rId27"/>
    <p:sldId id="264" r:id="rId28"/>
    <p:sldId id="270" r:id="rId2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presProps" Target="presProps.xml"/><Relationship Id="rId8" Type="http://schemas.openxmlformats.org/officeDocument/2006/relationships/slide" Target="slides/slide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9/17/2026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9/17/2026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9/17/2026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9/17/2026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hyperlink" Target="https://constante.tistory.com/entry/%EA%B7%B8%EB%A6%B0-%ED%97%ACGreen-Hell-%EC%B4%88%EB%B3%B4%EA%B0%80%EC%9D%B4%EB%93%9C-%ED%8A%9C%ED%86%A0%EB%A6%AC%EC%96%BC-%ED%95%B4%EC%95%BC-%ED%95%98%EB%8A%94-%EC%9D%B4%EC%9C%A0" TargetMode="External"/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gameuidatabase.com/index.php?&amp;scrn=71&amp;set=1&amp;plat=1&amp;tag=131&amp;series=106&amp;sort=2&amp;r=4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arca.live/b/fallout76/19323367" TargetMode="External"/><Relationship Id="rId5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10" Type="http://schemas.openxmlformats.org/officeDocument/2006/relationships/hyperlink" Target="https://kor.pngtree.com/so/%EB%A7%88%EC%9A%B0%EC%8A%A4" TargetMode="External"/><Relationship Id="rId4" Type="http://schemas.openxmlformats.org/officeDocument/2006/relationships/hyperlink" Target="https://page.onstove.com/indie/global/view/9597749" TargetMode="External"/><Relationship Id="rId9" Type="http://schemas.openxmlformats.org/officeDocument/2006/relationships/hyperlink" Target="https://creatorjoseph.com/268#google_vignett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기획서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AD08547-37A1-E3B2-6FAD-B80A2923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용어 정리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84E81B8-0B77-EDAD-6246-69BCE7BA2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250"/>
            <a:ext cx="10515600" cy="4811713"/>
          </a:xfrm>
        </p:spPr>
        <p:txBody>
          <a:bodyPr/>
          <a:lstStyle/>
          <a:p>
            <a:r>
              <a:rPr lang="ko-KR" altLang="en-US" dirty="0" err="1"/>
              <a:t>배송품</a:t>
            </a:r>
            <a:r>
              <a:rPr lang="en-US" altLang="ko-KR" dirty="0"/>
              <a:t>, </a:t>
            </a:r>
            <a:r>
              <a:rPr lang="ko-KR" altLang="en-US" dirty="0" err="1"/>
              <a:t>배달품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모두 동일한 의미로 사용됨</a:t>
            </a:r>
            <a:r>
              <a:rPr lang="en-US" altLang="ko-KR" dirty="0"/>
              <a:t>, </a:t>
            </a:r>
            <a:r>
              <a:rPr lang="ko-KR" altLang="en-US" dirty="0"/>
              <a:t>플레이어가 배달을 진행해야 하는 아이템</a:t>
            </a:r>
            <a:endParaRPr lang="en-US" altLang="ko-KR" dirty="0"/>
          </a:p>
          <a:p>
            <a:r>
              <a:rPr lang="ko-KR" altLang="en-US" dirty="0"/>
              <a:t>방향전환율</a:t>
            </a:r>
            <a:r>
              <a:rPr lang="en-US" altLang="ko-KR" dirty="0"/>
              <a:t>, </a:t>
            </a:r>
            <a:r>
              <a:rPr lang="ko-KR" altLang="en-US" dirty="0"/>
              <a:t>방향회전율 </a:t>
            </a:r>
            <a:r>
              <a:rPr lang="en-US" altLang="ko-KR" dirty="0"/>
              <a:t>: </a:t>
            </a:r>
            <a:r>
              <a:rPr lang="ko-KR" altLang="en-US" dirty="0"/>
              <a:t>모두 동일한 의미로 사용됨</a:t>
            </a:r>
            <a:r>
              <a:rPr lang="en-US" altLang="ko-KR" dirty="0"/>
              <a:t>, </a:t>
            </a:r>
            <a:r>
              <a:rPr lang="ko-KR" altLang="en-US" dirty="0"/>
              <a:t>플레이어가 회전하는 정도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7E5AFA-7451-4018-1D9E-19765E5907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해당 문서에서 자주 사용되는 단어들</a:t>
            </a:r>
          </a:p>
        </p:txBody>
      </p:sp>
    </p:spTree>
    <p:extLst>
      <p:ext uri="{BB962C8B-B14F-4D97-AF65-F5344CB8AC3E}">
        <p14:creationId xmlns:p14="http://schemas.microsoft.com/office/powerpoint/2010/main" val="244943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3BA673A-9754-955E-E2BE-50FEE6222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2144712" cy="1600200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CA3521E-F03E-CCD2-5860-75445C058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8201" y="987425"/>
            <a:ext cx="7977188" cy="4873625"/>
          </a:xfrm>
        </p:spPr>
        <p:txBody>
          <a:bodyPr numCol="2" anchor="ctr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게임 소개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정보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기획 목표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플로우</a:t>
            </a:r>
            <a:endParaRPr lang="en-US" altLang="ko-KR" sz="2400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컨텐츠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스토리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 err="1"/>
              <a:t>플레이어블</a:t>
            </a:r>
            <a:r>
              <a:rPr lang="ko-KR" altLang="en-US" sz="2400" dirty="0"/>
              <a:t> 캐릭터</a:t>
            </a:r>
            <a:br>
              <a:rPr lang="en-US" altLang="ko-KR" sz="2400" dirty="0"/>
            </a:br>
            <a:r>
              <a:rPr lang="en-US" altLang="ko-KR" sz="2400" dirty="0"/>
              <a:t>&gt; NPC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반응 생물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주민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맵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상호작용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지형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 err="1"/>
              <a:t>배달품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생물</a:t>
            </a:r>
            <a:endParaRPr lang="en-US" altLang="ko-KR" sz="2400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시스템</a:t>
            </a:r>
            <a:br>
              <a:rPr lang="en-US" altLang="ko-KR" sz="2400" dirty="0"/>
            </a:br>
            <a:r>
              <a:rPr lang="en-US" altLang="ko-KR" sz="2400" dirty="0"/>
              <a:t>&gt; UI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세부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컨트롤</a:t>
            </a:r>
            <a:endParaRPr lang="en-US" altLang="ko-KR" sz="2400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참고문헌 및 출처</a:t>
            </a:r>
            <a:endParaRPr lang="en-US" altLang="ko-KR" sz="2400" b="1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부록</a:t>
            </a:r>
          </a:p>
        </p:txBody>
      </p:sp>
    </p:spTree>
    <p:extLst>
      <p:ext uri="{BB962C8B-B14F-4D97-AF65-F5344CB8AC3E}">
        <p14:creationId xmlns:p14="http://schemas.microsoft.com/office/powerpoint/2010/main" val="145431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650F7EC-D74B-E9B7-50BF-6581D2454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C69F915-976F-6F2C-D6C5-17B19A21E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64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03E1773-B3C9-B24D-04A3-63300D28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E8E3620E-D6D8-CBB7-2945-88565D4630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48410909"/>
              </p:ext>
            </p:extLst>
          </p:nvPr>
        </p:nvGraphicFramePr>
        <p:xfrm>
          <a:off x="838200" y="1825625"/>
          <a:ext cx="10515600" cy="384720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97458">
                  <a:extLst>
                    <a:ext uri="{9D8B030D-6E8A-4147-A177-3AD203B41FA5}">
                      <a16:colId xmlns:a16="http://schemas.microsoft.com/office/drawing/2014/main" val="1481076814"/>
                    </a:ext>
                  </a:extLst>
                </a:gridCol>
                <a:gridCol w="7918142">
                  <a:extLst>
                    <a:ext uri="{9D8B030D-6E8A-4147-A177-3AD203B41FA5}">
                      <a16:colId xmlns:a16="http://schemas.microsoft.com/office/drawing/2014/main" val="2932042606"/>
                    </a:ext>
                  </a:extLst>
                </a:gridCol>
              </a:tblGrid>
              <a:tr h="12824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3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인칭 2인 협동 FPS 배달 전략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308725"/>
                  </a:ext>
                </a:extLst>
              </a:tr>
              <a:tr h="12824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trike="noStrike" dirty="0"/>
                        <a:t>도우미 </a:t>
                      </a:r>
                      <a:r>
                        <a:rPr lang="en-US" altLang="ko-KR" sz="1800" strike="noStrike" dirty="0"/>
                        <a:t>ai</a:t>
                      </a:r>
                      <a:r>
                        <a:rPr lang="ko-KR" altLang="en-US" sz="1800" strike="noStrike" dirty="0"/>
                        <a:t>의 안내를 능동적으로 판단하고 주위의 적들과 변하는 생태계를 견제하며 제한 시간 안에 배달을 완료하는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4467976"/>
                  </a:ext>
                </a:extLst>
              </a:tr>
              <a:tr h="12824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클리어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 안에 배달을 성공적으로 완료하고 보수를 충분히 받아 떠나는 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0212067"/>
                  </a:ext>
                </a:extLst>
              </a:tr>
            </a:tbl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1BF454-365A-4CEC-2BD8-96FB70A429D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</p:spTree>
    <p:extLst>
      <p:ext uri="{BB962C8B-B14F-4D97-AF65-F5344CB8AC3E}">
        <p14:creationId xmlns:p14="http://schemas.microsoft.com/office/powerpoint/2010/main" val="3686803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96757B4-D983-2D61-C39C-50D61C95F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0A4F92AB-B734-33F8-AB12-D651474FE0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09709"/>
            <a:ext cx="10515600" cy="5067254"/>
          </a:xfrm>
        </p:spPr>
        <p:txBody>
          <a:bodyPr/>
          <a:lstStyle/>
          <a:p>
            <a:r>
              <a:rPr lang="ko-KR" altLang="en-US" dirty="0"/>
              <a:t>귀여운 캐릭터</a:t>
            </a:r>
            <a:r>
              <a:rPr lang="en-US" altLang="ko-KR" dirty="0"/>
              <a:t>, </a:t>
            </a:r>
            <a:r>
              <a:rPr lang="ko-KR" altLang="en-US" dirty="0"/>
              <a:t>조금 과장되었기에 오히려 </a:t>
            </a:r>
            <a:r>
              <a:rPr lang="ko-KR" altLang="en-US" dirty="0" err="1"/>
              <a:t>개그스러운</a:t>
            </a:r>
            <a:r>
              <a:rPr lang="ko-KR" altLang="en-US" dirty="0"/>
              <a:t> 전개를 통해 플레이어들로 하여금 편하고 재밌게 플레이할 수 있도록 함</a:t>
            </a:r>
            <a:endParaRPr lang="en-US" altLang="ko-KR" dirty="0"/>
          </a:p>
          <a:p>
            <a:r>
              <a:rPr lang="en-US" altLang="ko-KR" dirty="0"/>
              <a:t>fps</a:t>
            </a:r>
            <a:r>
              <a:rPr lang="ko-KR" altLang="en-US" dirty="0"/>
              <a:t>와 실시간으로 변화하는 요소들</a:t>
            </a:r>
            <a:r>
              <a:rPr lang="en-US" altLang="ko-KR" dirty="0"/>
              <a:t>, </a:t>
            </a:r>
            <a:r>
              <a:rPr lang="ko-KR" altLang="en-US" dirty="0"/>
              <a:t>예측 시간을 알려주는 시스템을 보고 직접 행동을 할 수 있도록 긴장감과 자율성을 부여해줌</a:t>
            </a:r>
            <a:endParaRPr lang="en-US" altLang="ko-KR" dirty="0"/>
          </a:p>
          <a:p>
            <a:endParaRPr lang="en-US" altLang="ko-KR" dirty="0"/>
          </a:p>
          <a:p>
            <a:pPr lvl="0">
              <a:defRPr/>
            </a:pPr>
            <a:r>
              <a:rPr lang="en-US" altLang="ko-KR" dirty="0">
                <a:solidFill>
                  <a:schemeClr val="accent3"/>
                </a:solidFill>
              </a:rPr>
              <a:t>**</a:t>
            </a:r>
            <a:r>
              <a:rPr lang="ko-KR" altLang="en-US" dirty="0">
                <a:solidFill>
                  <a:schemeClr val="accent3"/>
                </a:solidFill>
              </a:rPr>
              <a:t>귀여움과 예측불가 전개</a:t>
            </a:r>
          </a:p>
          <a:p>
            <a:pPr lvl="0">
              <a:defRPr/>
            </a:pPr>
            <a:r>
              <a:rPr lang="en-US" altLang="ko-KR" dirty="0">
                <a:solidFill>
                  <a:schemeClr val="accent3"/>
                </a:solidFill>
              </a:rPr>
              <a:t>**</a:t>
            </a:r>
            <a:r>
              <a:rPr lang="ko-KR" altLang="en-US" dirty="0">
                <a:solidFill>
                  <a:schemeClr val="accent3"/>
                </a:solidFill>
              </a:rPr>
              <a:t>배달과 </a:t>
            </a:r>
            <a:r>
              <a:rPr lang="en-US" altLang="ko-KR" dirty="0">
                <a:solidFill>
                  <a:schemeClr val="accent3"/>
                </a:solidFill>
              </a:rPr>
              <a:t>fps</a:t>
            </a:r>
            <a:r>
              <a:rPr lang="ko-KR" altLang="en-US" dirty="0">
                <a:solidFill>
                  <a:schemeClr val="accent3"/>
                </a:solidFill>
              </a:rPr>
              <a:t>의 조합</a:t>
            </a:r>
          </a:p>
          <a:p>
            <a:endParaRPr lang="ko-KR" altLang="en-US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8C2045-45F9-E24E-D52C-0E759A40405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</p:spTree>
    <p:extLst>
      <p:ext uri="{BB962C8B-B14F-4D97-AF65-F5344CB8AC3E}">
        <p14:creationId xmlns:p14="http://schemas.microsoft.com/office/powerpoint/2010/main" val="1308917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150976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 결정됨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495527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778359" y="1520070"/>
            <a:ext cx="653426" cy="676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263560" y="1526836"/>
            <a:ext cx="809864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 flipV="1">
            <a:off x="1855419" y="1520070"/>
            <a:ext cx="518003" cy="720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플로우 진행 중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8F810B-8A0E-AB8E-012B-5A3B3929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스토리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B690A1-9B1E-DD04-5079-471A9A7E23F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컨셉 이미지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458BC6-D69C-A1A2-A6B1-13DF8BEF776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ko-KR" altLang="en-US" dirty="0"/>
              <a:t> 당신들은 자부심 넘치는 우주배달부입니다</a:t>
            </a:r>
            <a:r>
              <a:rPr lang="en-US" altLang="ko-KR" dirty="0"/>
              <a:t>!</a:t>
            </a:r>
            <a:r>
              <a:rPr lang="ko-KR" altLang="en-US" dirty="0"/>
              <a:t> 오늘은 이 행성에 배달을 왔군요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 </a:t>
            </a:r>
            <a:r>
              <a:rPr lang="ko-KR" altLang="en-US" dirty="0"/>
              <a:t>그런데 이런</a:t>
            </a:r>
            <a:r>
              <a:rPr lang="en-US" altLang="ko-KR" dirty="0"/>
              <a:t>!</a:t>
            </a:r>
            <a:r>
              <a:rPr lang="ko-KR" altLang="en-US" dirty="0"/>
              <a:t> 여러분의 배달 품목에는 조금 </a:t>
            </a:r>
            <a:r>
              <a:rPr lang="en-US" altLang="ko-KR" dirty="0"/>
              <a:t>“</a:t>
            </a:r>
            <a:r>
              <a:rPr lang="ko-KR" altLang="en-US" dirty="0"/>
              <a:t>위험한</a:t>
            </a:r>
            <a:r>
              <a:rPr lang="en-US" altLang="ko-KR" dirty="0"/>
              <a:t>”</a:t>
            </a:r>
            <a:r>
              <a:rPr lang="ko-KR" altLang="en-US" dirty="0"/>
              <a:t>것들이 있네요</a:t>
            </a:r>
            <a:r>
              <a:rPr lang="en-US" altLang="ko-KR" dirty="0"/>
              <a:t>…</a:t>
            </a:r>
            <a:r>
              <a:rPr lang="ko-KR" altLang="en-US" dirty="0"/>
              <a:t> 하지만 걱정할 것 없죠</a:t>
            </a:r>
            <a:r>
              <a:rPr lang="en-US" altLang="ko-KR" dirty="0"/>
              <a:t>!</a:t>
            </a:r>
            <a:r>
              <a:rPr lang="ko-KR" altLang="en-US" dirty="0"/>
              <a:t> 여러분은 전문적인 </a:t>
            </a:r>
            <a:r>
              <a:rPr lang="ko-KR" altLang="en-US" dirty="0" err="1"/>
              <a:t>배달부니까요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ko-KR" altLang="en-US" dirty="0"/>
              <a:t> 과연 오늘도 제한 시간 안에 모든 배달을 마치고 귀환할 수 있을까요</a:t>
            </a:r>
            <a:r>
              <a:rPr lang="en-US" altLang="ko-KR" dirty="0"/>
              <a:t>?</a:t>
            </a:r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348225F-E085-E798-1354-AE4ED8350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9/17/2026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C67C09-42E5-89D8-6707-AA2602E11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AEE668E-625C-3F6B-736B-BACF027D5AA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</p:spTree>
    <p:extLst>
      <p:ext uri="{BB962C8B-B14F-4D97-AF65-F5344CB8AC3E}">
        <p14:creationId xmlns:p14="http://schemas.microsoft.com/office/powerpoint/2010/main" val="9016438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디자인 컨셉 </a:t>
            </a:r>
            <a:r>
              <a:rPr lang="en-US" altLang="ko-KR" sz="2400" dirty="0"/>
              <a:t>: </a:t>
            </a:r>
            <a:r>
              <a:rPr lang="ko-KR" altLang="en-US" sz="2400" dirty="0"/>
              <a:t>자료 이미지처럼 </a:t>
            </a:r>
            <a:br>
              <a:rPr lang="en-US" altLang="ko-KR" sz="2400" dirty="0"/>
            </a:br>
            <a:r>
              <a:rPr lang="ko-KR" altLang="en-US" sz="2400" dirty="0"/>
              <a:t>동글동글한 이족보행 동물 캐릭터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 등 기본적인 동작들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자료</a:t>
            </a:r>
            <a:r>
              <a:rPr lang="en-US" altLang="ko-KR" sz="1200" dirty="0"/>
              <a:t>2[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  <a:r>
              <a:rPr lang="en-US" altLang="ko-KR" sz="1200" dirty="0"/>
              <a:t>]</a:t>
            </a:r>
            <a:endParaRPr lang="ko-KR" altLang="en-US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자료</a:t>
            </a:r>
            <a:r>
              <a:rPr lang="en-US" altLang="ko-KR" sz="1200" dirty="0"/>
              <a:t>1[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  <a:r>
              <a:rPr lang="en-US" altLang="ko-KR" sz="1200" dirty="0"/>
              <a:t>]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반응 생물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이미지 추가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설명 </a:t>
            </a:r>
            <a:r>
              <a:rPr lang="en-US" altLang="ko-KR" dirty="0"/>
              <a:t>: </a:t>
            </a:r>
            <a:r>
              <a:rPr lang="ko-KR" altLang="en-US" dirty="0"/>
              <a:t>배송품에 반응하거나</a:t>
            </a:r>
            <a:r>
              <a:rPr lang="en-US" altLang="ko-KR" dirty="0"/>
              <a:t>, </a:t>
            </a:r>
            <a:r>
              <a:rPr lang="ko-KR" altLang="en-US" dirty="0"/>
              <a:t>다른 생물에 반응하거나</a:t>
            </a:r>
            <a:r>
              <a:rPr lang="en-US" altLang="ko-KR" dirty="0"/>
              <a:t>, </a:t>
            </a:r>
            <a:br>
              <a:rPr lang="en-US" altLang="ko-KR" dirty="0"/>
            </a:br>
            <a:r>
              <a:rPr lang="ko-KR" altLang="en-US" dirty="0"/>
              <a:t>플레이어의 행동에 반응해 </a:t>
            </a:r>
            <a:br>
              <a:rPr lang="en-US" altLang="ko-KR" dirty="0"/>
            </a:br>
            <a:r>
              <a:rPr lang="ko-KR" altLang="en-US" dirty="0"/>
              <a:t>배송 시간에 영향을 주는 모든 생물들을 통틀어 부르는 말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특이사항 </a:t>
            </a:r>
            <a:r>
              <a:rPr lang="en-US" altLang="ko-KR" dirty="0"/>
              <a:t>: </a:t>
            </a:r>
            <a:r>
              <a:rPr lang="ko-KR" altLang="en-US" dirty="0"/>
              <a:t>상황에 따라 주 서식지에서 크게 벗어날 수 있음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9/17/2026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이미지 추가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설명 </a:t>
            </a:r>
            <a:r>
              <a:rPr lang="en-US" altLang="ko-KR" dirty="0"/>
              <a:t>: </a:t>
            </a:r>
            <a:r>
              <a:rPr lang="ko-KR" altLang="en-US" dirty="0"/>
              <a:t>배달품을 주문해 전달받는 행성 주민</a:t>
            </a:r>
            <a:br>
              <a:rPr lang="en-US" altLang="ko-KR" dirty="0"/>
            </a:br>
            <a:endParaRPr lang="en-US" altLang="ko-KR" dirty="0"/>
          </a:p>
          <a:p>
            <a:r>
              <a:rPr lang="ko-KR" altLang="en-US" dirty="0"/>
              <a:t>특징 </a:t>
            </a:r>
            <a:r>
              <a:rPr lang="en-US" altLang="ko-KR" dirty="0"/>
              <a:t>: </a:t>
            </a:r>
            <a:r>
              <a:rPr lang="ko-KR" altLang="en-US" dirty="0"/>
              <a:t>반응 생물들과는 달리 직접 플레이어가 방문하지</a:t>
            </a:r>
            <a:r>
              <a:rPr lang="en-US" altLang="ko-KR" dirty="0"/>
              <a:t> </a:t>
            </a:r>
            <a:br>
              <a:rPr lang="en-US" altLang="ko-KR" dirty="0"/>
            </a:br>
            <a:r>
              <a:rPr lang="ko-KR" altLang="en-US" dirty="0"/>
              <a:t>않는 이상 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9/17/2026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08174C-9B5D-792B-E720-012AFFC733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 err="1"/>
              <a:t>임시맵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9/17/2026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38F8F5-9C4C-79DD-7420-0D1733DB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지형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888EA2-7512-05DB-7F46-4C0E22175F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모래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1/3 </a:t>
            </a:r>
            <a:r>
              <a:rPr lang="ko-KR" altLang="en-US" dirty="0"/>
              <a:t>감소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늪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1/2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방향전환율 </a:t>
            </a:r>
            <a:r>
              <a:rPr lang="en-US" altLang="ko-KR" dirty="0"/>
              <a:t>1/4 </a:t>
            </a:r>
            <a:r>
              <a:rPr lang="ko-KR" altLang="en-US" dirty="0"/>
              <a:t>감소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수중 지형 </a:t>
            </a:r>
            <a:r>
              <a:rPr lang="en-US" altLang="ko-KR" dirty="0"/>
              <a:t>: </a:t>
            </a:r>
            <a:r>
              <a:rPr lang="ko-KR" altLang="en-US" dirty="0"/>
              <a:t>플레이어에게 묻은 냄새 제거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2955F8-9FAA-C941-AFEE-CCD6E5FB5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9/17/2026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F7C073-3C7C-4ABC-39B1-77D967780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041A52-4D25-29A6-20D2-B902585E720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7CC0537B-2D9C-E857-41CC-0A210225D3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64191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예시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965E803D-03E1-AABC-C5D7-6F77D3F2729E}"/>
              </a:ext>
            </a:extLst>
          </p:cNvPr>
          <p:cNvSpPr/>
          <p:nvPr/>
        </p:nvSpPr>
        <p:spPr>
          <a:xfrm>
            <a:off x="4624535" y="2343962"/>
            <a:ext cx="2190204" cy="130070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강탈 시도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[20T]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754326"/>
            <a:chOff x="9079016" y="0"/>
            <a:chExt cx="4046434" cy="1754326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75432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</a:t>
              </a:r>
              <a:r>
                <a:rPr lang="en-US" altLang="ko-KR" dirty="0">
                  <a:solidFill>
                    <a:schemeClr val="accent3"/>
                  </a:solidFill>
                </a:rPr>
                <a:t>4</a:t>
              </a:r>
              <a:r>
                <a:rPr lang="ko-KR" altLang="en-US" dirty="0">
                  <a:solidFill>
                    <a:schemeClr val="accent3"/>
                  </a:solidFill>
                </a:rPr>
                <a:t>차 요소</a:t>
              </a:r>
              <a:r>
                <a:rPr lang="en-US" altLang="ko-KR" dirty="0">
                  <a:solidFill>
                    <a:schemeClr val="accent3"/>
                  </a:solidFill>
                </a:rPr>
                <a:t>(</a:t>
              </a:r>
              <a:r>
                <a:rPr lang="ko-KR" altLang="en-US" dirty="0">
                  <a:solidFill>
                    <a:schemeClr val="accent3"/>
                  </a:solidFill>
                </a:rPr>
                <a:t>이전 </a:t>
              </a:r>
              <a:r>
                <a:rPr lang="ko-KR" altLang="en-US" dirty="0" err="1">
                  <a:solidFill>
                    <a:schemeClr val="accent3"/>
                  </a:solidFill>
                </a:rPr>
                <a:t>배달품</a:t>
              </a:r>
              <a:r>
                <a:rPr lang="ko-KR" altLang="en-US" dirty="0">
                  <a:solidFill>
                    <a:schemeClr val="accent3"/>
                  </a:solidFill>
                </a:rPr>
                <a:t> 결과 기반</a:t>
              </a:r>
              <a:r>
                <a:rPr lang="en-US" altLang="ko-KR" dirty="0">
                  <a:solidFill>
                    <a:schemeClr val="accent3"/>
                  </a:solidFill>
                </a:rPr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7" name="화살표: 오각형 106">
              <a:extLst>
                <a:ext uri="{FF2B5EF4-FFF2-40B4-BE49-F238E27FC236}">
                  <a16:creationId xmlns:a16="http://schemas.microsoft.com/office/drawing/2014/main" id="{7B7CE380-9A89-F522-64BF-395A3A4E5C83}"/>
                </a:ext>
              </a:extLst>
            </p:cNvPr>
            <p:cNvSpPr/>
            <p:nvPr/>
          </p:nvSpPr>
          <p:spPr>
            <a:xfrm>
              <a:off x="9158812" y="1501064"/>
              <a:ext cx="360815" cy="178894"/>
            </a:xfrm>
            <a:prstGeom prst="homePlat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9/17/2026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7058821" y="2029088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36438FF-507B-870C-936B-BE08A6DB07CD}"/>
              </a:ext>
            </a:extLst>
          </p:cNvPr>
          <p:cNvSpPr/>
          <p:nvPr/>
        </p:nvSpPr>
        <p:spPr>
          <a:xfrm>
            <a:off x="6815969" y="2999054"/>
            <a:ext cx="213825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36" name="꺾인 양쪽 화살표 연결선 18">
            <a:extLst>
              <a:ext uri="{FF2B5EF4-FFF2-40B4-BE49-F238E27FC236}">
                <a16:creationId xmlns:a16="http://schemas.microsoft.com/office/drawing/2014/main" id="{EA5EE0CD-6DE1-F1E1-9FA4-953AA954B678}"/>
              </a:ext>
            </a:extLst>
          </p:cNvPr>
          <p:cNvCxnSpPr>
            <a:cxnSpLocks/>
            <a:stCxn id="53" idx="0"/>
            <a:endCxn id="32" idx="1"/>
          </p:cNvCxnSpPr>
          <p:nvPr/>
        </p:nvCxnSpPr>
        <p:spPr>
          <a:xfrm>
            <a:off x="5952226" y="3097413"/>
            <a:ext cx="863743" cy="2273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606871" cy="3450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r>
              <a:rPr lang="en-US" altLang="ko-KR" dirty="0">
                <a:solidFill>
                  <a:schemeClr val="accent3"/>
                </a:solidFill>
              </a:rPr>
              <a:t>***</a:t>
            </a:r>
            <a:r>
              <a:rPr lang="ko-KR" altLang="en-US" dirty="0">
                <a:solidFill>
                  <a:schemeClr val="accent3"/>
                </a:solidFill>
              </a:rPr>
              <a:t>방해를 진행할지 방해보다 조금 더 </a:t>
            </a:r>
            <a:r>
              <a:rPr lang="ko-KR" altLang="en-US" dirty="0" err="1">
                <a:solidFill>
                  <a:schemeClr val="accent3"/>
                </a:solidFill>
              </a:rPr>
              <a:t>역동적인걸</a:t>
            </a:r>
            <a:r>
              <a:rPr lang="ko-KR" altLang="en-US" dirty="0">
                <a:solidFill>
                  <a:schemeClr val="accent3"/>
                </a:solidFill>
              </a:rPr>
              <a:t> 진행할지 고민</a:t>
            </a:r>
            <a:endParaRPr lang="en-US" altLang="ko-KR" dirty="0">
              <a:solidFill>
                <a:schemeClr val="accent3"/>
              </a:solidFill>
            </a:endParaRPr>
          </a:p>
          <a:p>
            <a:endParaRPr lang="en-US" altLang="ko-KR" dirty="0">
              <a:solidFill>
                <a:schemeClr val="accent3"/>
              </a:solidFill>
            </a:endParaRPr>
          </a:p>
          <a:p>
            <a:r>
              <a:rPr lang="en-US" altLang="ko-KR" dirty="0">
                <a:solidFill>
                  <a:schemeClr val="accent3"/>
                </a:solidFill>
              </a:rPr>
              <a:t>**</a:t>
            </a:r>
            <a:r>
              <a:rPr lang="ko-KR" altLang="en-US" dirty="0">
                <a:solidFill>
                  <a:schemeClr val="accent3"/>
                </a:solidFill>
              </a:rPr>
              <a:t>인식범위</a:t>
            </a:r>
            <a:r>
              <a:rPr lang="en-US" altLang="ko-KR" dirty="0">
                <a:solidFill>
                  <a:schemeClr val="accent3"/>
                </a:solidFill>
              </a:rPr>
              <a:t> </a:t>
            </a:r>
            <a:r>
              <a:rPr lang="ko-KR" altLang="en-US" dirty="0">
                <a:solidFill>
                  <a:schemeClr val="accent3"/>
                </a:solidFill>
              </a:rPr>
              <a:t>지정</a:t>
            </a: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389864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32" idx="3"/>
            <a:endCxn id="125" idx="1"/>
          </p:cNvCxnSpPr>
          <p:nvPr/>
        </p:nvCxnSpPr>
        <p:spPr>
          <a:xfrm>
            <a:off x="8954219" y="3324739"/>
            <a:ext cx="435645" cy="11777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7058821" y="2256211"/>
            <a:ext cx="3425149" cy="1186301"/>
          </a:xfrm>
          <a:prstGeom prst="bentConnector5">
            <a:avLst>
              <a:gd name="adj1" fmla="val -6674"/>
              <a:gd name="adj2" fmla="val 54395"/>
              <a:gd name="adj3" fmla="val 10667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39516" y="4936242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15144" y="4936242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 시간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예측 분석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시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C8F59C-44FB-521C-E1F3-6DA8A98B20F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**</a:t>
            </a:r>
            <a:r>
              <a:rPr lang="ko-KR" altLang="en-US" dirty="0" err="1"/>
              <a:t>파티애니멀즈</a:t>
            </a:r>
            <a:r>
              <a:rPr lang="en-US" altLang="ko-KR" dirty="0"/>
              <a:t>, </a:t>
            </a:r>
            <a:r>
              <a:rPr lang="ko-KR" altLang="en-US" dirty="0" err="1"/>
              <a:t>젤다</a:t>
            </a:r>
            <a:r>
              <a:rPr lang="ko-KR" altLang="en-US" dirty="0"/>
              <a:t> 참고</a:t>
            </a:r>
            <a:r>
              <a:rPr lang="en-US" altLang="ko-KR" dirty="0"/>
              <a:t>, </a:t>
            </a:r>
            <a:r>
              <a:rPr lang="ko-KR" altLang="en-US" dirty="0"/>
              <a:t>크기</a:t>
            </a:r>
            <a:r>
              <a:rPr lang="en-US" altLang="ko-KR" dirty="0"/>
              <a:t>, UX, </a:t>
            </a:r>
            <a:r>
              <a:rPr lang="ko-KR" altLang="en-US" dirty="0"/>
              <a:t>비율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**</a:t>
            </a:r>
            <a:r>
              <a:rPr lang="ko-KR" altLang="en-US" b="1" dirty="0"/>
              <a:t>화면에 필요한 것</a:t>
            </a:r>
            <a:br>
              <a:rPr lang="en-US" altLang="ko-KR" b="1" dirty="0"/>
            </a:br>
            <a:r>
              <a:rPr lang="ko-KR" altLang="en-US" b="1" dirty="0"/>
              <a:t>어디 경로 선택지 표시</a:t>
            </a:r>
            <a:r>
              <a:rPr lang="en-US" altLang="ko-KR" b="1" dirty="0"/>
              <a:t>, </a:t>
            </a:r>
            <a:r>
              <a:rPr lang="ko-KR" altLang="en-US" b="1" dirty="0"/>
              <a:t>경로 선택 후 경로를 안내하는 화살표</a:t>
            </a:r>
            <a:endParaRPr lang="en-US" altLang="ko-KR" b="1" dirty="0"/>
          </a:p>
          <a:p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9/17/2026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DE68E-C719-1ACF-9826-B291D554D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ADE472-1214-16BA-71F1-766245EA7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/>
          </a:bodyPr>
          <a:lstStyle/>
          <a:p>
            <a:r>
              <a:rPr lang="en-US" altLang="ko-KR" dirty="0"/>
              <a:t>*********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09C683-C725-7210-ABF7-877B5B0FCC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4905555"/>
            <a:ext cx="5181600" cy="1271408"/>
          </a:xfrm>
        </p:spPr>
        <p:txBody>
          <a:bodyPr>
            <a:normAutofit/>
          </a:bodyPr>
          <a:lstStyle/>
          <a:p>
            <a:r>
              <a:rPr lang="en-US" altLang="ko-KR" dirty="0"/>
              <a:t>? </a:t>
            </a:r>
            <a:r>
              <a:rPr lang="ko-KR" altLang="en-US" dirty="0"/>
              <a:t>어떤 느낌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584383-40AF-56A3-6982-0581FD8FAE2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8CC5F9-B0BB-DA99-2ECA-D46F7BC55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9/17/2026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92BDE3-9CB6-BFB2-575E-45C33E9A7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250EA01-64C0-D50C-89E7-38DCDF819C9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2942213C-15BB-62F5-8747-F9E8817F08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7950" y="3276398"/>
            <a:ext cx="4908250" cy="2758985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B13DB8EA-95D8-90E1-DF6A-B9B0FA23E1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896" y="1020800"/>
            <a:ext cx="4904862" cy="2758985"/>
          </a:xfrm>
          <a:prstGeom prst="rect">
            <a:avLst/>
          </a:prstGeom>
        </p:spPr>
      </p:pic>
      <p:pic>
        <p:nvPicPr>
          <p:cNvPr id="22" name="그림 21" descr="4">
            <a:extLst>
              <a:ext uri="{FF2B5EF4-FFF2-40B4-BE49-F238E27FC236}">
                <a16:creationId xmlns:a16="http://schemas.microsoft.com/office/drawing/2014/main" id="{904EB6A6-D9F2-1BFC-4313-8113377B95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7950" y="729216"/>
            <a:ext cx="4654911" cy="2618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3141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4D51-F217-67D8-15C1-2C6574975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UI_</a:t>
            </a:r>
            <a:r>
              <a:rPr lang="ko-KR" altLang="en-US"/>
              <a:t>세부</a:t>
            </a:r>
            <a:r>
              <a:rPr lang="en-US" altLang="ko-KR"/>
              <a:t>_</a:t>
            </a:r>
            <a:r>
              <a:rPr lang="ko-KR" altLang="en-US"/>
              <a:t>시간예측분석</a:t>
            </a:r>
            <a:r>
              <a:rPr lang="en-US" altLang="ko-KR"/>
              <a:t>UI</a:t>
            </a:r>
            <a:r>
              <a:rPr lang="en-US" altLang="ko-KR">
                <a:solidFill>
                  <a:schemeClr val="accent3"/>
                </a:solidFill>
              </a:rPr>
              <a:t>_</a:t>
            </a:r>
            <a:r>
              <a:rPr lang="ko-KR" altLang="en-US">
                <a:solidFill>
                  <a:schemeClr val="accent3"/>
                </a:solidFill>
              </a:rPr>
              <a:t>후보</a:t>
            </a:r>
            <a:r>
              <a:rPr lang="en-US" altLang="ko-KR">
                <a:solidFill>
                  <a:schemeClr val="accent3"/>
                </a:solidFill>
              </a:rPr>
              <a:t>1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7975F-8ACE-F4FA-8AB0-07475DFB4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55F8528-CD96-16F4-2F05-6811FC9837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8EFC82-39C1-37D5-A2C1-BD7109103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9/17/2026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AC843-7DC9-A361-45FE-6B5FA433B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7C3D725-686D-219D-E3F9-FCDBA59832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C82763-7EB2-6DBD-BD2A-89C2169C82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92060"/>
            <a:ext cx="5266640" cy="2962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64055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ED21-0446-B325-480B-8AEDED03E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B022-CC93-5BD3-2FB3-7C520F271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2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20B2E1-7D68-E4DC-0EA7-BE29AF19FB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1FF18E-C4C2-7C23-480E-50C00075266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AEB7CD-9D5E-B089-9D35-D9AF354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9/17/2026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5F2533-7743-0CAA-E193-5A96F503B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20614F1-FB8C-4B4B-8C14-E7CF485B3A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4E6418C-1FA6-12EF-E3A5-687928F69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064" y="1119112"/>
            <a:ext cx="5197870" cy="29238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6E254F-D347-9C8F-D15D-BFD13989A0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019" y="4065917"/>
            <a:ext cx="5003961" cy="2111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1052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5E5E-B71B-3E00-C88E-EB1061C3E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DB0DB-4DCE-11D7-B365-3F83F6782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3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283826-6FD3-BF10-B452-319AE5A86E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CC3A1F-E50B-52CB-1E8A-D38165C4736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C9BB43-0277-F6FA-BBC7-4CA345E2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9/17/2026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96AA24-EF56-CAB7-B5BB-9D1F17030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68ECF64-4803-31DC-51AA-50E8624A34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AD80CA8-A303-4ECC-BDB8-24B3AFB89C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954152"/>
            <a:ext cx="5181600" cy="293228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66009D-C93F-161B-09F5-E69904A8F0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181916"/>
            <a:ext cx="5181600" cy="2963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2714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2333BD40-EB3C-F125-C0D7-3AAE9CB00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9/17/2026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F7D3B37-9922-FA4D-C1D6-952C9C98416A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E8921969-C1B1-A917-3B99-E3440B3EC178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B37AB85A-A0C8-478E-EC10-D48FDA6884AA}"/>
              </a:ext>
            </a:extLst>
          </p:cNvPr>
          <p:cNvSpPr/>
          <p:nvPr/>
        </p:nvSpPr>
        <p:spPr>
          <a:xfrm>
            <a:off x="2731697" y="2395538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01BF91F3-EA1B-0448-3869-385EB7C2C5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206594" y="3893389"/>
            <a:ext cx="1390510" cy="2237206"/>
          </a:xfrm>
          <a:prstGeom prst="rect">
            <a:avLst/>
          </a:prstGeom>
        </p:spPr>
      </p:pic>
      <p:sp>
        <p:nvSpPr>
          <p:cNvPr id="37" name="화살표: 원형 36">
            <a:extLst>
              <a:ext uri="{FF2B5EF4-FFF2-40B4-BE49-F238E27FC236}">
                <a16:creationId xmlns:a16="http://schemas.microsoft.com/office/drawing/2014/main" id="{7D3EFD1A-46A5-80C5-0981-E03920FB202C}"/>
              </a:ext>
            </a:extLst>
          </p:cNvPr>
          <p:cNvSpPr/>
          <p:nvPr/>
        </p:nvSpPr>
        <p:spPr>
          <a:xfrm>
            <a:off x="8014729" y="3151130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9" name="화살표: 원형 38">
            <a:extLst>
              <a:ext uri="{FF2B5EF4-FFF2-40B4-BE49-F238E27FC236}">
                <a16:creationId xmlns:a16="http://schemas.microsoft.com/office/drawing/2014/main" id="{24CD729B-A746-3626-939D-76DBCB9606BC}"/>
              </a:ext>
            </a:extLst>
          </p:cNvPr>
          <p:cNvSpPr/>
          <p:nvPr/>
        </p:nvSpPr>
        <p:spPr>
          <a:xfrm flipH="1">
            <a:off x="8014729" y="3151130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E61092D-CA78-4AD5-ADDD-2FC61FB7D9A6}"/>
              </a:ext>
            </a:extLst>
          </p:cNvPr>
          <p:cNvSpPr/>
          <p:nvPr/>
        </p:nvSpPr>
        <p:spPr>
          <a:xfrm>
            <a:off x="8248650" y="3957638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47" name="내용 개체 틀 46">
            <a:extLst>
              <a:ext uri="{FF2B5EF4-FFF2-40B4-BE49-F238E27FC236}">
                <a16:creationId xmlns:a16="http://schemas.microsoft.com/office/drawing/2014/main" id="{61E8C7A1-E3C6-696C-EA1C-AC3FC83E9A7E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465430189"/>
              </p:ext>
            </p:extLst>
          </p:nvPr>
        </p:nvGraphicFramePr>
        <p:xfrm>
          <a:off x="999461" y="4359709"/>
          <a:ext cx="4235101" cy="20431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652">
                  <a:extLst>
                    <a:ext uri="{9D8B030D-6E8A-4147-A177-3AD203B41FA5}">
                      <a16:colId xmlns:a16="http://schemas.microsoft.com/office/drawing/2014/main" val="1309999356"/>
                    </a:ext>
                  </a:extLst>
                </a:gridCol>
                <a:gridCol w="2506449">
                  <a:extLst>
                    <a:ext uri="{9D8B030D-6E8A-4147-A177-3AD203B41FA5}">
                      <a16:colId xmlns:a16="http://schemas.microsoft.com/office/drawing/2014/main" val="4288692516"/>
                    </a:ext>
                  </a:extLst>
                </a:gridCol>
              </a:tblGrid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7644082"/>
                  </a:ext>
                </a:extLst>
              </a:tr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9168936"/>
                  </a:ext>
                </a:extLst>
              </a:tr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  <a:r>
                        <a:rPr lang="en-US" altLang="ko-KR" sz="1600" dirty="0"/>
                        <a:t>/</a:t>
                      </a:r>
                      <a:r>
                        <a:rPr lang="ko-KR" altLang="en-US" sz="1600" dirty="0"/>
                        <a:t>들기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7925836"/>
                  </a:ext>
                </a:extLst>
              </a:tr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 움직임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5204424"/>
                  </a:ext>
                </a:extLst>
              </a:tr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</a:t>
                      </a: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5978254"/>
                  </a:ext>
                </a:extLst>
              </a:tr>
              <a:tr h="3667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accent3"/>
                          </a:solidFill>
                        </a:rPr>
                        <a:t>**</a:t>
                      </a:r>
                      <a:r>
                        <a:rPr lang="ko-KR" altLang="en-US" sz="1600" dirty="0">
                          <a:solidFill>
                            <a:schemeClr val="accent3"/>
                          </a:solidFill>
                        </a:rPr>
                        <a:t>총 조준</a:t>
                      </a:r>
                      <a:r>
                        <a:rPr lang="en-US" altLang="ko-KR" sz="1600" dirty="0">
                          <a:solidFill>
                            <a:schemeClr val="accent3"/>
                          </a:solidFill>
                        </a:rPr>
                        <a:t>??</a:t>
                      </a:r>
                      <a:endParaRPr lang="ko-KR" altLang="en-US" sz="1600" dirty="0">
                        <a:solidFill>
                          <a:schemeClr val="accent3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0389162"/>
                  </a:ext>
                </a:extLst>
              </a:tr>
            </a:tbl>
          </a:graphicData>
        </a:graphic>
      </p:graphicFrame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466DFFCD-665A-9180-2324-D7660BE4778B}"/>
              </a:ext>
            </a:extLst>
          </p:cNvPr>
          <p:cNvSpPr/>
          <p:nvPr/>
        </p:nvSpPr>
        <p:spPr>
          <a:xfrm>
            <a:off x="8768426" y="4177627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8F28EA2-B6EC-2C56-5371-0EECDFFF0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33751F5-E589-0C0E-0160-489D30238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/>
              <a:t>배달게임</a:t>
            </a:r>
          </a:p>
          <a:p>
            <a:pPr lvl="0">
              <a:defRPr/>
            </a:pPr>
            <a:r>
              <a:rPr lang="en-US" altLang="ko-KR" dirty="0"/>
              <a:t>fps</a:t>
            </a:r>
          </a:p>
          <a:p>
            <a:pPr lvl="0">
              <a:defRPr/>
            </a:pPr>
            <a:r>
              <a:rPr lang="ko-KR" altLang="en-US" dirty="0" err="1"/>
              <a:t>동물의숲</a:t>
            </a:r>
            <a:endParaRPr lang="ko-KR" altLang="en-US" dirty="0"/>
          </a:p>
          <a:p>
            <a:pPr lvl="0">
              <a:defRPr/>
            </a:pPr>
            <a:r>
              <a:rPr lang="ko-KR" altLang="en-US" dirty="0"/>
              <a:t>도우미</a:t>
            </a:r>
            <a:r>
              <a:rPr lang="en-US" altLang="ko-KR" dirty="0"/>
              <a:t>ai</a:t>
            </a:r>
          </a:p>
          <a:p>
            <a:endParaRPr lang="ko-KR" altLang="en-US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DDC6CE-B9CF-01BE-5E7A-7BA7BCA714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9089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 fontScale="85000" lnSpcReduction="10000"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 </a:t>
            </a:r>
            <a:r>
              <a:rPr lang="en-US" altLang="ko-KR" sz="1600" dirty="0"/>
              <a:t>2</a:t>
            </a:r>
            <a:r>
              <a:rPr lang="ko-KR" altLang="en-US" sz="1600" dirty="0"/>
              <a:t>개</a:t>
            </a:r>
            <a:r>
              <a:rPr lang="en-US" altLang="ko-KR" sz="1600" dirty="0"/>
              <a:t>,</a:t>
            </a:r>
            <a:r>
              <a:rPr lang="ko-KR" altLang="en-US" sz="1600" dirty="0" err="1"/>
              <a:t>이프선셋</a:t>
            </a:r>
            <a:r>
              <a:rPr lang="en-US" altLang="ko-KR" sz="1600" dirty="0"/>
              <a:t>,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en-US" altLang="ko-KR" sz="1600" dirty="0">
                <a:hlinkClick r:id="rId5"/>
              </a:rPr>
              <a:t>https://velog.io/@dev_sensational/Unity-3%EC%9D%B8%EC%B9%AD-Back-view-%EC%8A%88%ED%8C%85%EA%B2%8C%EC%9E%84TPS-%ED%94%84%EB%A1%9C%EC%A0%9D%ED%8A%B8-%EC%8B%9C%EC%9E%91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 err="1"/>
              <a:t>핍보이</a:t>
            </a:r>
            <a:r>
              <a:rPr lang="ko-KR" altLang="en-US" sz="1600" dirty="0"/>
              <a:t> </a:t>
            </a:r>
            <a:r>
              <a:rPr lang="en-US" altLang="ko-KR" sz="1600" dirty="0"/>
              <a:t>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6"/>
              </a:rPr>
              <a:t>https://arca.live/b/fallout76/19323367</a:t>
            </a:r>
            <a:endParaRPr lang="en-US" altLang="ko-KR" sz="1600" dirty="0"/>
          </a:p>
          <a:p>
            <a:r>
              <a:rPr lang="ko-KR" altLang="en-US" sz="1600" dirty="0" err="1"/>
              <a:t>서브노티카</a:t>
            </a:r>
            <a:r>
              <a:rPr lang="en-US" altLang="ko-KR" sz="1600" dirty="0"/>
              <a:t> 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7"/>
              </a:rPr>
              <a:t>https://gameuidatabase.com/index.php?&amp;scrn=71&amp;set=1&amp;plat=1&amp;tag=131&amp;series=106&amp;sort=2&amp;r=4</a:t>
            </a:r>
            <a:endParaRPr lang="en-US" altLang="ko-KR" sz="1600" dirty="0"/>
          </a:p>
          <a:p>
            <a:r>
              <a:rPr lang="ko-KR" altLang="en-US" sz="1600" dirty="0" err="1"/>
              <a:t>그린헬</a:t>
            </a:r>
            <a:r>
              <a:rPr lang="ko-KR" altLang="en-US" sz="1600" dirty="0"/>
              <a:t> 손목시계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8"/>
              </a:rPr>
              <a:t>https://constante.tistory.com/entry/%EA%B7%B8%EB%A6%B0-%ED%97%ACGreen-Hell-%EC%B4%88%EB%B3%B4%EA%B0%80%EC%9D%B4%EB%93%9C-%ED%8A%9C%ED%86%A0%EB%A6%AC%EC%96%BC-%ED%95%B4%EC%95%BC-%ED%95%98%EB%8A%94-%EC%9D%B4%EC%9C%A0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9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10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9/17/2026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629</TotalTime>
  <Words>1331</Words>
  <Application>Microsoft Office PowerPoint</Application>
  <PresentationFormat>와이드스크린</PresentationFormat>
  <Paragraphs>202</Paragraphs>
  <Slides>27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27</vt:i4>
      </vt:variant>
    </vt:vector>
  </HeadingPairs>
  <TitlesOfParts>
    <vt:vector size="31" baseType="lpstr">
      <vt:lpstr>맑은 고딕</vt:lpstr>
      <vt:lpstr>Arial</vt:lpstr>
      <vt:lpstr>기본_수정</vt:lpstr>
      <vt:lpstr>디자인 사용자 지정</vt:lpstr>
      <vt:lpstr>배트와 달트 기획서</vt:lpstr>
      <vt:lpstr>용어 정리</vt:lpstr>
      <vt:lpstr>목차</vt:lpstr>
      <vt:lpstr>게임 소개</vt:lpstr>
      <vt:lpstr>게임 정보</vt:lpstr>
      <vt:lpstr>기획 목표</vt:lpstr>
      <vt:lpstr>게임 플로우</vt:lpstr>
      <vt:lpstr>컨텐츠</vt:lpstr>
      <vt:lpstr>스토리</vt:lpstr>
      <vt:lpstr>플레이어블 캐릭터</vt:lpstr>
      <vt:lpstr>NPC_반응 생물</vt:lpstr>
      <vt:lpstr>NPC_주민</vt:lpstr>
      <vt:lpstr>맵</vt:lpstr>
      <vt:lpstr>상호작용_지형</vt:lpstr>
      <vt:lpstr>상호작용_배달품_예시</vt:lpstr>
      <vt:lpstr>상호작용_생물</vt:lpstr>
      <vt:lpstr>시스템</vt:lpstr>
      <vt:lpstr>UI_플로우</vt:lpstr>
      <vt:lpstr>UI_세부_플레이화면</vt:lpstr>
      <vt:lpstr>*********</vt:lpstr>
      <vt:lpstr>UI_세부_시간예측분석UI_후보1</vt:lpstr>
      <vt:lpstr>UI_세부_시간예측분석UI_후보2</vt:lpstr>
      <vt:lpstr>UI_세부_시간예측분석UI_후보3</vt:lpstr>
      <vt:lpstr>컨트롤</vt:lpstr>
      <vt:lpstr>참고문헌 및 출처</vt:lpstr>
      <vt:lpstr>PowerPoint 프레젠테이션</vt:lpstr>
      <vt:lpstr>이미지 자료 출처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70</cp:revision>
  <dcterms:created xsi:type="dcterms:W3CDTF">2026-09-16T19:24:55Z</dcterms:created>
  <dcterms:modified xsi:type="dcterms:W3CDTF">2026-09-17T05:54:38Z</dcterms:modified>
</cp:coreProperties>
</file>