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66" r:id="rId2"/>
  </p:sldMasterIdLst>
  <p:notesMasterIdLst>
    <p:notesMasterId r:id="rId24"/>
  </p:notesMasterIdLst>
  <p:sldIdLst>
    <p:sldId id="256" r:id="rId3"/>
    <p:sldId id="257" r:id="rId4"/>
    <p:sldId id="258" r:id="rId5"/>
    <p:sldId id="259" r:id="rId6"/>
    <p:sldId id="261" r:id="rId7"/>
    <p:sldId id="265" r:id="rId8"/>
    <p:sldId id="297" r:id="rId9"/>
    <p:sldId id="260" r:id="rId10"/>
    <p:sldId id="278" r:id="rId11"/>
    <p:sldId id="279" r:id="rId12"/>
    <p:sldId id="298" r:id="rId13"/>
    <p:sldId id="277" r:id="rId14"/>
    <p:sldId id="303" r:id="rId15"/>
    <p:sldId id="262" r:id="rId16"/>
    <p:sldId id="269" r:id="rId17"/>
    <p:sldId id="289" r:id="rId18"/>
    <p:sldId id="301" r:id="rId19"/>
    <p:sldId id="290" r:id="rId20"/>
    <p:sldId id="302" r:id="rId21"/>
    <p:sldId id="304" r:id="rId22"/>
    <p:sldId id="270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9FF73D-6F29-4AE3-91AA-92916D4CDA50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52CA9A-BF5F-43D5-A722-B8AEA70DD6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613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7A7EA-A08D-470B-B559-5CA3F8390285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2BABD-D50F-477D-84CB-5D40968424E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D668C-6E84-42F9-9906-46DC33168E7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1F742-AC6F-4B04-B096-246F25AAABD2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38453-487A-456C-8ABA-CA04D0FA2C77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8BFDD-022C-4656-AF62-A4DA3451037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A0848-C9C3-4A93-A53E-CF6B3EBD110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5F09D-BE0B-48A3-8BDC-AB8B03466D3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BB230-5E29-4037-8D23-54C6F2389DA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/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C8396-AA9F-46F9-B914-59E3D5D9787E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PartyAnimalsGame/comments/1b0dmqw/how_to_get_a_new_exclusive_tiagra_skin/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구현 계획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생물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구현 계획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구현 계획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0370F6A1-A860-D2F6-34CB-86EBC01D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104AA-B669-4CE8-A4C6-5B6FFB268D6D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AC6591-5905-40E2-E7A0-2D0FC75A3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614858-91DE-09C9-9F18-8B515C26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908AF-E20B-41D4-AB43-0322C79507AA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D4A871-D3AA-701F-B6BB-994FA7E6C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2545948"/>
              </p:ext>
            </p:extLst>
          </p:nvPr>
        </p:nvGraphicFramePr>
        <p:xfrm>
          <a:off x="1215605" y="1635844"/>
          <a:ext cx="9760789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11012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349777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2000" dirty="0">
                          <a:solidFill>
                            <a:srgbClr val="000000"/>
                          </a:solidFill>
                        </a:rPr>
                        <a:t>인칭 2인 멀티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strike="noStrike" dirty="0"/>
                        <a:t>도우미 </a:t>
                      </a:r>
                      <a:r>
                        <a:rPr lang="en-US" altLang="ko-KR" sz="2000" strike="noStrike" dirty="0"/>
                        <a:t>ai</a:t>
                      </a:r>
                      <a:r>
                        <a:rPr lang="ko-KR" altLang="en-US" sz="2000" strike="noStrike" dirty="0"/>
                        <a:t>의 안내를 능동적으로 판단하고 </a:t>
                      </a:r>
                      <a:br>
                        <a:rPr lang="en-US" altLang="ko-KR" sz="2000" strike="noStrike" dirty="0"/>
                      </a:br>
                      <a:r>
                        <a:rPr lang="ko-KR" altLang="en-US" sz="2000" strike="noStrike" dirty="0"/>
                        <a:t>주위의 적들과 변하는 생태계를 견제하며 </a:t>
                      </a:r>
                      <a:br>
                        <a:rPr lang="en-US" altLang="ko-KR" sz="2000" strike="noStrike" dirty="0"/>
                      </a:br>
                      <a:r>
                        <a:rPr lang="ko-KR" altLang="en-US" sz="2000" strike="noStrike" dirty="0"/>
                        <a:t>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solidFill>
                            <a:srgbClr val="000000"/>
                          </a:solidFill>
                        </a:rPr>
                        <a:t>시간 안에 배달을 성공적으로 완료하고</a:t>
                      </a:r>
                      <a:r>
                        <a:rPr lang="en-US" altLang="ko-KR" sz="2000" dirty="0">
                          <a:solidFill>
                            <a:srgbClr val="000000"/>
                          </a:solidFill>
                        </a:rPr>
                        <a:t>,</a:t>
                      </a:r>
                      <a:r>
                        <a:rPr lang="ko-KR" altLang="en-US" sz="2000" dirty="0">
                          <a:solidFill>
                            <a:srgbClr val="000000"/>
                          </a:solidFill>
                        </a:rPr>
                        <a:t> </a:t>
                      </a:r>
                      <a:br>
                        <a:rPr lang="en-US" altLang="ko-KR" sz="20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2000" dirty="0">
                          <a:solidFill>
                            <a:srgbClr val="000000"/>
                          </a:solidFill>
                        </a:rPr>
                        <a:t>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3" y="3761117"/>
            <a:ext cx="1857555" cy="1335655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3761116"/>
            <a:ext cx="1857555" cy="1335655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80" y="3761115"/>
            <a:ext cx="1857555" cy="1335655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5096770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5164665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5216899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178380-95A8-CFDE-C93C-831412739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r="9057"/>
          <a:stretch>
            <a:fillRect/>
          </a:stretch>
        </p:blipFill>
        <p:spPr>
          <a:xfrm>
            <a:off x="6237928" y="1081650"/>
            <a:ext cx="4324707" cy="244785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6A39B4B-6448-EAD4-2CD3-97AE2560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r="9057"/>
          <a:stretch>
            <a:fillRect/>
          </a:stretch>
        </p:blipFill>
        <p:spPr>
          <a:xfrm>
            <a:off x="1629365" y="1081650"/>
            <a:ext cx="4324707" cy="244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랜덤 결정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E88463-8CEF-881D-339F-BB0BACEE4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8E41-5846-43EB-8957-87949D77303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8E336-DBBC-EA3B-E1DA-622CB4446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F2C51-B8C4-72D8-74C2-35F7B3F25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멀티 구현 계획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BACA19B-454F-993F-17CE-C7FDEE4CB7F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CDCA1B-CE8B-BA08-85AC-522463C518A3}"/>
              </a:ext>
            </a:extLst>
          </p:cNvPr>
          <p:cNvSpPr/>
          <p:nvPr/>
        </p:nvSpPr>
        <p:spPr>
          <a:xfrm>
            <a:off x="3457322" y="1446836"/>
            <a:ext cx="7075714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엔진의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Listen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Server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를</a:t>
            </a:r>
            <a:r>
              <a:rPr lang="ko-KR" altLang="en-US" dirty="0">
                <a:solidFill>
                  <a:sysClr val="windowText" lastClr="000000"/>
                </a:solidFill>
              </a:rPr>
              <a:t> 통해 구현</a:t>
            </a: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BDC55493-A257-23BE-43B0-6D5F07E7B46D}"/>
              </a:ext>
            </a:extLst>
          </p:cNvPr>
          <p:cNvSpPr/>
          <p:nvPr/>
        </p:nvSpPr>
        <p:spPr>
          <a:xfrm>
            <a:off x="1998636" y="1446836"/>
            <a:ext cx="2004020" cy="914400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멀티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구현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94C5AD-4727-0AA1-6366-B57D518A507D}"/>
              </a:ext>
            </a:extLst>
          </p:cNvPr>
          <p:cNvSpPr/>
          <p:nvPr/>
        </p:nvSpPr>
        <p:spPr>
          <a:xfrm>
            <a:off x="3457322" y="2597027"/>
            <a:ext cx="7075714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명의 </a:t>
            </a:r>
            <a:r>
              <a:rPr lang="ko-KR" altLang="ko-KR" dirty="0">
                <a:solidFill>
                  <a:sysClr val="windowText" lastClr="000000"/>
                </a:solidFill>
              </a:rPr>
              <a:t>플레이어 간 게임 상태 및 행동 동기화</a:t>
            </a:r>
            <a:r>
              <a:rPr lang="en-US" altLang="ko-KR" dirty="0">
                <a:solidFill>
                  <a:sysClr val="windowText" lastClr="000000"/>
                </a:solidFill>
              </a:rPr>
              <a:t>.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화물 상태, 몬스터 생태계,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플레이어의 협동 행동 공유</a:t>
            </a:r>
            <a:r>
              <a:rPr lang="en-US" altLang="ko-KR" dirty="0">
                <a:solidFill>
                  <a:sysClr val="windowText" lastClr="000000"/>
                </a:solidFill>
              </a:rPr>
              <a:t>.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E4F4A63B-4E94-48BF-F2DE-690E8239F6B9}"/>
              </a:ext>
            </a:extLst>
          </p:cNvPr>
          <p:cNvSpPr/>
          <p:nvPr/>
        </p:nvSpPr>
        <p:spPr>
          <a:xfrm>
            <a:off x="2009511" y="2597027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02B678E-4DC1-500C-1F79-05AB8F295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873" y="3979654"/>
            <a:ext cx="6152178" cy="2166352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72893D-2116-4491-FA11-679B78D68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82838-522B-45DA-BE36-90DBE328A7ED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DD5DDA-28B9-1537-650A-140D917BE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437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3BEB54F8-DF88-2643-CF3F-A99251FAD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61BAB-6714-4163-82E8-A68EEA7006F7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D9E737-9EDB-9D61-5C5C-6C31517A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3B5D659-65D4-98E3-D1BE-9BA9A2B36CE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483" y="1293415"/>
            <a:ext cx="4731504" cy="4808786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일반적이니 방법으로는</a:t>
            </a:r>
            <a:br>
              <a:rPr lang="en-US" altLang="ko-KR" dirty="0"/>
            </a:br>
            <a:r>
              <a:rPr lang="ko-KR" altLang="en-US" dirty="0"/>
              <a:t>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</a:t>
            </a:r>
            <a:r>
              <a:rPr lang="en-US" altLang="ko-KR" dirty="0"/>
              <a:t>/</a:t>
            </a:r>
            <a:r>
              <a:rPr lang="ko-KR" altLang="en-US" dirty="0"/>
              <a:t>생물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날짜 개체 틀 9">
            <a:extLst>
              <a:ext uri="{FF2B5EF4-FFF2-40B4-BE49-F238E27FC236}">
                <a16:creationId xmlns:a16="http://schemas.microsoft.com/office/drawing/2014/main" id="{2CB1C407-071E-AD0F-1A5F-798D24A3A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215CB-5935-4F11-935C-9C0AD5619A1E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1A67D733-77DD-11CE-798C-29A11F036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315943" y="3874405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92471" y="3773903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A8A1733-F3B2-652E-4495-A5081C3D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37D24-2CAA-4876-B233-E2CBDD55D5A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9511E1-E2B2-9621-D7E1-11713604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D21BC-AFB8-A644-933F-ECD8BA697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3B6F69-8401-C006-DD71-CD1903448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구현 계획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5C7CEF2-FFAC-E2FE-2F4F-BE2240B1357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0FC506-7471-8680-9A9F-DCB7230DC01F}"/>
              </a:ext>
            </a:extLst>
          </p:cNvPr>
          <p:cNvSpPr/>
          <p:nvPr/>
        </p:nvSpPr>
        <p:spPr>
          <a:xfrm>
            <a:off x="3457322" y="1061519"/>
            <a:ext cx="7075714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>
                <a:solidFill>
                  <a:sysClr val="windowText" lastClr="000000"/>
                </a:solidFill>
              </a:rPr>
              <a:t>Behavior</a:t>
            </a:r>
            <a:r>
              <a:rPr lang="ko-KR" altLang="ko-KR" dirty="0">
                <a:solidFill>
                  <a:sysClr val="windowText" lastClr="000000"/>
                </a:solidFill>
              </a:rPr>
              <a:t> Tree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AI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Perception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3E89A626-81B1-EE28-FC48-329EDBC9BAC3}"/>
              </a:ext>
            </a:extLst>
          </p:cNvPr>
          <p:cNvSpPr/>
          <p:nvPr/>
        </p:nvSpPr>
        <p:spPr>
          <a:xfrm>
            <a:off x="1998636" y="1061519"/>
            <a:ext cx="2004020" cy="914400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행동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흐름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구현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B4A4A42-5D72-218A-4DA3-CF71B652E5F9}"/>
              </a:ext>
            </a:extLst>
          </p:cNvPr>
          <p:cNvSpPr/>
          <p:nvPr/>
        </p:nvSpPr>
        <p:spPr>
          <a:xfrm>
            <a:off x="3457322" y="2062184"/>
            <a:ext cx="7075714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생물의 행동 흐름 관리 및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en-US" dirty="0">
                <a:solidFill>
                  <a:sysClr val="windowText" lastClr="000000"/>
                </a:solidFill>
              </a:rPr>
              <a:t> 감지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B1BD872C-6B01-A626-3805-37F5A0BB236A}"/>
              </a:ext>
            </a:extLst>
          </p:cNvPr>
          <p:cNvSpPr/>
          <p:nvPr/>
        </p:nvSpPr>
        <p:spPr>
          <a:xfrm>
            <a:off x="2009511" y="2062184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1B234B4-A72F-F86A-5C2E-001FE091330D}"/>
              </a:ext>
            </a:extLst>
          </p:cNvPr>
          <p:cNvSpPr/>
          <p:nvPr/>
        </p:nvSpPr>
        <p:spPr>
          <a:xfrm>
            <a:off x="3457322" y="3847854"/>
            <a:ext cx="7075714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서버가 기억 상태 저장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Replicated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Variable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로</a:t>
            </a:r>
            <a:r>
              <a:rPr lang="ko-KR" altLang="en-US" dirty="0">
                <a:solidFill>
                  <a:sysClr val="windowText" lastClr="000000"/>
                </a:solidFill>
              </a:rPr>
              <a:t> 상대에게 상태를 전달</a:t>
            </a:r>
          </a:p>
        </p:txBody>
      </p:sp>
      <p:sp>
        <p:nvSpPr>
          <p:cNvPr id="10" name="화살표: 오각형 9">
            <a:extLst>
              <a:ext uri="{FF2B5EF4-FFF2-40B4-BE49-F238E27FC236}">
                <a16:creationId xmlns:a16="http://schemas.microsoft.com/office/drawing/2014/main" id="{C0029B9E-723C-D415-FA5D-00D5ABA2DB6D}"/>
              </a:ext>
            </a:extLst>
          </p:cNvPr>
          <p:cNvSpPr/>
          <p:nvPr/>
        </p:nvSpPr>
        <p:spPr>
          <a:xfrm>
            <a:off x="1998636" y="3847854"/>
            <a:ext cx="2004020" cy="914400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 상태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구현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CF5BC1-00E9-C846-2C5C-B389C0D042B5}"/>
              </a:ext>
            </a:extLst>
          </p:cNvPr>
          <p:cNvSpPr/>
          <p:nvPr/>
        </p:nvSpPr>
        <p:spPr>
          <a:xfrm>
            <a:off x="3457322" y="4848519"/>
            <a:ext cx="7075714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벌의 </a:t>
            </a:r>
            <a:r>
              <a:rPr lang="ko-KR" altLang="ko-KR" dirty="0">
                <a:solidFill>
                  <a:sysClr val="windowText" lastClr="000000"/>
                </a:solidFill>
              </a:rPr>
              <a:t>기억 상태나 방해 상태를 멀티플레이에 동기화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8" name="화살표: 오각형 17">
            <a:extLst>
              <a:ext uri="{FF2B5EF4-FFF2-40B4-BE49-F238E27FC236}">
                <a16:creationId xmlns:a16="http://schemas.microsoft.com/office/drawing/2014/main" id="{C80660B0-319E-F35C-A32F-6E4B7A704295}"/>
              </a:ext>
            </a:extLst>
          </p:cNvPr>
          <p:cNvSpPr/>
          <p:nvPr/>
        </p:nvSpPr>
        <p:spPr>
          <a:xfrm>
            <a:off x="2009511" y="4848519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C4445C-6706-3EBF-9525-61CA68CAF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57F442-498B-4DB2-AB17-B1698D9D7579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73E46C4-06AA-1C51-8159-A203AF8C2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5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65863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4" y="802178"/>
            <a:ext cx="3822004" cy="1477328"/>
            <a:chOff x="9079016" y="0"/>
            <a:chExt cx="4347338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347338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[n*T]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CF8B0D-463D-6EF7-789B-A5F74C174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D25ED-67EA-4877-93D4-C60BFC02D928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533049-64BA-06EF-6FAA-A3810F34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0C099049-7B29-489D-8509-5D3A3DFCA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B669A-3CB5-4204-B09E-9FA773DA862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784918-202F-8B31-8711-775389A2B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582ED6F2-9FB8-9BE2-A9BC-4B580BB2F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0784" y="3038835"/>
            <a:ext cx="804151" cy="1025519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3D151C-F930-B245-2A53-61A75D084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B409AF-FA65-4DE6-8EC6-3EAC7E51093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ECD604D-C418-D6B7-3D99-40179AACB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96EF-1434-E4F7-9B66-DE69A8E0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1F46D0-DB44-C4BC-2AC9-E03E60B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 화면 </a:t>
            </a:r>
            <a:r>
              <a:rPr lang="en-US" altLang="ko-KR" dirty="0"/>
              <a:t>UI </a:t>
            </a:r>
            <a:r>
              <a:rPr lang="ko-KR" altLang="en-US" dirty="0"/>
              <a:t>구현 계획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C2124F5-2B18-9C68-CA34-54F2D5C61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9BC346-C739-8287-1F2D-8E55A331641D}"/>
              </a:ext>
            </a:extLst>
          </p:cNvPr>
          <p:cNvSpPr/>
          <p:nvPr/>
        </p:nvSpPr>
        <p:spPr>
          <a:xfrm>
            <a:off x="3457322" y="1113278"/>
            <a:ext cx="7075714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ko-KR" altLang="ko-KR" dirty="0">
                <a:solidFill>
                  <a:sysClr val="windowText" lastClr="000000"/>
                </a:solidFill>
              </a:rPr>
              <a:t>UMG 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Unreal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Motion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Graphics</a:t>
            </a:r>
            <a:r>
              <a:rPr lang="ko-KR" altLang="ko-KR" dirty="0">
                <a:solidFill>
                  <a:sysClr val="windowText" lastClr="000000"/>
                </a:solidFill>
              </a:rPr>
              <a:t>)</a:t>
            </a:r>
            <a:r>
              <a:rPr lang="ko-KR" altLang="en-US" dirty="0">
                <a:solidFill>
                  <a:sysClr val="windowText" lastClr="000000"/>
                </a:solidFill>
              </a:rPr>
              <a:t>와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Widget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Blueprint</a:t>
            </a:r>
            <a:r>
              <a:rPr lang="en-US" altLang="ko-KR" dirty="0">
                <a:solidFill>
                  <a:sysClr val="windowText" lastClr="000000"/>
                </a:solidFill>
              </a:rPr>
              <a:t> ,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Component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를 활용</a:t>
            </a:r>
            <a:endParaRPr lang="ko-KR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7A891FC7-81BC-3E0D-3436-9A90BAAE2DDB}"/>
              </a:ext>
            </a:extLst>
          </p:cNvPr>
          <p:cNvSpPr/>
          <p:nvPr/>
        </p:nvSpPr>
        <p:spPr>
          <a:xfrm>
            <a:off x="1998636" y="1113278"/>
            <a:ext cx="2004020" cy="914400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기본 </a:t>
            </a:r>
            <a:r>
              <a:rPr lang="en-US" altLang="ko-KR" dirty="0">
                <a:solidFill>
                  <a:sysClr val="windowText" lastClr="000000"/>
                </a:solidFill>
              </a:rPr>
              <a:t>UI </a:t>
            </a:r>
            <a:r>
              <a:rPr lang="ko-KR" altLang="en-US" dirty="0">
                <a:solidFill>
                  <a:sysClr val="windowText" lastClr="000000"/>
                </a:solidFill>
              </a:rPr>
              <a:t>구현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A609641-F697-5C17-B869-2A1B16550287}"/>
              </a:ext>
            </a:extLst>
          </p:cNvPr>
          <p:cNvSpPr/>
          <p:nvPr/>
        </p:nvSpPr>
        <p:spPr>
          <a:xfrm>
            <a:off x="3457322" y="2263469"/>
            <a:ext cx="7075714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UI 화면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표시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과</a:t>
            </a:r>
            <a:r>
              <a:rPr lang="ko-KR" altLang="ko-KR" dirty="0">
                <a:solidFill>
                  <a:sysClr val="windowText" lastClr="000000"/>
                </a:solidFill>
              </a:rPr>
              <a:t> 구성 요소를 시각적으로 제작</a:t>
            </a:r>
            <a:r>
              <a:rPr lang="en-US" altLang="ko-KR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플레이어별 UI 관리 및 화면 표시와 연동</a:t>
            </a:r>
            <a:r>
              <a:rPr lang="en-US" altLang="ko-KR" dirty="0">
                <a:solidFill>
                  <a:sysClr val="windowText" lastClr="000000"/>
                </a:solidFill>
              </a:rPr>
              <a:t>.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6AD1B4DA-B627-2610-E23F-79680DFD772E}"/>
              </a:ext>
            </a:extLst>
          </p:cNvPr>
          <p:cNvSpPr/>
          <p:nvPr/>
        </p:nvSpPr>
        <p:spPr>
          <a:xfrm>
            <a:off x="2009511" y="2263469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pic>
        <p:nvPicPr>
          <p:cNvPr id="3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2583612" y="3568044"/>
            <a:ext cx="5065347" cy="284682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2577221" y="3568044"/>
            <a:ext cx="2593640" cy="293441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4682030" y="4929427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7687831" y="5617686"/>
            <a:ext cx="22210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 레퍼런스</a:t>
            </a:r>
          </a:p>
        </p:txBody>
      </p:sp>
      <p:sp>
        <p:nvSpPr>
          <p:cNvPr id="8" name="날짜 개체 틀 7">
            <a:extLst>
              <a:ext uri="{FF2B5EF4-FFF2-40B4-BE49-F238E27FC236}">
                <a16:creationId xmlns:a16="http://schemas.microsoft.com/office/drawing/2014/main" id="{E42CCAE8-86CC-966A-4E93-B61382B5F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9E9397-BDBA-4058-A372-8E29F8AE5A2B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05CDC28-99CB-2361-B6DC-996ACBE5F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4799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마우스 휠 버튼 누를 시</a:t>
            </a:r>
            <a:br>
              <a:rPr lang="en-US" altLang="ko-KR" sz="2400" dirty="0"/>
            </a:b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270606A-104A-27AD-6FCE-B910DD51A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2B0F8-8AFD-44F7-AC52-FB12EACBFFE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E83A4A-113C-5777-5DDE-AE70E33D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6A9E7-33E7-1877-357B-0FCCD4229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7785F6-AFE0-FF92-B698-F81F91E19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구현 계획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85EF603-AE6C-FB01-9F59-7E1044B89B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323FE3-9161-D233-9EC9-A3E07946619F}"/>
              </a:ext>
            </a:extLst>
          </p:cNvPr>
          <p:cNvSpPr/>
          <p:nvPr/>
        </p:nvSpPr>
        <p:spPr>
          <a:xfrm>
            <a:off x="3509080" y="1446836"/>
            <a:ext cx="7319947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ko-KR" altLang="en-US" dirty="0">
                <a:solidFill>
                  <a:sysClr val="windowText" lastClr="000000"/>
                </a:solidFill>
              </a:rPr>
              <a:t>여러 개의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Spline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Component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로</a:t>
            </a:r>
            <a:r>
              <a:rPr lang="ko-KR" altLang="en-US" dirty="0">
                <a:solidFill>
                  <a:sysClr val="windowText" lastClr="000000"/>
                </a:solidFill>
              </a:rPr>
              <a:t> 지형에 맞는 곡선 경로 생성</a:t>
            </a:r>
            <a:endParaRPr lang="ko-KR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DD97DFCE-5B3B-0F6F-084E-1B84405EBF4D}"/>
              </a:ext>
            </a:extLst>
          </p:cNvPr>
          <p:cNvSpPr/>
          <p:nvPr/>
        </p:nvSpPr>
        <p:spPr>
          <a:xfrm>
            <a:off x="1998636" y="1446836"/>
            <a:ext cx="2004020" cy="914400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곡선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&amp;</a:t>
            </a:r>
            <a:r>
              <a:rPr lang="ko-KR" altLang="en-US" dirty="0">
                <a:solidFill>
                  <a:sysClr val="windowText" lastClr="000000"/>
                </a:solidFill>
              </a:rPr>
              <a:t>방향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구현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7E23DD6-228D-E612-0AB3-48FB676C59BC}"/>
              </a:ext>
            </a:extLst>
          </p:cNvPr>
          <p:cNvSpPr/>
          <p:nvPr/>
        </p:nvSpPr>
        <p:spPr>
          <a:xfrm>
            <a:off x="3509080" y="2597027"/>
            <a:ext cx="7319947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플레이어 </a:t>
            </a:r>
            <a:r>
              <a:rPr lang="ko-KR" altLang="en-US" dirty="0">
                <a:solidFill>
                  <a:sysClr val="windowText" lastClr="000000"/>
                </a:solidFill>
              </a:rPr>
              <a:t>한 명이</a:t>
            </a:r>
            <a:r>
              <a:rPr lang="ko-KR" altLang="ko-KR" dirty="0">
                <a:solidFill>
                  <a:sysClr val="windowText" lastClr="000000"/>
                </a:solidFill>
              </a:rPr>
              <a:t> 버튼을 누르면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본인</a:t>
            </a:r>
            <a:r>
              <a:rPr lang="ko-KR" altLang="ko-KR" dirty="0">
                <a:solidFill>
                  <a:sysClr val="windowText" lastClr="000000"/>
                </a:solidFill>
              </a:rPr>
              <a:t>에게만 표시되도록 처리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서버가 갈림길 진입 및 경로 선택 상태를 관리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564ED26-6A0F-DA08-1361-F035C8ECE438}"/>
              </a:ext>
            </a:extLst>
          </p:cNvPr>
          <p:cNvSpPr/>
          <p:nvPr/>
        </p:nvSpPr>
        <p:spPr>
          <a:xfrm>
            <a:off x="2009511" y="2597027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pic>
        <p:nvPicPr>
          <p:cNvPr id="3" name="내용 개체 틀 8">
            <a:extLst>
              <a:ext uri="{FF2B5EF4-FFF2-40B4-BE49-F238E27FC236}">
                <a16:creationId xmlns:a16="http://schemas.microsoft.com/office/drawing/2014/main" id="{1E64E4F9-5E29-84EB-3956-5403878F94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3325952" y="3957991"/>
            <a:ext cx="4029243" cy="227562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BC3642C-AE20-CE56-F567-4F1191FAFD10}"/>
              </a:ext>
            </a:extLst>
          </p:cNvPr>
          <p:cNvSpPr/>
          <p:nvPr/>
        </p:nvSpPr>
        <p:spPr>
          <a:xfrm>
            <a:off x="5248559" y="3957991"/>
            <a:ext cx="905045" cy="2275623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5FFE6-91BF-2BB2-D5F5-D0C17FB5DE02}"/>
              </a:ext>
            </a:extLst>
          </p:cNvPr>
          <p:cNvSpPr txBox="1"/>
          <p:nvPr/>
        </p:nvSpPr>
        <p:spPr>
          <a:xfrm>
            <a:off x="7362065" y="5925837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UI</a:t>
            </a:r>
            <a:r>
              <a:rPr lang="ko-KR" altLang="en-US" sz="1400" dirty="0"/>
              <a:t> 예시 레퍼런스 자료</a:t>
            </a:r>
          </a:p>
        </p:txBody>
      </p:sp>
      <p:sp>
        <p:nvSpPr>
          <p:cNvPr id="8" name="날짜 개체 틀 7">
            <a:extLst>
              <a:ext uri="{FF2B5EF4-FFF2-40B4-BE49-F238E27FC236}">
                <a16:creationId xmlns:a16="http://schemas.microsoft.com/office/drawing/2014/main" id="{6FBB49C6-C26B-9F2D-F398-EE8AD831A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FFC04-6A78-4F8A-8685-FB0D34269C9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E9FF59-15D0-CA6B-F5BC-054F45CA8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38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8E0CAF9-20E1-C46B-E615-69CEDBEE0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BCC0AC0B-D55E-B40D-433C-A4BC6A992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154A23-3230-4229-1145-9896A5449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EAB07-913F-6A10-C079-3E72F149F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1804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참고 이미지 </a:t>
            </a:r>
            <a:r>
              <a:rPr lang="ko-KR" altLang="en-US" dirty="0"/>
              <a:t>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9/23/2026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B912C9E-C862-33EA-4167-A70A61EDEC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2111</TotalTime>
  <Words>1162</Words>
  <Application>Microsoft Office PowerPoint</Application>
  <PresentationFormat>와이드스크린</PresentationFormat>
  <Paragraphs>201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기본_수정</vt:lpstr>
      <vt:lpstr>디자인 사용자 지정</vt:lpstr>
      <vt:lpstr>배트와 달트 기획서</vt:lpstr>
      <vt:lpstr>목차</vt:lpstr>
      <vt:lpstr>게임 소개</vt:lpstr>
      <vt:lpstr>게임 정보</vt:lpstr>
      <vt:lpstr>기획 목표</vt:lpstr>
      <vt:lpstr>게임 플로우</vt:lpstr>
      <vt:lpstr>멀티 구현 계획</vt:lpstr>
      <vt:lpstr>컨텐츠</vt:lpstr>
      <vt:lpstr>맵</vt:lpstr>
      <vt:lpstr>상호작용_생물_벌</vt:lpstr>
      <vt:lpstr>생물_벌 구현 계획</vt:lpstr>
      <vt:lpstr>상호작용_배달품_꿀</vt:lpstr>
      <vt:lpstr>도우미 AI 구현 계획</vt:lpstr>
      <vt:lpstr>시스템</vt:lpstr>
      <vt:lpstr>UI_플로우</vt:lpstr>
      <vt:lpstr>UI_세부_플레이화면</vt:lpstr>
      <vt:lpstr>플레이 화면 UI 구현 계획</vt:lpstr>
      <vt:lpstr>UI_세부_경로 안내 UI</vt:lpstr>
      <vt:lpstr>경로 안내 UI 구현 계획</vt:lpstr>
      <vt:lpstr>참고문헌 및 출처</vt:lpstr>
      <vt:lpstr>참고 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151</cp:revision>
  <dcterms:created xsi:type="dcterms:W3CDTF">2026-09-16T19:24:55Z</dcterms:created>
  <dcterms:modified xsi:type="dcterms:W3CDTF">2026-09-22T17:46:00Z</dcterms:modified>
</cp:coreProperties>
</file>